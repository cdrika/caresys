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e4d22948bc408d" /><Relationship Type="http://schemas.openxmlformats.org/officeDocument/2006/relationships/extended-properties" Target="/docProps/app.xml" Id="Rcc0eafd94bb54d20" /><Relationship Type="http://schemas.openxmlformats.org/officeDocument/2006/relationships/officeDocument" Target="/ppt/presentation.xml" Id="Rb8298c3053724d86" /></Relationships>
</file>

<file path=ppt/presentation.xml><?xml version="1.0" encoding="utf-8"?>
<p:presentation xmlns:p="http://schemas.openxmlformats.org/presentationml/2006/main">
  <p:sldMasterIdLst>
    <p:sldMasterId xmlns:r="http://schemas.openxmlformats.org/officeDocument/2006/relationships" id="2147483648" r:id="R5df65b6b0ed44f5c"/>
  </p:sldMasterIdLst>
  <p:notesMasterIdLst>
    <p:notesMasterId xmlns:r="http://schemas.openxmlformats.org/officeDocument/2006/relationships" r:id="R4ee361c494ce4137"/>
  </p:notesMasterIdLst>
  <p:sldIdLst>
    <p:sldId xmlns:r="http://schemas.openxmlformats.org/officeDocument/2006/relationships" id="256" r:id="R45a308dc0e8d4e2b"/>
    <p:sldId xmlns:r="http://schemas.openxmlformats.org/officeDocument/2006/relationships" id="257" r:id="Re41d1e7bd71c4806"/>
    <p:sldId xmlns:r="http://schemas.openxmlformats.org/officeDocument/2006/relationships" id="258" r:id="Ra374434a33af40f5"/>
    <p:sldId xmlns:r="http://schemas.openxmlformats.org/officeDocument/2006/relationships" id="259" r:id="R3fbe8177c846401d"/>
    <p:sldId xmlns:r="http://schemas.openxmlformats.org/officeDocument/2006/relationships" id="260" r:id="R139dc804b0d14684"/>
    <p:sldId xmlns:r="http://schemas.openxmlformats.org/officeDocument/2006/relationships" id="261" r:id="R45ac139c6af24dac"/>
    <p:sldId xmlns:r="http://schemas.openxmlformats.org/officeDocument/2006/relationships" id="262" r:id="R25785a64f3714175"/>
    <p:sldId xmlns:r="http://schemas.openxmlformats.org/officeDocument/2006/relationships" id="263" r:id="R9291ffcb73f34e47"/>
    <p:sldId xmlns:r="http://schemas.openxmlformats.org/officeDocument/2006/relationships" id="264" r:id="R810a55b84bca4ffb"/>
    <p:sldId xmlns:r="http://schemas.openxmlformats.org/officeDocument/2006/relationships" id="265" r:id="Rb4226e11c0ee440d"/>
    <p:sldId xmlns:r="http://schemas.openxmlformats.org/officeDocument/2006/relationships" id="266" r:id="Ra64ff0dc6b974896"/>
    <p:sldId xmlns:r="http://schemas.openxmlformats.org/officeDocument/2006/relationships" id="267" r:id="Re9123ddf69a54da9"/>
    <p:sldId xmlns:r="http://schemas.openxmlformats.org/officeDocument/2006/relationships" id="268" r:id="Rbac8f5624c6346ce"/>
    <p:sldId xmlns:r="http://schemas.openxmlformats.org/officeDocument/2006/relationships" id="269" r:id="Rcc367674c22946bc"/>
    <p:sldId xmlns:r="http://schemas.openxmlformats.org/officeDocument/2006/relationships" id="270" r:id="Rbc1de83d1c244ea7"/>
    <p:sldId xmlns:r="http://schemas.openxmlformats.org/officeDocument/2006/relationships" id="271" r:id="Rd0e27fb911774bba"/>
    <p:sldId xmlns:r="http://schemas.openxmlformats.org/officeDocument/2006/relationships" id="272" r:id="Rc77bedd119184801"/>
    <p:sldId xmlns:r="http://schemas.openxmlformats.org/officeDocument/2006/relationships" id="273" r:id="Rffd4107c66264bde"/>
    <p:sldId xmlns:r="http://schemas.openxmlformats.org/officeDocument/2006/relationships" id="274" r:id="Ra71404f4385d4631"/>
    <p:sldId xmlns:r="http://schemas.openxmlformats.org/officeDocument/2006/relationships" id="275" r:id="R4df4bf6ec932486c"/>
    <p:sldId xmlns:r="http://schemas.openxmlformats.org/officeDocument/2006/relationships" id="276" r:id="R0efe519555684e6b"/>
    <p:sldId xmlns:r="http://schemas.openxmlformats.org/officeDocument/2006/relationships" id="277" r:id="R9d0fd0731d2b40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06670b14a043c3" /><Relationship Type="http://schemas.openxmlformats.org/officeDocument/2006/relationships/slideMaster" Target="/ppt/slideMasters/slideMaster1.xml" Id="R5df65b6b0ed44f5c" /><Relationship Type="http://schemas.openxmlformats.org/officeDocument/2006/relationships/notesMaster" Target="/ppt/notesMasters/notesMaster1.xml" Id="R4ee361c494ce4137" /><Relationship Type="http://schemas.openxmlformats.org/officeDocument/2006/relationships/presProps" Target="/ppt/presProps.xml" Id="R4fd8c0e8652d48d2" /><Relationship Type="http://schemas.openxmlformats.org/officeDocument/2006/relationships/tableStyles" Target="/ppt/tableStyles.xml" Id="Re4aba831582049ed" /><Relationship Type="http://schemas.openxmlformats.org/officeDocument/2006/relationships/slide" Target="/ppt/slides/slide1.xml" Id="R45a308dc0e8d4e2b" /><Relationship Type="http://schemas.openxmlformats.org/officeDocument/2006/relationships/slide" Target="/ppt/slides/slide2.xml" Id="Re41d1e7bd71c4806" /><Relationship Type="http://schemas.openxmlformats.org/officeDocument/2006/relationships/slide" Target="/ppt/slides/slide3.xml" Id="Ra374434a33af40f5" /><Relationship Type="http://schemas.openxmlformats.org/officeDocument/2006/relationships/slide" Target="/ppt/slides/slide4.xml" Id="R3fbe8177c846401d" /><Relationship Type="http://schemas.openxmlformats.org/officeDocument/2006/relationships/slide" Target="/ppt/slides/slide5.xml" Id="R139dc804b0d14684" /><Relationship Type="http://schemas.openxmlformats.org/officeDocument/2006/relationships/slide" Target="/ppt/slides/slide6.xml" Id="R45ac139c6af24dac" /><Relationship Type="http://schemas.openxmlformats.org/officeDocument/2006/relationships/slide" Target="/ppt/slides/slide7.xml" Id="R25785a64f3714175" /><Relationship Type="http://schemas.openxmlformats.org/officeDocument/2006/relationships/slide" Target="/ppt/slides/slide8.xml" Id="R9291ffcb73f34e47" /><Relationship Type="http://schemas.openxmlformats.org/officeDocument/2006/relationships/slide" Target="/ppt/slides/slide9.xml" Id="R810a55b84bca4ffb" /><Relationship Type="http://schemas.openxmlformats.org/officeDocument/2006/relationships/slide" Target="/ppt/slides/slide10.xml" Id="Rb4226e11c0ee440d" /><Relationship Type="http://schemas.openxmlformats.org/officeDocument/2006/relationships/slide" Target="/ppt/slides/slide11.xml" Id="Ra64ff0dc6b974896" /><Relationship Type="http://schemas.openxmlformats.org/officeDocument/2006/relationships/slide" Target="/ppt/slides/slide12.xml" Id="Re9123ddf69a54da9" /><Relationship Type="http://schemas.openxmlformats.org/officeDocument/2006/relationships/slide" Target="/ppt/slides/slide13.xml" Id="Rbac8f5624c6346ce" /><Relationship Type="http://schemas.openxmlformats.org/officeDocument/2006/relationships/slide" Target="/ppt/slides/slide14.xml" Id="Rcc367674c22946bc" /><Relationship Type="http://schemas.openxmlformats.org/officeDocument/2006/relationships/slide" Target="/ppt/slides/slide15.xml" Id="Rbc1de83d1c244ea7" /><Relationship Type="http://schemas.openxmlformats.org/officeDocument/2006/relationships/slide" Target="/ppt/slides/slide16.xml" Id="Rd0e27fb911774bba" /><Relationship Type="http://schemas.openxmlformats.org/officeDocument/2006/relationships/slide" Target="/ppt/slides/slide17.xml" Id="Rc77bedd119184801" /><Relationship Type="http://schemas.openxmlformats.org/officeDocument/2006/relationships/slide" Target="/ppt/slides/slide18.xml" Id="Rffd4107c66264bde" /><Relationship Type="http://schemas.openxmlformats.org/officeDocument/2006/relationships/slide" Target="/ppt/slides/slide19.xml" Id="Ra71404f4385d4631" /><Relationship Type="http://schemas.openxmlformats.org/officeDocument/2006/relationships/slide" Target="/ppt/slides/slide20.xml" Id="R4df4bf6ec932486c" /><Relationship Type="http://schemas.openxmlformats.org/officeDocument/2006/relationships/slide" Target="/ppt/slides/slide21.xml" Id="R0efe519555684e6b" /><Relationship Type="http://schemas.openxmlformats.org/officeDocument/2006/relationships/slide" Target="/ppt/slides/slide22.xml" Id="R9d0fd0731d2b40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db3b033c1d48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e7d1495fd4466d" /><Relationship Type="http://schemas.openxmlformats.org/officeDocument/2006/relationships/notesMaster" Target="/ppt/notesMasters/notesMaster1.xml" Id="R1014aa0fdde548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c7ec0fad7546a6" /><Relationship Type="http://schemas.openxmlformats.org/officeDocument/2006/relationships/notesMaster" Target="/ppt/notesMasters/notesMaster1.xml" Id="Re2fac4840eb944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0e003ca1fe45f0" /><Relationship Type="http://schemas.openxmlformats.org/officeDocument/2006/relationships/notesMaster" Target="/ppt/notesMasters/notesMaster1.xml" Id="R82521a5981ae45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6ea29423874f85" /><Relationship Type="http://schemas.openxmlformats.org/officeDocument/2006/relationships/notesMaster" Target="/ppt/notesMasters/notesMaster1.xml" Id="R52cb8ce256f742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d59828f7d3484d" /><Relationship Type="http://schemas.openxmlformats.org/officeDocument/2006/relationships/notesMaster" Target="/ppt/notesMasters/notesMaster1.xml" Id="Rc3f4c90df33342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ced12ff78f4ae3" /><Relationship Type="http://schemas.openxmlformats.org/officeDocument/2006/relationships/notesMaster" Target="/ppt/notesMasters/notesMaster1.xml" Id="Rfe9002a0e0c946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e16a8a12ef482b" /><Relationship Type="http://schemas.openxmlformats.org/officeDocument/2006/relationships/notesMaster" Target="/ppt/notesMasters/notesMaster1.xml" Id="Ref9b94addd714d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350a31eb154d20" /><Relationship Type="http://schemas.openxmlformats.org/officeDocument/2006/relationships/notesMaster" Target="/ppt/notesMasters/notesMaster1.xml" Id="R9037e4a71acd49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ef45ece51b4174" /><Relationship Type="http://schemas.openxmlformats.org/officeDocument/2006/relationships/notesMaster" Target="/ppt/notesMasters/notesMaster1.xml" Id="R3c7fe1c3773c4c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c48564f661427e" /><Relationship Type="http://schemas.openxmlformats.org/officeDocument/2006/relationships/notesMaster" Target="/ppt/notesMasters/notesMaster1.xml" Id="R22928552f4d243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e3a68466bc478e" /><Relationship Type="http://schemas.openxmlformats.org/officeDocument/2006/relationships/notesMaster" Target="/ppt/notesMasters/notesMaster1.xml" Id="R3fba25fa8df14f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3edc3dc453492f" /><Relationship Type="http://schemas.openxmlformats.org/officeDocument/2006/relationships/notesMaster" Target="/ppt/notesMasters/notesMaster1.xml" Id="Rc9b0647dfae040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3a2b2d4a534894" /><Relationship Type="http://schemas.openxmlformats.org/officeDocument/2006/relationships/notesMaster" Target="/ppt/notesMasters/notesMaster1.xml" Id="R7c39ac7d733041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e0b945ef324832" /><Relationship Type="http://schemas.openxmlformats.org/officeDocument/2006/relationships/notesMaster" Target="/ppt/notesMasters/notesMaster1.xml" Id="R07b097dfae8141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cf8347e4804142" /><Relationship Type="http://schemas.openxmlformats.org/officeDocument/2006/relationships/notesMaster" Target="/ppt/notesMasters/notesMaster1.xml" Id="R00c1881bf3e243c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4925fad81f4684" /><Relationship Type="http://schemas.openxmlformats.org/officeDocument/2006/relationships/notesMaster" Target="/ppt/notesMasters/notesMaster1.xml" Id="Rbd95d1fe31854f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1f266477484eb6" /><Relationship Type="http://schemas.openxmlformats.org/officeDocument/2006/relationships/notesMaster" Target="/ppt/notesMasters/notesMaster1.xml" Id="Ra732e956df95453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5e0010013443ef" /><Relationship Type="http://schemas.openxmlformats.org/officeDocument/2006/relationships/notesMaster" Target="/ppt/notesMasters/notesMaster1.xml" Id="R21b8bd7503454a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1a197b886704fc9" /><Relationship Type="http://schemas.openxmlformats.org/officeDocument/2006/relationships/notesMaster" Target="/ppt/notesMasters/notesMaster1.xml" Id="Rc8d354387a484f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f0d350811d47f0" /><Relationship Type="http://schemas.openxmlformats.org/officeDocument/2006/relationships/notesMaster" Target="/ppt/notesMasters/notesMaster1.xml" Id="Ra5e05780843e47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3931cdc0a7149a1" /><Relationship Type="http://schemas.openxmlformats.org/officeDocument/2006/relationships/notesMaster" Target="/ppt/notesMasters/notesMaster1.xml" Id="Rb0b1fee50af24fd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7b528f0a1724e6d" /><Relationship Type="http://schemas.openxmlformats.org/officeDocument/2006/relationships/notesMaster" Target="/ppt/notesMasters/notesMaster1.xml" Id="Rb9feb24a98f84e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of the existing local implementation and the proposed platform roadmap. Sources: CareSys business requirements, functional specification, technical design and docs/platform-blueprint.md. Draft for discussion, 24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CareSys_Agent_Business_Requirements.docx; current implementation-status.md. Benefits are design aims, not measured customer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docs/demo-accounts.md and implementation-status.md. Twelve synthetic accounts demonstrate multiple role journeys across two agencies; these are not twelve production customers.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existing CareSys workflows. Each stage enforces its own permissions. A signed contract alone does not activate employment.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CareSys local demo, captured 24 October 2026. All people and care records shown are fictional.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CareSys local demo, captured 24 October 2026. All people and care records shown are fictional. Qualifications shown in profiles are self-declared; agency acceptance is a separate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CareSys local demo, captured 24 October 2026. All people and care records shown are fictional.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CareSys local demo, captured 24 October 2026. All people and care records shown are fictional.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CareSys local demo, captured 24 October 2026. All people and care records shown are fictional.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CareSys local demo, captured 24 October 2026. All people and care records shown are fictional. Password confirmation is implemented; certified signing and jurisdiction-specific legal validation remain planned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CareSys local demo, captured 24 October 2026. All people and care records shown are fictional.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CareSys local demo, captured 24 October 2026. All people and care records shown are fictional. Offline mobile clocking is a future design item, not an available native-app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CareSys local demo, captured 24 October 2026. All people and care records shown are fictional.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docs/implementation-status.md; latest PHPUnit verification in this session passed 30 tests and 108 assertions. Previous browser smoke covered 12 accounts and 161 permitted page visits. These checks do not establish production security, capacity or accessibility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docs/platform-blueprint.md. Proposed deployment architecture, not provisioned infrastructure. Examples of domains require a domain purchase and DNS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docs/platform-blueprint.md; docs/api.md. Proposed repositories beyond the existing CareSys repository have not been created. API runtime initially stays in CareSys to share authorization and business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docs/platform-blueprint.md. Both native mobile apps and the public marketing website are planned; the existing portal is responsive web.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docs/platform-blueprint.md. Proposed product behavior; no regional price catalog is activated. Billing country requires confirmation and applicable tax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docs/platform-blueprint.md. USD monthly pilot prices, unapproved and not active subscriptions. Active-worker definitions and entitlement enforcement remain implementation work. Taxes and separately priced services require disclosure.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docs/platform-blueprint.md. Provider sources checked 24 October 2026: https://www.digitalocean.com/pricing/droplets ; https://docs.digitalocean.com/products/backups/details/pricing/ ; https://stripe.com/pricing ; https://stripe.com/billing/pricing . F=$580.85 monthly; variable allowance $5/agency; US domestic reference fee 3.6%+$0.30 per monthly charge. Margin before income tax; actual provider fees, customer demand and workload may change it. Costs include maintenance $300, development recovery $100 and overhead/reserves.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docs/platform-blueprint.md and implementation-status.md. Sequence is a proposal, with no promised launch 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sources: local CareSys specification documents, implementation-status.md, api.md, demo-accounts.md and platform-blueprint.md. Additional platform references: https://developer.apple.com/help/account/membership/program-enrollment/ ; https://support.google.com/googleplay/android-developer/answer/6112435 ; https://developers.cloudflare.com/pages/functions/pricing/ . Apple current enrollment $99/year; Google Play $25 once. These fees are in the blueprint; enrollment and compliance are not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063b999ed342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2c5eb86bab45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d2ca39edef42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84a007dd6846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d4e124f2c14e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47725155fd47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682754-0D32-452A-8BB7-43ECD65F60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9EA590F-21A3-4432-A2C5-D672143A651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C313BAF-366B-4EC6-809C-3F7F30A53E8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F97C90-E786-4A0E-BC50-E74A61C5B8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918D459-B1E9-4981-9FBD-9303430AD8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E0B7FB-5908-4897-9AD0-7391125735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031F6A-0893-4975-9388-C968B2A844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615A1F-A0C6-4C15-A61D-58141A2128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3D27DE-6082-46FE-8880-2E4A8AFB22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EC8D75-2CD8-450D-AF0A-7436AF6539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1b4f8479b1456f" /><Relationship Type="http://schemas.openxmlformats.org/officeDocument/2006/relationships/slideLayout" Target="/ppt/slideLayouts/slideLayout1.xml" Id="Rf0a3b6c9493b4c3f" /><Relationship Type="http://schemas.openxmlformats.org/officeDocument/2006/relationships/slideLayout" Target="/ppt/slideLayouts/slideLayout2.xml" Id="R69584f15064a4610" /><Relationship Type="http://schemas.openxmlformats.org/officeDocument/2006/relationships/slideLayout" Target="/ppt/slideLayouts/slideLayout3.xml" Id="R8ac19cebd8364a6e" /><Relationship Type="http://schemas.openxmlformats.org/officeDocument/2006/relationships/slideLayout" Target="/ppt/slideLayouts/slideLayout4.xml" Id="R1cdd38a2a56a4e87" /><Relationship Type="http://schemas.openxmlformats.org/officeDocument/2006/relationships/slideLayout" Target="/ppt/slideLayouts/slideLayout5.xml" Id="Ra55fa8458917481c" /><Relationship Type="http://schemas.openxmlformats.org/officeDocument/2006/relationships/slideLayout" Target="/ppt/slideLayouts/slideLayout6.xml" Id="R4ebee5500c8d46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a3b6c9493b4c3f"/>
    <p:sldLayoutId xmlns:r="http://schemas.openxmlformats.org/officeDocument/2006/relationships" id="2147483650" r:id="R69584f15064a4610"/>
    <p:sldLayoutId xmlns:r="http://schemas.openxmlformats.org/officeDocument/2006/relationships" id="2147483651" r:id="R8ac19cebd8364a6e"/>
    <p:sldLayoutId xmlns:r="http://schemas.openxmlformats.org/officeDocument/2006/relationships" id="2147483652" r:id="R1cdd38a2a56a4e87"/>
    <p:sldLayoutId xmlns:r="http://schemas.openxmlformats.org/officeDocument/2006/relationships" id="2147483653" r:id="Ra55fa8458917481c"/>
    <p:sldLayoutId xmlns:r="http://schemas.openxmlformats.org/officeDocument/2006/relationships" id="2147483654" r:id="R4ebee5500c8d46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66c82d36a14eaa" /><Relationship Type="http://schemas.openxmlformats.org/officeDocument/2006/relationships/notesSlide" Target="/ppt/notesSlides/notesSlide1.xml" Id="Re8033732a51d46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8ac72107e74d8a" /><Relationship Type="http://schemas.openxmlformats.org/officeDocument/2006/relationships/notesSlide" Target="/ppt/notesSlides/notesSlide2.xml" Id="R413edceadb3d4f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37fadb2ca742de" /><Relationship Type="http://schemas.openxmlformats.org/officeDocument/2006/relationships/notesSlide" Target="/ppt/notesSlides/notesSlide3.xml" Id="Rdd8c4611f6e642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135b126d3654b2c" /><Relationship Type="http://schemas.openxmlformats.org/officeDocument/2006/relationships/notesSlide" Target="/ppt/notesSlides/notesSlide4.xml" Id="R49a1475fe1a94b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192a609f4e4241" /><Relationship Type="http://schemas.openxmlformats.org/officeDocument/2006/relationships/image" Target="/ppt/media/image.png" Id="R385f7ef3abef4eba" /><Relationship Type="http://schemas.openxmlformats.org/officeDocument/2006/relationships/notesSlide" Target="/ppt/notesSlides/notesSlide5.xml" Id="R90fba207ad0644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1def270e784182" /><Relationship Type="http://schemas.openxmlformats.org/officeDocument/2006/relationships/image" Target="/ppt/media/image2.png" Id="R6b95f2ffd05b419d" /><Relationship Type="http://schemas.openxmlformats.org/officeDocument/2006/relationships/notesSlide" Target="/ppt/notesSlides/notesSlide6.xml" Id="R4435f769b82b44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d6f9e4617d460e" /><Relationship Type="http://schemas.openxmlformats.org/officeDocument/2006/relationships/image" Target="/ppt/media/image3.png" Id="R12ef9d3250e64fae" /><Relationship Type="http://schemas.openxmlformats.org/officeDocument/2006/relationships/notesSlide" Target="/ppt/notesSlides/notesSlide7.xml" Id="R8251e5cd73fc42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65c604600f347bf" /><Relationship Type="http://schemas.openxmlformats.org/officeDocument/2006/relationships/image" Target="/ppt/media/image4.png" Id="Rc833ae4194e34f13" /><Relationship Type="http://schemas.openxmlformats.org/officeDocument/2006/relationships/notesSlide" Target="/ppt/notesSlides/notesSlide8.xml" Id="R69212e33187f47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5d01c58b824532" /><Relationship Type="http://schemas.openxmlformats.org/officeDocument/2006/relationships/image" Target="/ppt/media/image5.png" Id="Ra10f0f5ff6b249c8" /><Relationship Type="http://schemas.openxmlformats.org/officeDocument/2006/relationships/notesSlide" Target="/ppt/notesSlides/notesSlide9.xml" Id="R1159dbfaa22448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091bb340d7f4807" /><Relationship Type="http://schemas.openxmlformats.org/officeDocument/2006/relationships/image" Target="/ppt/media/image6.png" Id="R24665006ef364c38" /><Relationship Type="http://schemas.openxmlformats.org/officeDocument/2006/relationships/notesSlide" Target="/ppt/notesSlides/notesSlide10.xml" Id="R1ad1fa56192048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3d111124c114a62" /><Relationship Type="http://schemas.openxmlformats.org/officeDocument/2006/relationships/image" Target="/ppt/media/image7.png" Id="R2d8706f3af17482f" /><Relationship Type="http://schemas.openxmlformats.org/officeDocument/2006/relationships/notesSlide" Target="/ppt/notesSlides/notesSlide11.xml" Id="Rc2015bfc6d9d42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843782a0183405c" /><Relationship Type="http://schemas.openxmlformats.org/officeDocument/2006/relationships/image" Target="/ppt/media/image8.png" Id="R854e6e5a62e04b29" /><Relationship Type="http://schemas.openxmlformats.org/officeDocument/2006/relationships/notesSlide" Target="/ppt/notesSlides/notesSlide12.xml" Id="R0f2bf66f3fbc44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00b83cb56244f0a" /><Relationship Type="http://schemas.openxmlformats.org/officeDocument/2006/relationships/image" Target="/ppt/media/image9.png" Id="R7a1af1f6fa1e4cc4" /><Relationship Type="http://schemas.openxmlformats.org/officeDocument/2006/relationships/notesSlide" Target="/ppt/notesSlides/notesSlide13.xml" Id="Re33dce83bdbf46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c0faa36c8e149c2" /><Relationship Type="http://schemas.openxmlformats.org/officeDocument/2006/relationships/notesSlide" Target="/ppt/notesSlides/notesSlide14.xml" Id="Rc10a1b7a2d1744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a85dc6733aa4a8a" /><Relationship Type="http://schemas.openxmlformats.org/officeDocument/2006/relationships/notesSlide" Target="/ppt/notesSlides/notesSlide15.xml" Id="R0e407e1c1a0b4b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1ef703945304fdd" /><Relationship Type="http://schemas.openxmlformats.org/officeDocument/2006/relationships/notesSlide" Target="/ppt/notesSlides/notesSlide16.xml" Id="Rddf9690103f8476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7cc48cf620f4669" /><Relationship Type="http://schemas.openxmlformats.org/officeDocument/2006/relationships/notesSlide" Target="/ppt/notesSlides/notesSlide17.xml" Id="Rad21572f31fb43b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1358fc6be2d4035" /><Relationship Type="http://schemas.openxmlformats.org/officeDocument/2006/relationships/notesSlide" Target="/ppt/notesSlides/notesSlide18.xml" Id="R114094ab4f91402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9f9365bc68f4c43" /><Relationship Type="http://schemas.openxmlformats.org/officeDocument/2006/relationships/notesSlide" Target="/ppt/notesSlides/notesSlide19.xml" Id="R0594d9f9b23f43f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271f542cb934175" /><Relationship Type="http://schemas.openxmlformats.org/officeDocument/2006/relationships/notesSlide" Target="/ppt/notesSlides/notesSlide20.xml" Id="Rd333f6b0c03f47f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658296268ab4872" /><Relationship Type="http://schemas.openxmlformats.org/officeDocument/2006/relationships/notesSlide" Target="/ppt/notesSlides/notesSlide21.xml" Id="R5b7c6faa98df4b5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55cbdb8c8de43f4" /><Relationship Type="http://schemas.openxmlformats.org/officeDocument/2006/relationships/notesSlide" Target="/ppt/notesSlides/notesSlide22.xml" Id="R226063d3ae964fc2" /></Relationships>
</file>

<file path=ppt/slides/slide1.xml><?xml version="1.0" encoding="utf-8"?>
<p:sld xmlns:p="http://schemas.openxmlformats.org/presentationml/2006/main">
  <p:cSld>
    <p:bg>
      <p:bgPr>
        <a:solidFill xmlns:a="http://schemas.openxmlformats.org/drawingml/2006/main">
          <a:srgbClr val="153D3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AB0684-79C7-4805-B33B-FEFBCF1F870E}"/>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Calibri"/>
                <a:ea typeface="Calibri"/>
                <a:cs typeface="Calibri"/>
              </a:defRPr>
            </a:defPPr>
            <a:lvl1pPr>
              <a:defRPr sz="3300" b="1">
                <a:solidFill>
                  <a:srgbClr val="FFFFFF"/>
                </a:solidFill>
                <a:latin typeface="Calibri"/>
                <a:ea typeface="Calibri"/>
                <a:cs typeface="Calibri"/>
              </a:defRPr>
            </a:lvl1pPr>
            <a:lvl2pPr>
              <a:defRPr sz="3300" b="1">
                <a:solidFill>
                  <a:srgbClr val="FFFFFF"/>
                </a:solidFill>
                <a:latin typeface="Calibri"/>
                <a:ea typeface="Calibri"/>
                <a:cs typeface="Calibri"/>
              </a:defRPr>
            </a:lvl2pPr>
            <a:lvl3pPr>
              <a:defRPr sz="3300" b="1">
                <a:solidFill>
                  <a:srgbClr val="FFFFFF"/>
                </a:solidFill>
                <a:latin typeface="Calibri"/>
                <a:ea typeface="Calibri"/>
                <a:cs typeface="Calibri"/>
              </a:defRPr>
            </a:lvl3pPr>
            <a:lvl4pPr>
              <a:defRPr sz="3300" b="1">
                <a:solidFill>
                  <a:srgbClr val="FFFFFF"/>
                </a:solidFill>
                <a:latin typeface="Calibri"/>
                <a:ea typeface="Calibri"/>
                <a:cs typeface="Calibri"/>
              </a:defRPr>
            </a:lvl4pPr>
            <a:lvl5pPr>
              <a:defRPr sz="3300" b="1">
                <a:solidFill>
                  <a:srgbClr val="FFFFFF"/>
                </a:solidFill>
                <a:latin typeface="Calibri"/>
                <a:ea typeface="Calibri"/>
                <a:cs typeface="Calibri"/>
              </a:defRPr>
            </a:lvl5pPr>
            <a:lvl6pPr>
              <a:defRPr sz="3300" b="1">
                <a:solidFill>
                  <a:srgbClr val="FFFFFF"/>
                </a:solidFill>
                <a:latin typeface="Calibri"/>
                <a:ea typeface="Calibri"/>
                <a:cs typeface="Calibri"/>
              </a:defRPr>
            </a:lvl6pPr>
            <a:lvl7pPr>
              <a:defRPr sz="3300" b="1">
                <a:solidFill>
                  <a:srgbClr val="FFFFFF"/>
                </a:solidFill>
                <a:latin typeface="Calibri"/>
                <a:ea typeface="Calibri"/>
                <a:cs typeface="Calibri"/>
              </a:defRPr>
            </a:lvl7pPr>
            <a:lvl8pPr>
              <a:defRPr sz="3300" b="1">
                <a:solidFill>
                  <a:srgbClr val="FFFFFF"/>
                </a:solidFill>
                <a:latin typeface="Calibri"/>
                <a:ea typeface="Calibri"/>
                <a:cs typeface="Calibri"/>
              </a:defRPr>
            </a:lvl8pPr>
            <a:lvl9pPr>
              <a:defRPr sz="3300" b="1">
                <a:solidFill>
                  <a:srgbClr val="FFFFFF"/>
                </a:solidFill>
                <a:latin typeface="Calibri"/>
                <a:ea typeface="Calibri"/>
                <a:cs typeface="Calibri"/>
              </a:defRPr>
            </a:lvl9pPr>
          </a:lstStyle>
          <a:p xmlns:a="http://schemas.openxmlformats.org/drawingml/2006/main">
            <a:pPr>
              <a:defRPr sz="3300" b="1">
                <a:solidFill>
                  <a:srgbClr val="FFFFFF"/>
                </a:solidFill>
                <a:latin typeface="Calibri"/>
                <a:ea typeface="Calibri"/>
                <a:cs typeface="Calibri"/>
              </a:defRPr>
            </a:pPr>
            <a:r>
              <a:rPr sz="3300" b="1">
                <a:solidFill>
                  <a:srgbClr val="FFFFFF"/>
                </a:solidFill>
                <a:latin typeface="Calibri"/>
                <a:ea typeface="Calibri"/>
                <a:cs typeface="Calibri"/>
              </a:rPr>
              <a:t>CareSys</a:t>
            </a:r>
          </a:p>
        </p:txBody>
      </p:sp>
      <p:sp>
        <p:nvSpPr>
          <p:cNvPr id="2" name="">
            <a:extLst xmlns:a="http://schemas.openxmlformats.org/drawingml/2006/main">
              <a:ext uri="{FF2B5EF4-FFF2-40B4-BE49-F238E27FC236}">
                <a16:creationId xmlns:a16="http://schemas.microsoft.com/office/drawing/2014/main" id="{691DF484-E82C-48B0-AA48-89C58DEB0143}"/>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6D6CB"/>
                </a:solidFill>
                <a:latin typeface="Calibri"/>
                <a:ea typeface="Calibri"/>
                <a:cs typeface="Calibri"/>
              </a:defRPr>
            </a:defPPr>
            <a:lvl1pPr>
              <a:defRPr sz="1200" b="0">
                <a:solidFill>
                  <a:srgbClr val="C6D6CB"/>
                </a:solidFill>
                <a:latin typeface="Calibri"/>
                <a:ea typeface="Calibri"/>
                <a:cs typeface="Calibri"/>
              </a:defRPr>
            </a:lvl1pPr>
            <a:lvl2pPr>
              <a:defRPr sz="1200" b="0">
                <a:solidFill>
                  <a:srgbClr val="C6D6CB"/>
                </a:solidFill>
                <a:latin typeface="Calibri"/>
                <a:ea typeface="Calibri"/>
                <a:cs typeface="Calibri"/>
              </a:defRPr>
            </a:lvl2pPr>
            <a:lvl3pPr>
              <a:defRPr sz="1200" b="0">
                <a:solidFill>
                  <a:srgbClr val="C6D6CB"/>
                </a:solidFill>
                <a:latin typeface="Calibri"/>
                <a:ea typeface="Calibri"/>
                <a:cs typeface="Calibri"/>
              </a:defRPr>
            </a:lvl3pPr>
            <a:lvl4pPr>
              <a:defRPr sz="1200" b="0">
                <a:solidFill>
                  <a:srgbClr val="C6D6CB"/>
                </a:solidFill>
                <a:latin typeface="Calibri"/>
                <a:ea typeface="Calibri"/>
                <a:cs typeface="Calibri"/>
              </a:defRPr>
            </a:lvl4pPr>
            <a:lvl5pPr>
              <a:defRPr sz="1200" b="0">
                <a:solidFill>
                  <a:srgbClr val="C6D6CB"/>
                </a:solidFill>
                <a:latin typeface="Calibri"/>
                <a:ea typeface="Calibri"/>
                <a:cs typeface="Calibri"/>
              </a:defRPr>
            </a:lvl5pPr>
            <a:lvl6pPr>
              <a:defRPr sz="1200" b="0">
                <a:solidFill>
                  <a:srgbClr val="C6D6CB"/>
                </a:solidFill>
                <a:latin typeface="Calibri"/>
                <a:ea typeface="Calibri"/>
                <a:cs typeface="Calibri"/>
              </a:defRPr>
            </a:lvl6pPr>
            <a:lvl7pPr>
              <a:defRPr sz="1200" b="0">
                <a:solidFill>
                  <a:srgbClr val="C6D6CB"/>
                </a:solidFill>
                <a:latin typeface="Calibri"/>
                <a:ea typeface="Calibri"/>
                <a:cs typeface="Calibri"/>
              </a:defRPr>
            </a:lvl7pPr>
            <a:lvl8pPr>
              <a:defRPr sz="1200" b="0">
                <a:solidFill>
                  <a:srgbClr val="C6D6CB"/>
                </a:solidFill>
                <a:latin typeface="Calibri"/>
                <a:ea typeface="Calibri"/>
                <a:cs typeface="Calibri"/>
              </a:defRPr>
            </a:lvl8pPr>
            <a:lvl9pPr>
              <a:defRPr sz="1200" b="0">
                <a:solidFill>
                  <a:srgbClr val="C6D6CB"/>
                </a:solidFill>
                <a:latin typeface="Calibri"/>
                <a:ea typeface="Calibri"/>
                <a:cs typeface="Calibri"/>
              </a:defRPr>
            </a:lvl9pPr>
          </a:lstStyle>
          <a:p xmlns:a="http://schemas.openxmlformats.org/drawingml/2006/main">
            <a:pPr>
              <a:defRPr sz="1200" b="0">
                <a:solidFill>
                  <a:srgbClr val="C6D6CB"/>
                </a:solidFill>
                <a:latin typeface="Calibri"/>
                <a:ea typeface="Calibri"/>
                <a:cs typeface="Calibri"/>
              </a:defRPr>
            </a:pPr>
            <a:r>
              <a:rPr sz="1200" b="0">
                <a:solidFill>
                  <a:srgbClr val="C6D6CB"/>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C67C13E1-530B-4BD1-902D-DDD8F1E5D43E}"/>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6D6CB"/>
                </a:solidFill>
                <a:latin typeface="Calibri"/>
                <a:ea typeface="Calibri"/>
                <a:cs typeface="Calibri"/>
              </a:defRPr>
            </a:defPPr>
            <a:lvl1pPr>
              <a:defRPr sz="1275" b="0">
                <a:solidFill>
                  <a:srgbClr val="C6D6CB"/>
                </a:solidFill>
                <a:latin typeface="Calibri"/>
                <a:ea typeface="Calibri"/>
                <a:cs typeface="Calibri"/>
              </a:defRPr>
            </a:lvl1pPr>
            <a:lvl2pPr>
              <a:defRPr sz="1275" b="0">
                <a:solidFill>
                  <a:srgbClr val="C6D6CB"/>
                </a:solidFill>
                <a:latin typeface="Calibri"/>
                <a:ea typeface="Calibri"/>
                <a:cs typeface="Calibri"/>
              </a:defRPr>
            </a:lvl2pPr>
            <a:lvl3pPr>
              <a:defRPr sz="1275" b="0">
                <a:solidFill>
                  <a:srgbClr val="C6D6CB"/>
                </a:solidFill>
                <a:latin typeface="Calibri"/>
                <a:ea typeface="Calibri"/>
                <a:cs typeface="Calibri"/>
              </a:defRPr>
            </a:lvl3pPr>
            <a:lvl4pPr>
              <a:defRPr sz="1275" b="0">
                <a:solidFill>
                  <a:srgbClr val="C6D6CB"/>
                </a:solidFill>
                <a:latin typeface="Calibri"/>
                <a:ea typeface="Calibri"/>
                <a:cs typeface="Calibri"/>
              </a:defRPr>
            </a:lvl4pPr>
            <a:lvl5pPr>
              <a:defRPr sz="1275" b="0">
                <a:solidFill>
                  <a:srgbClr val="C6D6CB"/>
                </a:solidFill>
                <a:latin typeface="Calibri"/>
                <a:ea typeface="Calibri"/>
                <a:cs typeface="Calibri"/>
              </a:defRPr>
            </a:lvl5pPr>
            <a:lvl6pPr>
              <a:defRPr sz="1275" b="0">
                <a:solidFill>
                  <a:srgbClr val="C6D6CB"/>
                </a:solidFill>
                <a:latin typeface="Calibri"/>
                <a:ea typeface="Calibri"/>
                <a:cs typeface="Calibri"/>
              </a:defRPr>
            </a:lvl6pPr>
            <a:lvl7pPr>
              <a:defRPr sz="1275" b="0">
                <a:solidFill>
                  <a:srgbClr val="C6D6CB"/>
                </a:solidFill>
                <a:latin typeface="Calibri"/>
                <a:ea typeface="Calibri"/>
                <a:cs typeface="Calibri"/>
              </a:defRPr>
            </a:lvl7pPr>
            <a:lvl8pPr>
              <a:defRPr sz="1275" b="0">
                <a:solidFill>
                  <a:srgbClr val="C6D6CB"/>
                </a:solidFill>
                <a:latin typeface="Calibri"/>
                <a:ea typeface="Calibri"/>
                <a:cs typeface="Calibri"/>
              </a:defRPr>
            </a:lvl8pPr>
            <a:lvl9pPr>
              <a:defRPr sz="1275" b="0">
                <a:solidFill>
                  <a:srgbClr val="C6D6CB"/>
                </a:solidFill>
                <a:latin typeface="Calibri"/>
                <a:ea typeface="Calibri"/>
                <a:cs typeface="Calibri"/>
              </a:defRPr>
            </a:lvl9pPr>
          </a:lstStyle>
          <a:p xmlns:a="http://schemas.openxmlformats.org/drawingml/2006/main">
            <a:pPr>
              <a:defRPr sz="1275" b="0">
                <a:solidFill>
                  <a:srgbClr val="C6D6CB"/>
                </a:solidFill>
                <a:latin typeface="Calibri"/>
                <a:ea typeface="Calibri"/>
                <a:cs typeface="Calibri"/>
              </a:defRPr>
            </a:pPr>
            <a:r>
              <a:rPr sz="1275" b="0">
                <a:solidFill>
                  <a:srgbClr val="C6D6CB"/>
                </a:solidFill>
                <a:latin typeface="Calibri"/>
                <a:ea typeface="Calibri"/>
                <a:cs typeface="Calibri"/>
              </a:rPr>
              <a:t>01</a:t>
            </a:r>
          </a:p>
        </p:txBody>
      </p:sp>
      <p:sp>
        <p:nvSpPr>
          <p:cNvPr id="4" name="">
            <a:extLst xmlns:a="http://schemas.openxmlformats.org/drawingml/2006/main">
              <a:ext uri="{FF2B5EF4-FFF2-40B4-BE49-F238E27FC236}">
                <a16:creationId xmlns:a16="http://schemas.microsoft.com/office/drawing/2014/main" id="{9B5E0293-0CD4-4D61-8424-2CE8DD0C6042}"/>
              </a:ext>
            </a:extLst>
          </p:cNvPr>
          <p:cNvSpPr>
            <a:spLocks xmlns:a="http://schemas.openxmlformats.org/drawingml/2006/main" noGrp="1"/>
          </p:cNvSpPr>
          <p:nvPr/>
        </p:nvSpPr>
        <p:spPr>
          <a:xfrm xmlns:a="http://schemas.openxmlformats.org/drawingml/2006/main">
            <a:off x="590550" y="22098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Calibri"/>
                <a:ea typeface="Calibri"/>
                <a:cs typeface="Calibri"/>
              </a:defRPr>
            </a:defPPr>
            <a:lvl1pPr>
              <a:defRPr sz="4950" b="1">
                <a:solidFill>
                  <a:srgbClr val="FFFFFF"/>
                </a:solidFill>
                <a:latin typeface="Calibri"/>
                <a:ea typeface="Calibri"/>
                <a:cs typeface="Calibri"/>
              </a:defRPr>
            </a:lvl1pPr>
            <a:lvl2pPr>
              <a:defRPr sz="4950" b="1">
                <a:solidFill>
                  <a:srgbClr val="FFFFFF"/>
                </a:solidFill>
                <a:latin typeface="Calibri"/>
                <a:ea typeface="Calibri"/>
                <a:cs typeface="Calibri"/>
              </a:defRPr>
            </a:lvl2pPr>
            <a:lvl3pPr>
              <a:defRPr sz="4950" b="1">
                <a:solidFill>
                  <a:srgbClr val="FFFFFF"/>
                </a:solidFill>
                <a:latin typeface="Calibri"/>
                <a:ea typeface="Calibri"/>
                <a:cs typeface="Calibri"/>
              </a:defRPr>
            </a:lvl3pPr>
            <a:lvl4pPr>
              <a:defRPr sz="4950" b="1">
                <a:solidFill>
                  <a:srgbClr val="FFFFFF"/>
                </a:solidFill>
                <a:latin typeface="Calibri"/>
                <a:ea typeface="Calibri"/>
                <a:cs typeface="Calibri"/>
              </a:defRPr>
            </a:lvl4pPr>
            <a:lvl5pPr>
              <a:defRPr sz="4950" b="1">
                <a:solidFill>
                  <a:srgbClr val="FFFFFF"/>
                </a:solidFill>
                <a:latin typeface="Calibri"/>
                <a:ea typeface="Calibri"/>
                <a:cs typeface="Calibri"/>
              </a:defRPr>
            </a:lvl5pPr>
            <a:lvl6pPr>
              <a:defRPr sz="4950" b="1">
                <a:solidFill>
                  <a:srgbClr val="FFFFFF"/>
                </a:solidFill>
                <a:latin typeface="Calibri"/>
                <a:ea typeface="Calibri"/>
                <a:cs typeface="Calibri"/>
              </a:defRPr>
            </a:lvl6pPr>
            <a:lvl7pPr>
              <a:defRPr sz="4950" b="1">
                <a:solidFill>
                  <a:srgbClr val="FFFFFF"/>
                </a:solidFill>
                <a:latin typeface="Calibri"/>
                <a:ea typeface="Calibri"/>
                <a:cs typeface="Calibri"/>
              </a:defRPr>
            </a:lvl7pPr>
            <a:lvl8pPr>
              <a:defRPr sz="4950" b="1">
                <a:solidFill>
                  <a:srgbClr val="FFFFFF"/>
                </a:solidFill>
                <a:latin typeface="Calibri"/>
                <a:ea typeface="Calibri"/>
                <a:cs typeface="Calibri"/>
              </a:defRPr>
            </a:lvl8pPr>
            <a:lvl9pPr>
              <a:defRPr sz="4950" b="1">
                <a:solidFill>
                  <a:srgbClr val="FFFFFF"/>
                </a:solidFill>
                <a:latin typeface="Calibri"/>
                <a:ea typeface="Calibri"/>
                <a:cs typeface="Calibri"/>
              </a:defRPr>
            </a:lvl9pPr>
          </a:lstStyle>
          <a:p xmlns:a="http://schemas.openxmlformats.org/drawingml/2006/main">
            <a:pPr>
              <a:defRPr sz="4950" b="1">
                <a:solidFill>
                  <a:srgbClr val="FFFFFF"/>
                </a:solidFill>
                <a:latin typeface="Calibri"/>
                <a:ea typeface="Calibri"/>
                <a:cs typeface="Calibri"/>
              </a:defRPr>
            </a:pPr>
            <a:r>
              <a:rPr sz="4950" b="1">
                <a:solidFill>
                  <a:srgbClr val="FFFFFF"/>
                </a:solidFill>
                <a:latin typeface="Calibri"/>
                <a:ea typeface="Calibri"/>
                <a:cs typeface="Calibri"/>
              </a:rPr>
              <a:t>Application overview</a:t>
            </a:r>
          </a:p>
        </p:txBody>
      </p:sp>
      <p:sp>
        <p:nvSpPr>
          <p:cNvPr id="5" name="">
            <a:extLst xmlns:a="http://schemas.openxmlformats.org/drawingml/2006/main">
              <a:ext uri="{FF2B5EF4-FFF2-40B4-BE49-F238E27FC236}">
                <a16:creationId xmlns:a16="http://schemas.microsoft.com/office/drawing/2014/main" id="{765A8022-757E-4E8E-93AE-94DCCDF39029}"/>
              </a:ext>
            </a:extLst>
          </p:cNvPr>
          <p:cNvSpPr>
            <a:spLocks xmlns:a="http://schemas.openxmlformats.org/drawingml/2006/main" noGrp="1"/>
          </p:cNvSpPr>
          <p:nvPr/>
        </p:nvSpPr>
        <p:spPr>
          <a:xfrm xmlns:a="http://schemas.openxmlformats.org/drawingml/2006/main">
            <a:off x="619125" y="3333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DFEDC4"/>
                </a:solidFill>
                <a:latin typeface="Calibri"/>
                <a:ea typeface="Calibri"/>
                <a:cs typeface="Calibri"/>
              </a:defRPr>
            </a:defPPr>
            <a:lvl1pPr>
              <a:defRPr sz="2550" b="0">
                <a:solidFill>
                  <a:srgbClr val="DFEDC4"/>
                </a:solidFill>
                <a:latin typeface="Calibri"/>
                <a:ea typeface="Calibri"/>
                <a:cs typeface="Calibri"/>
              </a:defRPr>
            </a:lvl1pPr>
            <a:lvl2pPr>
              <a:defRPr sz="2550" b="0">
                <a:solidFill>
                  <a:srgbClr val="DFEDC4"/>
                </a:solidFill>
                <a:latin typeface="Calibri"/>
                <a:ea typeface="Calibri"/>
                <a:cs typeface="Calibri"/>
              </a:defRPr>
            </a:lvl2pPr>
            <a:lvl3pPr>
              <a:defRPr sz="2550" b="0">
                <a:solidFill>
                  <a:srgbClr val="DFEDC4"/>
                </a:solidFill>
                <a:latin typeface="Calibri"/>
                <a:ea typeface="Calibri"/>
                <a:cs typeface="Calibri"/>
              </a:defRPr>
            </a:lvl3pPr>
            <a:lvl4pPr>
              <a:defRPr sz="2550" b="0">
                <a:solidFill>
                  <a:srgbClr val="DFEDC4"/>
                </a:solidFill>
                <a:latin typeface="Calibri"/>
                <a:ea typeface="Calibri"/>
                <a:cs typeface="Calibri"/>
              </a:defRPr>
            </a:lvl4pPr>
            <a:lvl5pPr>
              <a:defRPr sz="2550" b="0">
                <a:solidFill>
                  <a:srgbClr val="DFEDC4"/>
                </a:solidFill>
                <a:latin typeface="Calibri"/>
                <a:ea typeface="Calibri"/>
                <a:cs typeface="Calibri"/>
              </a:defRPr>
            </a:lvl5pPr>
            <a:lvl6pPr>
              <a:defRPr sz="2550" b="0">
                <a:solidFill>
                  <a:srgbClr val="DFEDC4"/>
                </a:solidFill>
                <a:latin typeface="Calibri"/>
                <a:ea typeface="Calibri"/>
                <a:cs typeface="Calibri"/>
              </a:defRPr>
            </a:lvl6pPr>
            <a:lvl7pPr>
              <a:defRPr sz="2550" b="0">
                <a:solidFill>
                  <a:srgbClr val="DFEDC4"/>
                </a:solidFill>
                <a:latin typeface="Calibri"/>
                <a:ea typeface="Calibri"/>
                <a:cs typeface="Calibri"/>
              </a:defRPr>
            </a:lvl7pPr>
            <a:lvl8pPr>
              <a:defRPr sz="2550" b="0">
                <a:solidFill>
                  <a:srgbClr val="DFEDC4"/>
                </a:solidFill>
                <a:latin typeface="Calibri"/>
                <a:ea typeface="Calibri"/>
                <a:cs typeface="Calibri"/>
              </a:defRPr>
            </a:lvl8pPr>
            <a:lvl9pPr>
              <a:defRPr sz="2550" b="0">
                <a:solidFill>
                  <a:srgbClr val="DFEDC4"/>
                </a:solidFill>
                <a:latin typeface="Calibri"/>
                <a:ea typeface="Calibri"/>
                <a:cs typeface="Calibri"/>
              </a:defRPr>
            </a:lvl9pPr>
          </a:lstStyle>
          <a:p xmlns:a="http://schemas.openxmlformats.org/drawingml/2006/main">
            <a:pPr>
              <a:defRPr sz="2550" b="0">
                <a:solidFill>
                  <a:srgbClr val="DFEDC4"/>
                </a:solidFill>
                <a:latin typeface="Calibri"/>
                <a:ea typeface="Calibri"/>
                <a:cs typeface="Calibri"/>
              </a:defRPr>
            </a:pPr>
            <a:r>
              <a:rPr sz="2550" b="0">
                <a:solidFill>
                  <a:srgbClr val="DFEDC4"/>
                </a:solidFill>
                <a:latin typeface="Calibri"/>
                <a:ea typeface="Calibri"/>
                <a:cs typeface="Calibri"/>
              </a:rPr>
              <a:t>Caregiver careers and agency operations</a:t>
            </a:r>
          </a:p>
        </p:txBody>
      </p:sp>
      <p:sp>
        <p:nvSpPr>
          <p:cNvPr id="6" name="">
            <a:extLst xmlns:a="http://schemas.openxmlformats.org/drawingml/2006/main">
              <a:ext uri="{FF2B5EF4-FFF2-40B4-BE49-F238E27FC236}">
                <a16:creationId xmlns:a16="http://schemas.microsoft.com/office/drawing/2014/main" id="{CAC27414-28BE-4E96-8D6D-6E335F8A9F48}"/>
              </a:ext>
            </a:extLst>
          </p:cNvPr>
          <p:cNvSpPr>
            <a:spLocks xmlns:a="http://schemas.openxmlformats.org/drawingml/2006/main" noGrp="1"/>
          </p:cNvSpPr>
          <p:nvPr/>
        </p:nvSpPr>
        <p:spPr>
          <a:xfrm xmlns:a="http://schemas.openxmlformats.org/drawingml/2006/main">
            <a:off x="619125" y="423862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8E6DB"/>
                </a:solidFill>
                <a:latin typeface="Calibri"/>
                <a:ea typeface="Calibri"/>
                <a:cs typeface="Calibri"/>
              </a:defRPr>
            </a:defPPr>
            <a:lvl1pPr>
              <a:defRPr sz="2100" b="0">
                <a:solidFill>
                  <a:srgbClr val="D8E6DB"/>
                </a:solidFill>
                <a:latin typeface="Calibri"/>
                <a:ea typeface="Calibri"/>
                <a:cs typeface="Calibri"/>
              </a:defRPr>
            </a:lvl1pPr>
            <a:lvl2pPr>
              <a:defRPr sz="2100" b="0">
                <a:solidFill>
                  <a:srgbClr val="D8E6DB"/>
                </a:solidFill>
                <a:latin typeface="Calibri"/>
                <a:ea typeface="Calibri"/>
                <a:cs typeface="Calibri"/>
              </a:defRPr>
            </a:lvl2pPr>
            <a:lvl3pPr>
              <a:defRPr sz="2100" b="0">
                <a:solidFill>
                  <a:srgbClr val="D8E6DB"/>
                </a:solidFill>
                <a:latin typeface="Calibri"/>
                <a:ea typeface="Calibri"/>
                <a:cs typeface="Calibri"/>
              </a:defRPr>
            </a:lvl3pPr>
            <a:lvl4pPr>
              <a:defRPr sz="2100" b="0">
                <a:solidFill>
                  <a:srgbClr val="D8E6DB"/>
                </a:solidFill>
                <a:latin typeface="Calibri"/>
                <a:ea typeface="Calibri"/>
                <a:cs typeface="Calibri"/>
              </a:defRPr>
            </a:lvl4pPr>
            <a:lvl5pPr>
              <a:defRPr sz="2100" b="0">
                <a:solidFill>
                  <a:srgbClr val="D8E6DB"/>
                </a:solidFill>
                <a:latin typeface="Calibri"/>
                <a:ea typeface="Calibri"/>
                <a:cs typeface="Calibri"/>
              </a:defRPr>
            </a:lvl5pPr>
            <a:lvl6pPr>
              <a:defRPr sz="2100" b="0">
                <a:solidFill>
                  <a:srgbClr val="D8E6DB"/>
                </a:solidFill>
                <a:latin typeface="Calibri"/>
                <a:ea typeface="Calibri"/>
                <a:cs typeface="Calibri"/>
              </a:defRPr>
            </a:lvl6pPr>
            <a:lvl7pPr>
              <a:defRPr sz="2100" b="0">
                <a:solidFill>
                  <a:srgbClr val="D8E6DB"/>
                </a:solidFill>
                <a:latin typeface="Calibri"/>
                <a:ea typeface="Calibri"/>
                <a:cs typeface="Calibri"/>
              </a:defRPr>
            </a:lvl7pPr>
            <a:lvl8pPr>
              <a:defRPr sz="2100" b="0">
                <a:solidFill>
                  <a:srgbClr val="D8E6DB"/>
                </a:solidFill>
                <a:latin typeface="Calibri"/>
                <a:ea typeface="Calibri"/>
                <a:cs typeface="Calibri"/>
              </a:defRPr>
            </a:lvl8pPr>
            <a:lvl9pPr>
              <a:defRPr sz="2100" b="0">
                <a:solidFill>
                  <a:srgbClr val="D8E6DB"/>
                </a:solidFill>
                <a:latin typeface="Calibri"/>
                <a:ea typeface="Calibri"/>
                <a:cs typeface="Calibri"/>
              </a:defRPr>
            </a:lvl9pPr>
          </a:lstStyle>
          <a:p xmlns:a="http://schemas.openxmlformats.org/drawingml/2006/main">
            <a:pPr>
              <a:defRPr sz="2100" b="0">
                <a:solidFill>
                  <a:srgbClr val="D8E6DB"/>
                </a:solidFill>
                <a:latin typeface="Calibri"/>
                <a:ea typeface="Calibri"/>
                <a:cs typeface="Calibri"/>
              </a:defRPr>
            </a:pPr>
            <a:r>
              <a:rPr sz="2100" b="0">
                <a:solidFill>
                  <a:srgbClr val="D8E6DB"/>
                </a:solidFill>
                <a:latin typeface="Calibri"/>
                <a:ea typeface="Calibri"/>
                <a:cs typeface="Calibri"/>
              </a:rPr>
              <a:t>Purpose, product snapshots and launch blueprint</a:t>
            </a:r>
          </a:p>
        </p:txBody>
      </p:sp>
      <p:sp>
        <p:nvSpPr>
          <p:cNvPr id="7" name="">
            <a:extLst xmlns:a="http://schemas.openxmlformats.org/drawingml/2006/main">
              <a:ext uri="{FF2B5EF4-FFF2-40B4-BE49-F238E27FC236}">
                <a16:creationId xmlns:a16="http://schemas.microsoft.com/office/drawing/2014/main" id="{4E8F49A1-9208-4475-9558-E6DCA01BB62E}"/>
              </a:ext>
            </a:extLst>
          </p:cNvPr>
          <p:cNvSpPr>
            <a:spLocks xmlns:a="http://schemas.openxmlformats.org/drawingml/2006/main" noGrp="1"/>
          </p:cNvSpPr>
          <p:nvPr/>
        </p:nvSpPr>
        <p:spPr>
          <a:xfrm xmlns:a="http://schemas.openxmlformats.org/drawingml/2006/main">
            <a:off x="619125" y="55530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C6D6CB"/>
                </a:solidFill>
                <a:latin typeface="Calibri"/>
                <a:ea typeface="Calibri"/>
                <a:cs typeface="Calibri"/>
              </a:defRPr>
            </a:defPPr>
            <a:lvl1pPr>
              <a:defRPr sz="1725" b="0">
                <a:solidFill>
                  <a:srgbClr val="C6D6CB"/>
                </a:solidFill>
                <a:latin typeface="Calibri"/>
                <a:ea typeface="Calibri"/>
                <a:cs typeface="Calibri"/>
              </a:defRPr>
            </a:lvl1pPr>
            <a:lvl2pPr>
              <a:defRPr sz="1725" b="0">
                <a:solidFill>
                  <a:srgbClr val="C6D6CB"/>
                </a:solidFill>
                <a:latin typeface="Calibri"/>
                <a:ea typeface="Calibri"/>
                <a:cs typeface="Calibri"/>
              </a:defRPr>
            </a:lvl2pPr>
            <a:lvl3pPr>
              <a:defRPr sz="1725" b="0">
                <a:solidFill>
                  <a:srgbClr val="C6D6CB"/>
                </a:solidFill>
                <a:latin typeface="Calibri"/>
                <a:ea typeface="Calibri"/>
                <a:cs typeface="Calibri"/>
              </a:defRPr>
            </a:lvl3pPr>
            <a:lvl4pPr>
              <a:defRPr sz="1725" b="0">
                <a:solidFill>
                  <a:srgbClr val="C6D6CB"/>
                </a:solidFill>
                <a:latin typeface="Calibri"/>
                <a:ea typeface="Calibri"/>
                <a:cs typeface="Calibri"/>
              </a:defRPr>
            </a:lvl4pPr>
            <a:lvl5pPr>
              <a:defRPr sz="1725" b="0">
                <a:solidFill>
                  <a:srgbClr val="C6D6CB"/>
                </a:solidFill>
                <a:latin typeface="Calibri"/>
                <a:ea typeface="Calibri"/>
                <a:cs typeface="Calibri"/>
              </a:defRPr>
            </a:lvl5pPr>
            <a:lvl6pPr>
              <a:defRPr sz="1725" b="0">
                <a:solidFill>
                  <a:srgbClr val="C6D6CB"/>
                </a:solidFill>
                <a:latin typeface="Calibri"/>
                <a:ea typeface="Calibri"/>
                <a:cs typeface="Calibri"/>
              </a:defRPr>
            </a:lvl6pPr>
            <a:lvl7pPr>
              <a:defRPr sz="1725" b="0">
                <a:solidFill>
                  <a:srgbClr val="C6D6CB"/>
                </a:solidFill>
                <a:latin typeface="Calibri"/>
                <a:ea typeface="Calibri"/>
                <a:cs typeface="Calibri"/>
              </a:defRPr>
            </a:lvl7pPr>
            <a:lvl8pPr>
              <a:defRPr sz="1725" b="0">
                <a:solidFill>
                  <a:srgbClr val="C6D6CB"/>
                </a:solidFill>
                <a:latin typeface="Calibri"/>
                <a:ea typeface="Calibri"/>
                <a:cs typeface="Calibri"/>
              </a:defRPr>
            </a:lvl8pPr>
            <a:lvl9pPr>
              <a:defRPr sz="1725" b="0">
                <a:solidFill>
                  <a:srgbClr val="C6D6CB"/>
                </a:solidFill>
                <a:latin typeface="Calibri"/>
                <a:ea typeface="Calibri"/>
                <a:cs typeface="Calibri"/>
              </a:defRPr>
            </a:lvl9pPr>
          </a:lstStyle>
          <a:p xmlns:a="http://schemas.openxmlformats.org/drawingml/2006/main">
            <a:pPr>
              <a:defRPr sz="1725" b="0">
                <a:solidFill>
                  <a:srgbClr val="C6D6CB"/>
                </a:solidFill>
                <a:latin typeface="Calibri"/>
                <a:ea typeface="Calibri"/>
                <a:cs typeface="Calibri"/>
              </a:defRPr>
            </a:pPr>
            <a:r>
              <a:rPr sz="1725" b="0">
                <a:solidFill>
                  <a:srgbClr val="C6D6CB"/>
                </a:solidFill>
                <a:latin typeface="Calibri"/>
                <a:ea typeface="Calibri"/>
                <a:cs typeface="Calibri"/>
              </a:rPr>
              <a:t>Working local application with a proposed commercial roadmap</a:t>
            </a:r>
          </a:p>
        </p:txBody>
      </p:sp>
    </p:spTree>
    <p:extLst>
      <p:ext uri="{BB962C8B-B14F-4D97-AF65-F5344CB8AC3E}">
        <p14:creationId xmlns:p14="http://schemas.microsoft.com/office/powerpoint/2010/main" val="1521801974"/>
      </p:ext>
    </p:extLst>
  </p:cSld>
</p:sld>
</file>

<file path=ppt/slides/slide2.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AAEDA4-29BE-496F-81B4-295C01A69229}"/>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Purpose and aims</a:t>
            </a:r>
          </a:p>
        </p:txBody>
      </p:sp>
      <p:sp>
        <p:nvSpPr>
          <p:cNvPr id="2" name="">
            <a:extLst xmlns:a="http://schemas.openxmlformats.org/drawingml/2006/main">
              <a:ext uri="{FF2B5EF4-FFF2-40B4-BE49-F238E27FC236}">
                <a16:creationId xmlns:a16="http://schemas.microsoft.com/office/drawing/2014/main" id="{7EB58887-10FF-400A-BA53-A72833D9BFAF}"/>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B3029E33-D936-46F3-9B49-0388B13D3F8C}"/>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02</a:t>
            </a:r>
          </a:p>
        </p:txBody>
      </p:sp>
      <p:sp>
        <p:nvSpPr>
          <p:cNvPr id="4" name="">
            <a:extLst xmlns:a="http://schemas.openxmlformats.org/drawingml/2006/main">
              <a:ext uri="{FF2B5EF4-FFF2-40B4-BE49-F238E27FC236}">
                <a16:creationId xmlns:a16="http://schemas.microsoft.com/office/drawing/2014/main" id="{82826520-50E7-4215-87C0-8E458A27116B}"/>
              </a:ext>
            </a:extLst>
          </p:cNvPr>
          <p:cNvSpPr>
            <a:spLocks xmlns:a="http://schemas.openxmlformats.org/drawingml/2006/main" noGrp="1"/>
          </p:cNvSpPr>
          <p:nvPr/>
        </p:nvSpPr>
        <p:spPr>
          <a:xfrm xmlns:a="http://schemas.openxmlformats.org/drawingml/2006/main">
            <a:off x="619125" y="15240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53D38"/>
                </a:solidFill>
                <a:latin typeface="Calibri"/>
                <a:ea typeface="Calibri"/>
                <a:cs typeface="Calibri"/>
              </a:defRPr>
            </a:defPPr>
            <a:lvl1pPr>
              <a:defRPr sz="2850" b="1">
                <a:solidFill>
                  <a:srgbClr val="153D38"/>
                </a:solidFill>
                <a:latin typeface="Calibri"/>
                <a:ea typeface="Calibri"/>
                <a:cs typeface="Calibri"/>
              </a:defRPr>
            </a:lvl1pPr>
            <a:lvl2pPr>
              <a:defRPr sz="2850" b="1">
                <a:solidFill>
                  <a:srgbClr val="153D38"/>
                </a:solidFill>
                <a:latin typeface="Calibri"/>
                <a:ea typeface="Calibri"/>
                <a:cs typeface="Calibri"/>
              </a:defRPr>
            </a:lvl2pPr>
            <a:lvl3pPr>
              <a:defRPr sz="2850" b="1">
                <a:solidFill>
                  <a:srgbClr val="153D38"/>
                </a:solidFill>
                <a:latin typeface="Calibri"/>
                <a:ea typeface="Calibri"/>
                <a:cs typeface="Calibri"/>
              </a:defRPr>
            </a:lvl3pPr>
            <a:lvl4pPr>
              <a:defRPr sz="2850" b="1">
                <a:solidFill>
                  <a:srgbClr val="153D38"/>
                </a:solidFill>
                <a:latin typeface="Calibri"/>
                <a:ea typeface="Calibri"/>
                <a:cs typeface="Calibri"/>
              </a:defRPr>
            </a:lvl4pPr>
            <a:lvl5pPr>
              <a:defRPr sz="2850" b="1">
                <a:solidFill>
                  <a:srgbClr val="153D38"/>
                </a:solidFill>
                <a:latin typeface="Calibri"/>
                <a:ea typeface="Calibri"/>
                <a:cs typeface="Calibri"/>
              </a:defRPr>
            </a:lvl5pPr>
            <a:lvl6pPr>
              <a:defRPr sz="2850" b="1">
                <a:solidFill>
                  <a:srgbClr val="153D38"/>
                </a:solidFill>
                <a:latin typeface="Calibri"/>
                <a:ea typeface="Calibri"/>
                <a:cs typeface="Calibri"/>
              </a:defRPr>
            </a:lvl6pPr>
            <a:lvl7pPr>
              <a:defRPr sz="2850" b="1">
                <a:solidFill>
                  <a:srgbClr val="153D38"/>
                </a:solidFill>
                <a:latin typeface="Calibri"/>
                <a:ea typeface="Calibri"/>
                <a:cs typeface="Calibri"/>
              </a:defRPr>
            </a:lvl7pPr>
            <a:lvl8pPr>
              <a:defRPr sz="2850" b="1">
                <a:solidFill>
                  <a:srgbClr val="153D38"/>
                </a:solidFill>
                <a:latin typeface="Calibri"/>
                <a:ea typeface="Calibri"/>
                <a:cs typeface="Calibri"/>
              </a:defRPr>
            </a:lvl8pPr>
            <a:lvl9pPr>
              <a:defRPr sz="2850" b="1">
                <a:solidFill>
                  <a:srgbClr val="153D38"/>
                </a:solidFill>
                <a:latin typeface="Calibri"/>
                <a:ea typeface="Calibri"/>
                <a:cs typeface="Calibri"/>
              </a:defRPr>
            </a:lvl9pPr>
          </a:lstStyle>
          <a:p xmlns:a="http://schemas.openxmlformats.org/drawingml/2006/main">
            <a:pPr>
              <a:defRPr sz="2850" b="1">
                <a:solidFill>
                  <a:srgbClr val="153D38"/>
                </a:solidFill>
                <a:latin typeface="Calibri"/>
                <a:ea typeface="Calibri"/>
                <a:cs typeface="Calibri"/>
              </a:defRPr>
            </a:pPr>
            <a:r>
              <a:rPr sz="2850" b="1">
                <a:solidFill>
                  <a:srgbClr val="153D38"/>
                </a:solidFill>
                <a:latin typeface="Calibri"/>
                <a:ea typeface="Calibri"/>
                <a:cs typeface="Calibri"/>
              </a:rPr>
              <a:t>Help agencies manage care work while people keep control of their own professional identity.</a:t>
            </a:r>
          </a:p>
        </p:txBody>
      </p:sp>
      <p:sp>
        <p:nvSpPr>
          <p:cNvPr id="5" name="">
            <a:extLst xmlns:a="http://schemas.openxmlformats.org/drawingml/2006/main">
              <a:ext uri="{FF2B5EF4-FFF2-40B4-BE49-F238E27FC236}">
                <a16:creationId xmlns:a16="http://schemas.microsoft.com/office/drawing/2014/main" id="{83A88A80-94C2-40D2-8D28-7AF0D0D7ABE4}"/>
              </a:ext>
            </a:extLst>
          </p:cNvPr>
          <p:cNvSpPr>
            <a:spLocks xmlns:a="http://schemas.openxmlformats.org/drawingml/2006/main" noGrp="1"/>
          </p:cNvSpPr>
          <p:nvPr/>
        </p:nvSpPr>
        <p:spPr>
          <a:xfrm xmlns:a="http://schemas.openxmlformats.org/drawingml/2006/main">
            <a:off x="619125" y="31051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Caregiver independence</a:t>
            </a:r>
          </a:p>
        </p:txBody>
      </p:sp>
      <p:sp>
        <p:nvSpPr>
          <p:cNvPr id="6" name="">
            <a:extLst xmlns:a="http://schemas.openxmlformats.org/drawingml/2006/main">
              <a:ext uri="{FF2B5EF4-FFF2-40B4-BE49-F238E27FC236}">
                <a16:creationId xmlns:a16="http://schemas.microsoft.com/office/drawing/2014/main" id="{63DD93D7-E74D-41A4-8DF5-3BDA3A947150}"/>
              </a:ext>
            </a:extLst>
          </p:cNvPr>
          <p:cNvSpPr>
            <a:spLocks xmlns:a="http://schemas.openxmlformats.org/drawingml/2006/main" noGrp="1"/>
          </p:cNvSpPr>
          <p:nvPr/>
        </p:nvSpPr>
        <p:spPr>
          <a:xfrm xmlns:a="http://schemas.openxmlformats.org/drawingml/2006/main">
            <a:off x="619125" y="35052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Profiles and career choices continue across agency relationships.</a:t>
            </a:r>
          </a:p>
        </p:txBody>
      </p:sp>
      <p:sp>
        <p:nvSpPr>
          <p:cNvPr id="7" name="">
            <a:extLst xmlns:a="http://schemas.openxmlformats.org/drawingml/2006/main">
              <a:ext uri="{FF2B5EF4-FFF2-40B4-BE49-F238E27FC236}">
                <a16:creationId xmlns:a16="http://schemas.microsoft.com/office/drawing/2014/main" id="{512E3CE3-37F8-46EB-A864-B381129C0887}"/>
              </a:ext>
            </a:extLst>
          </p:cNvPr>
          <p:cNvSpPr>
            <a:spLocks xmlns:a="http://schemas.openxmlformats.org/drawingml/2006/main" noGrp="1"/>
          </p:cNvSpPr>
          <p:nvPr/>
        </p:nvSpPr>
        <p:spPr>
          <a:xfrm xmlns:a="http://schemas.openxmlformats.org/drawingml/2006/main">
            <a:off x="619125" y="4057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Agency coordination</a:t>
            </a:r>
          </a:p>
        </p:txBody>
      </p:sp>
      <p:sp>
        <p:nvSpPr>
          <p:cNvPr id="8" name="">
            <a:extLst xmlns:a="http://schemas.openxmlformats.org/drawingml/2006/main">
              <a:ext uri="{FF2B5EF4-FFF2-40B4-BE49-F238E27FC236}">
                <a16:creationId xmlns:a16="http://schemas.microsoft.com/office/drawing/2014/main" id="{C799E227-364B-438A-8ED7-126F61A99140}"/>
              </a:ext>
            </a:extLst>
          </p:cNvPr>
          <p:cNvSpPr>
            <a:spLocks xmlns:a="http://schemas.openxmlformats.org/drawingml/2006/main" noGrp="1"/>
          </p:cNvSpPr>
          <p:nvPr/>
        </p:nvSpPr>
        <p:spPr>
          <a:xfrm xmlns:a="http://schemas.openxmlformats.org/drawingml/2006/main">
            <a:off x="619125" y="44577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Recruitment and daily operations share an authorized workspace.</a:t>
            </a:r>
          </a:p>
        </p:txBody>
      </p:sp>
      <p:sp>
        <p:nvSpPr>
          <p:cNvPr id="9" name="">
            <a:extLst xmlns:a="http://schemas.openxmlformats.org/drawingml/2006/main">
              <a:ext uri="{FF2B5EF4-FFF2-40B4-BE49-F238E27FC236}">
                <a16:creationId xmlns:a16="http://schemas.microsoft.com/office/drawing/2014/main" id="{5849BF46-BF9C-4174-A1BC-A3B358854317}"/>
              </a:ext>
            </a:extLst>
          </p:cNvPr>
          <p:cNvSpPr>
            <a:spLocks xmlns:a="http://schemas.openxmlformats.org/drawingml/2006/main" noGrp="1"/>
          </p:cNvSpPr>
          <p:nvPr/>
        </p:nvSpPr>
        <p:spPr>
          <a:xfrm xmlns:a="http://schemas.openxmlformats.org/drawingml/2006/main">
            <a:off x="619125" y="50101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Clear decisions</a:t>
            </a:r>
          </a:p>
        </p:txBody>
      </p:sp>
      <p:sp>
        <p:nvSpPr>
          <p:cNvPr id="10" name="">
            <a:extLst xmlns:a="http://schemas.openxmlformats.org/drawingml/2006/main">
              <a:ext uri="{FF2B5EF4-FFF2-40B4-BE49-F238E27FC236}">
                <a16:creationId xmlns:a16="http://schemas.microsoft.com/office/drawing/2014/main" id="{9752C312-FE3B-4B87-94D6-B73EED03298A}"/>
              </a:ext>
            </a:extLst>
          </p:cNvPr>
          <p:cNvSpPr>
            <a:spLocks xmlns:a="http://schemas.openxmlformats.org/drawingml/2006/main" noGrp="1"/>
          </p:cNvSpPr>
          <p:nvPr/>
        </p:nvSpPr>
        <p:spPr>
          <a:xfrm xmlns:a="http://schemas.openxmlformats.org/drawingml/2006/main">
            <a:off x="619125" y="54102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Consent, agreements and reviews record who approved what.</a:t>
            </a:r>
          </a:p>
        </p:txBody>
      </p:sp>
    </p:spTree>
    <p:extLst>
      <p:ext uri="{BB962C8B-B14F-4D97-AF65-F5344CB8AC3E}">
        <p14:creationId xmlns:p14="http://schemas.microsoft.com/office/powerpoint/2010/main" val="1570527755"/>
      </p:ext>
    </p:extLst>
  </p:cSld>
</p:sld>
</file>

<file path=ppt/slides/slide3.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BB5D00-45CB-471C-A468-F42232B72DD0}"/>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People and responsibilities</a:t>
            </a:r>
          </a:p>
        </p:txBody>
      </p:sp>
      <p:sp>
        <p:nvSpPr>
          <p:cNvPr id="2" name="">
            <a:extLst xmlns:a="http://schemas.openxmlformats.org/drawingml/2006/main">
              <a:ext uri="{FF2B5EF4-FFF2-40B4-BE49-F238E27FC236}">
                <a16:creationId xmlns:a16="http://schemas.microsoft.com/office/drawing/2014/main" id="{0141A126-73FF-4639-8596-4D2E04E7B040}"/>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F44A91F8-5188-4484-AF10-749B9729D2F9}"/>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03</a:t>
            </a:r>
          </a:p>
        </p:txBody>
      </p:sp>
      <p:sp>
        <p:nvSpPr>
          <p:cNvPr id="4" name="">
            <a:extLst xmlns:a="http://schemas.openxmlformats.org/drawingml/2006/main">
              <a:ext uri="{FF2B5EF4-FFF2-40B4-BE49-F238E27FC236}">
                <a16:creationId xmlns:a16="http://schemas.microsoft.com/office/drawing/2014/main" id="{F973D05D-F435-4588-A33E-6398710F941D}"/>
              </a:ext>
            </a:extLst>
          </p:cNvPr>
          <p:cNvSpPr>
            <a:spLocks xmlns:a="http://schemas.openxmlformats.org/drawingml/2006/main" noGrp="1"/>
          </p:cNvSpPr>
          <p:nvPr/>
        </p:nvSpPr>
        <p:spPr>
          <a:xfrm xmlns:a="http://schemas.openxmlformats.org/drawingml/2006/main">
            <a:off x="619125" y="1543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Caregivers and candidates</a:t>
            </a:r>
          </a:p>
        </p:txBody>
      </p:sp>
      <p:sp>
        <p:nvSpPr>
          <p:cNvPr id="5" name="">
            <a:extLst xmlns:a="http://schemas.openxmlformats.org/drawingml/2006/main">
              <a:ext uri="{FF2B5EF4-FFF2-40B4-BE49-F238E27FC236}">
                <a16:creationId xmlns:a16="http://schemas.microsoft.com/office/drawing/2014/main" id="{DB0391E6-3236-4666-BF82-518219806F63}"/>
              </a:ext>
            </a:extLst>
          </p:cNvPr>
          <p:cNvSpPr>
            <a:spLocks xmlns:a="http://schemas.openxmlformats.org/drawingml/2006/main" noGrp="1"/>
          </p:cNvSpPr>
          <p:nvPr/>
        </p:nvSpPr>
        <p:spPr>
          <a:xfrm xmlns:a="http://schemas.openxmlformats.org/drawingml/2006/main">
            <a:off x="619125" y="19431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Manage profiles, disclosure choices, applications and joining decisions.</a:t>
            </a:r>
          </a:p>
        </p:txBody>
      </p:sp>
      <p:sp>
        <p:nvSpPr>
          <p:cNvPr id="6" name="">
            <a:extLst xmlns:a="http://schemas.openxmlformats.org/drawingml/2006/main">
              <a:ext uri="{FF2B5EF4-FFF2-40B4-BE49-F238E27FC236}">
                <a16:creationId xmlns:a16="http://schemas.microsoft.com/office/drawing/2014/main" id="{629776D6-2FEF-4DCC-8701-A1079B7DBB83}"/>
              </a:ext>
            </a:extLst>
          </p:cNvPr>
          <p:cNvSpPr>
            <a:spLocks xmlns:a="http://schemas.openxmlformats.org/drawingml/2006/main" noGrp="1"/>
          </p:cNvSpPr>
          <p:nvPr/>
        </p:nvSpPr>
        <p:spPr>
          <a:xfrm xmlns:a="http://schemas.openxmlformats.org/drawingml/2006/main">
            <a:off x="619125" y="26098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Agency teams</a:t>
            </a:r>
          </a:p>
        </p:txBody>
      </p:sp>
      <p:sp>
        <p:nvSpPr>
          <p:cNvPr id="7" name="">
            <a:extLst xmlns:a="http://schemas.openxmlformats.org/drawingml/2006/main">
              <a:ext uri="{FF2B5EF4-FFF2-40B4-BE49-F238E27FC236}">
                <a16:creationId xmlns:a16="http://schemas.microsoft.com/office/drawing/2014/main" id="{E2BA548C-DAA7-4EB6-930D-48A5C071E06A}"/>
              </a:ext>
            </a:extLst>
          </p:cNvPr>
          <p:cNvSpPr>
            <a:spLocks xmlns:a="http://schemas.openxmlformats.org/drawingml/2006/main" noGrp="1"/>
          </p:cNvSpPr>
          <p:nvPr/>
        </p:nvSpPr>
        <p:spPr>
          <a:xfrm xmlns:a="http://schemas.openxmlformats.org/drawingml/2006/main">
            <a:off x="619125" y="30099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Owners, recruiters, schedulers and supervisors coordinate work.</a:t>
            </a:r>
          </a:p>
        </p:txBody>
      </p:sp>
      <p:sp>
        <p:nvSpPr>
          <p:cNvPr id="8" name="">
            <a:extLst xmlns:a="http://schemas.openxmlformats.org/drawingml/2006/main">
              <a:ext uri="{FF2B5EF4-FFF2-40B4-BE49-F238E27FC236}">
                <a16:creationId xmlns:a16="http://schemas.microsoft.com/office/drawing/2014/main" id="{D749595B-61AF-4AA5-9466-97BF4E30B5BF}"/>
              </a:ext>
            </a:extLst>
          </p:cNvPr>
          <p:cNvSpPr>
            <a:spLocks xmlns:a="http://schemas.openxmlformats.org/drawingml/2006/main" noGrp="1"/>
          </p:cNvSpPr>
          <p:nvPr/>
        </p:nvSpPr>
        <p:spPr>
          <a:xfrm xmlns:a="http://schemas.openxmlformats.org/drawingml/2006/main">
            <a:off x="619125" y="3676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Finance staff</a:t>
            </a:r>
          </a:p>
        </p:txBody>
      </p:sp>
      <p:sp>
        <p:nvSpPr>
          <p:cNvPr id="9" name="">
            <a:extLst xmlns:a="http://schemas.openxmlformats.org/drawingml/2006/main">
              <a:ext uri="{FF2B5EF4-FFF2-40B4-BE49-F238E27FC236}">
                <a16:creationId xmlns:a16="http://schemas.microsoft.com/office/drawing/2014/main" id="{24040B62-B5D7-4621-89E9-A34FEA13CE3F}"/>
              </a:ext>
            </a:extLst>
          </p:cNvPr>
          <p:cNvSpPr>
            <a:spLocks xmlns:a="http://schemas.openxmlformats.org/drawingml/2006/main" noGrp="1"/>
          </p:cNvSpPr>
          <p:nvPr/>
        </p:nvSpPr>
        <p:spPr>
          <a:xfrm xmlns:a="http://schemas.openxmlformats.org/drawingml/2006/main">
            <a:off x="619125" y="40767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Review expenses, worked-time exports, invoices and receipts.</a:t>
            </a:r>
          </a:p>
        </p:txBody>
      </p:sp>
      <p:sp>
        <p:nvSpPr>
          <p:cNvPr id="10" name="">
            <a:extLst xmlns:a="http://schemas.openxmlformats.org/drawingml/2006/main">
              <a:ext uri="{FF2B5EF4-FFF2-40B4-BE49-F238E27FC236}">
                <a16:creationId xmlns:a16="http://schemas.microsoft.com/office/drawing/2014/main" id="{B4133A5D-ACDC-4A91-B033-ABB67DF1F533}"/>
              </a:ext>
            </a:extLst>
          </p:cNvPr>
          <p:cNvSpPr>
            <a:spLocks xmlns:a="http://schemas.openxmlformats.org/drawingml/2006/main" noGrp="1"/>
          </p:cNvSpPr>
          <p:nvPr/>
        </p:nvSpPr>
        <p:spPr>
          <a:xfrm xmlns:a="http://schemas.openxmlformats.org/drawingml/2006/main">
            <a:off x="619125" y="4743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Platform operators</a:t>
            </a:r>
          </a:p>
        </p:txBody>
      </p:sp>
      <p:sp>
        <p:nvSpPr>
          <p:cNvPr id="11" name="">
            <a:extLst xmlns:a="http://schemas.openxmlformats.org/drawingml/2006/main">
              <a:ext uri="{FF2B5EF4-FFF2-40B4-BE49-F238E27FC236}">
                <a16:creationId xmlns:a16="http://schemas.microsoft.com/office/drawing/2014/main" id="{1BEB916B-F601-43A5-A9B9-31986B85B4E7}"/>
              </a:ext>
            </a:extLst>
          </p:cNvPr>
          <p:cNvSpPr>
            <a:spLocks xmlns:a="http://schemas.openxmlformats.org/drawingml/2006/main" noGrp="1"/>
          </p:cNvSpPr>
          <p:nvPr/>
        </p:nvSpPr>
        <p:spPr>
          <a:xfrm xmlns:a="http://schemas.openxmlformats.org/drawingml/2006/main">
            <a:off x="619125" y="51435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Review agency verification and platform-level exceptions.</a:t>
            </a:r>
          </a:p>
        </p:txBody>
      </p:sp>
    </p:spTree>
    <p:extLst>
      <p:ext uri="{BB962C8B-B14F-4D97-AF65-F5344CB8AC3E}">
        <p14:creationId xmlns:p14="http://schemas.microsoft.com/office/powerpoint/2010/main" val="401687329"/>
      </p:ext>
    </p:extLst>
  </p:cSld>
</p:sld>
</file>

<file path=ppt/slides/slide4.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A773F8E-8B13-4FA0-A4D2-230DFDAA0689}"/>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The care workforce journey</a:t>
            </a:r>
          </a:p>
        </p:txBody>
      </p:sp>
      <p:sp>
        <p:nvSpPr>
          <p:cNvPr id="2" name="">
            <a:extLst xmlns:a="http://schemas.openxmlformats.org/drawingml/2006/main">
              <a:ext uri="{FF2B5EF4-FFF2-40B4-BE49-F238E27FC236}">
                <a16:creationId xmlns:a16="http://schemas.microsoft.com/office/drawing/2014/main" id="{21AD1E69-CEDF-40C1-AD47-E2201CE8CDE9}"/>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E0528D73-86B2-4736-8519-33A150AF8053}"/>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04</a:t>
            </a:r>
          </a:p>
        </p:txBody>
      </p:sp>
      <p:sp>
        <p:nvSpPr>
          <p:cNvPr id="4" name="">
            <a:extLst xmlns:a="http://schemas.openxmlformats.org/drawingml/2006/main">
              <a:ext uri="{FF2B5EF4-FFF2-40B4-BE49-F238E27FC236}">
                <a16:creationId xmlns:a16="http://schemas.microsoft.com/office/drawing/2014/main" id="{9717E9F2-4228-49BC-97BB-D4685B838EA7}"/>
              </a:ext>
            </a:extLst>
          </p:cNvPr>
          <p:cNvSpPr>
            <a:spLocks xmlns:a="http://schemas.openxmlformats.org/drawingml/2006/main" noGrp="1"/>
          </p:cNvSpPr>
          <p:nvPr/>
        </p:nvSpPr>
        <p:spPr>
          <a:xfrm xmlns:a="http://schemas.openxmlformats.org/drawingml/2006/main">
            <a:off x="619125" y="14763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01   Profile and discovery</a:t>
            </a:r>
          </a:p>
        </p:txBody>
      </p:sp>
      <p:sp>
        <p:nvSpPr>
          <p:cNvPr id="5" name="">
            <a:extLst xmlns:a="http://schemas.openxmlformats.org/drawingml/2006/main">
              <a:ext uri="{FF2B5EF4-FFF2-40B4-BE49-F238E27FC236}">
                <a16:creationId xmlns:a16="http://schemas.microsoft.com/office/drawing/2014/main" id="{32D66749-22DE-41EE-9531-40085F5EB2E0}"/>
              </a:ext>
            </a:extLst>
          </p:cNvPr>
          <p:cNvSpPr>
            <a:spLocks xmlns:a="http://schemas.openxmlformats.org/drawingml/2006/main" noGrp="1"/>
          </p:cNvSpPr>
          <p:nvPr/>
        </p:nvSpPr>
        <p:spPr>
          <a:xfrm xmlns:a="http://schemas.openxmlformats.org/drawingml/2006/main">
            <a:off x="619125" y="187642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The person chooses what recruiters can see.</a:t>
            </a:r>
          </a:p>
        </p:txBody>
      </p:sp>
      <p:sp>
        <p:nvSpPr>
          <p:cNvPr id="6" name="">
            <a:extLst xmlns:a="http://schemas.openxmlformats.org/drawingml/2006/main">
              <a:ext uri="{FF2B5EF4-FFF2-40B4-BE49-F238E27FC236}">
                <a16:creationId xmlns:a16="http://schemas.microsoft.com/office/drawing/2014/main" id="{B5DFC778-9115-408A-B0AA-C72DA35B4DAB}"/>
              </a:ext>
            </a:extLst>
          </p:cNvPr>
          <p:cNvSpPr>
            <a:spLocks xmlns:a="http://schemas.openxmlformats.org/drawingml/2006/main" noGrp="1"/>
          </p:cNvSpPr>
          <p:nvPr/>
        </p:nvSpPr>
        <p:spPr>
          <a:xfrm xmlns:a="http://schemas.openxmlformats.org/drawingml/2006/main">
            <a:off x="619125" y="26003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02   Application and history</a:t>
            </a:r>
          </a:p>
        </p:txBody>
      </p:sp>
      <p:sp>
        <p:nvSpPr>
          <p:cNvPr id="7" name="">
            <a:extLst xmlns:a="http://schemas.openxmlformats.org/drawingml/2006/main">
              <a:ext uri="{FF2B5EF4-FFF2-40B4-BE49-F238E27FC236}">
                <a16:creationId xmlns:a16="http://schemas.microsoft.com/office/drawing/2014/main" id="{A1760BB7-35DB-4C98-BCBC-EDA5B8A79506}"/>
              </a:ext>
            </a:extLst>
          </p:cNvPr>
          <p:cNvSpPr>
            <a:spLocks xmlns:a="http://schemas.openxmlformats.org/drawingml/2006/main" noGrp="1"/>
          </p:cNvSpPr>
          <p:nvPr/>
        </p:nvSpPr>
        <p:spPr>
          <a:xfrm xmlns:a="http://schemas.openxmlformats.org/drawingml/2006/main">
            <a:off x="619125" y="30003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An agency recruits; the candidate controls selected history disclosure.</a:t>
            </a:r>
          </a:p>
        </p:txBody>
      </p:sp>
      <p:sp>
        <p:nvSpPr>
          <p:cNvPr id="8" name="">
            <a:extLst xmlns:a="http://schemas.openxmlformats.org/drawingml/2006/main">
              <a:ext uri="{FF2B5EF4-FFF2-40B4-BE49-F238E27FC236}">
                <a16:creationId xmlns:a16="http://schemas.microsoft.com/office/drawing/2014/main" id="{78907140-44D8-4757-8B38-E9BE2DC0BDE7}"/>
              </a:ext>
            </a:extLst>
          </p:cNvPr>
          <p:cNvSpPr>
            <a:spLocks xmlns:a="http://schemas.openxmlformats.org/drawingml/2006/main" noGrp="1"/>
          </p:cNvSpPr>
          <p:nvPr/>
        </p:nvSpPr>
        <p:spPr>
          <a:xfrm xmlns:a="http://schemas.openxmlformats.org/drawingml/2006/main">
            <a:off x="619125" y="37242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03   Agreement and joining</a:t>
            </a:r>
          </a:p>
        </p:txBody>
      </p:sp>
      <p:sp>
        <p:nvSpPr>
          <p:cNvPr id="9" name="">
            <a:extLst xmlns:a="http://schemas.openxmlformats.org/drawingml/2006/main">
              <a:ext uri="{FF2B5EF4-FFF2-40B4-BE49-F238E27FC236}">
                <a16:creationId xmlns:a16="http://schemas.microsoft.com/office/drawing/2014/main" id="{5FD921BA-B852-4020-8891-F8BC81576412}"/>
              </a:ext>
            </a:extLst>
          </p:cNvPr>
          <p:cNvSpPr>
            <a:spLocks xmlns:a="http://schemas.openxmlformats.org/drawingml/2006/main" noGrp="1"/>
          </p:cNvSpPr>
          <p:nvPr/>
        </p:nvSpPr>
        <p:spPr>
          <a:xfrm xmlns:a="http://schemas.openxmlformats.org/drawingml/2006/main">
            <a:off x="619125" y="412432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Both parties accept a contract version; the person separately authorizes joining.</a:t>
            </a:r>
          </a:p>
        </p:txBody>
      </p:sp>
      <p:sp>
        <p:nvSpPr>
          <p:cNvPr id="10" name="">
            <a:extLst xmlns:a="http://schemas.openxmlformats.org/drawingml/2006/main">
              <a:ext uri="{FF2B5EF4-FFF2-40B4-BE49-F238E27FC236}">
                <a16:creationId xmlns:a16="http://schemas.microsoft.com/office/drawing/2014/main" id="{901BD76B-4211-4647-9F1D-75DBB495318C}"/>
              </a:ext>
            </a:extLst>
          </p:cNvPr>
          <p:cNvSpPr>
            <a:spLocks xmlns:a="http://schemas.openxmlformats.org/drawingml/2006/main" noGrp="1"/>
          </p:cNvSpPr>
          <p:nvPr/>
        </p:nvSpPr>
        <p:spPr>
          <a:xfrm xmlns:a="http://schemas.openxmlformats.org/drawingml/2006/main">
            <a:off x="619125" y="4848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04   Work and review</a:t>
            </a:r>
          </a:p>
        </p:txBody>
      </p:sp>
      <p:sp>
        <p:nvSpPr>
          <p:cNvPr id="11" name="">
            <a:extLst xmlns:a="http://schemas.openxmlformats.org/drawingml/2006/main">
              <a:ext uri="{FF2B5EF4-FFF2-40B4-BE49-F238E27FC236}">
                <a16:creationId xmlns:a16="http://schemas.microsoft.com/office/drawing/2014/main" id="{30D7D24F-4819-4F2F-BC0B-020886B7E158}"/>
              </a:ext>
            </a:extLst>
          </p:cNvPr>
          <p:cNvSpPr>
            <a:spLocks xmlns:a="http://schemas.openxmlformats.org/drawingml/2006/main" noGrp="1"/>
          </p:cNvSpPr>
          <p:nvPr/>
        </p:nvSpPr>
        <p:spPr>
          <a:xfrm xmlns:a="http://schemas.openxmlformats.org/drawingml/2006/main">
            <a:off x="619125" y="52482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The agency schedules visits, reviews time and records operational outcomes.</a:t>
            </a:r>
          </a:p>
        </p:txBody>
      </p:sp>
    </p:spTree>
    <p:extLst>
      <p:ext uri="{BB962C8B-B14F-4D97-AF65-F5344CB8AC3E}">
        <p14:creationId xmlns:p14="http://schemas.microsoft.com/office/powerpoint/2010/main" val="1131401233"/>
      </p:ext>
    </p:extLst>
  </p:cSld>
</p:sld>
</file>

<file path=ppt/slides/slide5.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BA3D7A-90F1-428E-BD9E-049CD3DDA29C}"/>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Agency overview</a:t>
            </a:r>
          </a:p>
        </p:txBody>
      </p:sp>
      <p:sp>
        <p:nvSpPr>
          <p:cNvPr id="2" name="">
            <a:extLst xmlns:a="http://schemas.openxmlformats.org/drawingml/2006/main">
              <a:ext uri="{FF2B5EF4-FFF2-40B4-BE49-F238E27FC236}">
                <a16:creationId xmlns:a16="http://schemas.microsoft.com/office/drawing/2014/main" id="{31074E35-0099-43F0-B626-A62965B277D2}"/>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620E789D-4222-43D4-918C-865E9F475770}"/>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05</a:t>
            </a:r>
          </a:p>
        </p:txBody>
      </p:sp>
      <p:sp>
        <p:nvSpPr>
          <p:cNvPr id="4" name="">
            <a:extLst xmlns:a="http://schemas.openxmlformats.org/drawingml/2006/main">
              <a:ext uri="{FF2B5EF4-FFF2-40B4-BE49-F238E27FC236}">
                <a16:creationId xmlns:a16="http://schemas.microsoft.com/office/drawing/2014/main" id="{E947723B-DFD2-4CD7-9186-AF0DB4A68CB3}"/>
              </a:ext>
            </a:extLst>
          </p:cNvPr>
          <p:cNvSpPr>
            <a:spLocks xmlns:a="http://schemas.openxmlformats.org/drawingml/2006/main" noGrp="1"/>
          </p:cNvSpPr>
          <p:nvPr/>
        </p:nvSpPr>
        <p:spPr>
          <a:xfrm xmlns:a="http://schemas.openxmlformats.org/drawingml/2006/main">
            <a:off x="571500" y="17145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One workspace</a:t>
            </a:r>
          </a:p>
        </p:txBody>
      </p:sp>
      <p:sp>
        <p:nvSpPr>
          <p:cNvPr id="5" name="">
            <a:extLst xmlns:a="http://schemas.openxmlformats.org/drawingml/2006/main">
              <a:ext uri="{FF2B5EF4-FFF2-40B4-BE49-F238E27FC236}">
                <a16:creationId xmlns:a16="http://schemas.microsoft.com/office/drawing/2014/main" id="{672BECC2-5CFF-4C29-90EB-76BCE53BA0DB}"/>
              </a:ext>
            </a:extLst>
          </p:cNvPr>
          <p:cNvSpPr>
            <a:spLocks xmlns:a="http://schemas.openxmlformats.org/drawingml/2006/main" noGrp="1"/>
          </p:cNvSpPr>
          <p:nvPr/>
        </p:nvSpPr>
        <p:spPr>
          <a:xfrm xmlns:a="http://schemas.openxmlformats.org/drawingml/2006/main">
            <a:off x="571500" y="21145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An agency sees its own records and permitted modules.</a:t>
            </a:r>
          </a:p>
        </p:txBody>
      </p:sp>
      <p:sp>
        <p:nvSpPr>
          <p:cNvPr id="6" name="">
            <a:extLst xmlns:a="http://schemas.openxmlformats.org/drawingml/2006/main">
              <a:ext uri="{FF2B5EF4-FFF2-40B4-BE49-F238E27FC236}">
                <a16:creationId xmlns:a16="http://schemas.microsoft.com/office/drawing/2014/main" id="{DCE9835B-070A-47F2-8547-01C430866171}"/>
              </a:ext>
            </a:extLst>
          </p:cNvPr>
          <p:cNvSpPr>
            <a:spLocks xmlns:a="http://schemas.openxmlformats.org/drawingml/2006/main" noGrp="1"/>
          </p:cNvSpPr>
          <p:nvPr/>
        </p:nvSpPr>
        <p:spPr>
          <a:xfrm xmlns:a="http://schemas.openxmlformats.org/drawingml/2006/main">
            <a:off x="571500" y="2971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Work awaiting review</a:t>
            </a:r>
          </a:p>
        </p:txBody>
      </p:sp>
      <p:sp>
        <p:nvSpPr>
          <p:cNvPr id="7" name="">
            <a:extLst xmlns:a="http://schemas.openxmlformats.org/drawingml/2006/main">
              <a:ext uri="{FF2B5EF4-FFF2-40B4-BE49-F238E27FC236}">
                <a16:creationId xmlns:a16="http://schemas.microsoft.com/office/drawing/2014/main" id="{4A566046-E95B-4C95-AE7D-C697C69CDB9B}"/>
              </a:ext>
            </a:extLst>
          </p:cNvPr>
          <p:cNvSpPr>
            <a:spLocks xmlns:a="http://schemas.openxmlformats.org/drawingml/2006/main" noGrp="1"/>
          </p:cNvSpPr>
          <p:nvPr/>
        </p:nvSpPr>
        <p:spPr>
          <a:xfrm xmlns:a="http://schemas.openxmlformats.org/drawingml/2006/main">
            <a:off x="571500" y="33718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The overview highlights applications, time and leave.</a:t>
            </a:r>
          </a:p>
        </p:txBody>
      </p:sp>
      <p:sp>
        <p:nvSpPr>
          <p:cNvPr id="8" name="">
            <a:extLst xmlns:a="http://schemas.openxmlformats.org/drawingml/2006/main">
              <a:ext uri="{FF2B5EF4-FFF2-40B4-BE49-F238E27FC236}">
                <a16:creationId xmlns:a16="http://schemas.microsoft.com/office/drawing/2014/main" id="{D6EC9F12-DB06-406F-950A-58979C8D8FA2}"/>
              </a:ext>
            </a:extLst>
          </p:cNvPr>
          <p:cNvSpPr>
            <a:spLocks xmlns:a="http://schemas.openxmlformats.org/drawingml/2006/main" noGrp="1"/>
          </p:cNvSpPr>
          <p:nvPr/>
        </p:nvSpPr>
        <p:spPr>
          <a:xfrm xmlns:a="http://schemas.openxmlformats.org/drawingml/2006/main">
            <a:off x="571500" y="4229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Role-based access</a:t>
            </a:r>
          </a:p>
        </p:txBody>
      </p:sp>
      <p:sp>
        <p:nvSpPr>
          <p:cNvPr id="9" name="">
            <a:extLst xmlns:a="http://schemas.openxmlformats.org/drawingml/2006/main">
              <a:ext uri="{FF2B5EF4-FFF2-40B4-BE49-F238E27FC236}">
                <a16:creationId xmlns:a16="http://schemas.microsoft.com/office/drawing/2014/main" id="{AD23C163-7E32-4C2E-A23C-B78BAC393218}"/>
              </a:ext>
            </a:extLst>
          </p:cNvPr>
          <p:cNvSpPr>
            <a:spLocks xmlns:a="http://schemas.openxmlformats.org/drawingml/2006/main" noGrp="1"/>
          </p:cNvSpPr>
          <p:nvPr/>
        </p:nvSpPr>
        <p:spPr>
          <a:xfrm xmlns:a="http://schemas.openxmlformats.org/drawingml/2006/main">
            <a:off x="571500" y="46291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Each team member receives permissions for their responsibilities.</a:t>
            </a:r>
          </a:p>
        </p:txBody>
      </p:sp>
      <p:pic>
        <p:nvPicPr>
          <p:cNvPr id="10" name="">
            <a:extLst xmlns:a="http://schemas.openxmlformats.org/drawingml/2006/main">
              <a:ext uri="{FF2B5EF4-FFF2-40B4-BE49-F238E27FC236}">
                <a16:creationId xmlns:a16="http://schemas.microsoft.com/office/drawing/2014/main" id="{B06C78DE-6CDA-4DEC-9F8A-E82B3F78A583}"/>
              </a:ext>
            </a:extLst>
          </p:cNvPr>
          <p:cNvPicPr>
            <a:picLocks xmlns:a="http://schemas.openxmlformats.org/drawingml/2006/main" noChangeAspect="1"/>
          </p:cNvPicPr>
          <p:nvPr/>
        </p:nvPicPr>
        <p:blipFill>
          <a:blip xmlns:r="http://schemas.openxmlformats.org/officeDocument/2006/relationships" xmlns:a="http://schemas.openxmlformats.org/drawingml/2006/main" r:embed="R385f7ef3abef4eba"/>
          <a:stretch xmlns:a="http://schemas.openxmlformats.org/drawingml/2006/main"/>
        </p:blipFill>
        <p:spPr>
          <a:xfrm xmlns:a="http://schemas.openxmlformats.org/drawingml/2006/main">
            <a:off x="4179094" y="1381125"/>
            <a:ext cx="7215188" cy="4810125"/>
          </a:xfrm>
          <a:prstGeom xmlns:a="http://schemas.openxmlformats.org/drawingml/2006/main" prst="rect">
            <a:avLst/>
          </a:prstGeom>
        </p:spPr>
      </p:pic>
    </p:spTree>
    <p:extLst>
      <p:ext uri="{BB962C8B-B14F-4D97-AF65-F5344CB8AC3E}">
        <p14:creationId xmlns:p14="http://schemas.microsoft.com/office/powerpoint/2010/main" val="1328092214"/>
      </p:ext>
    </p:extLst>
  </p:cSld>
</p:sld>
</file>

<file path=ppt/slides/slide6.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9D9053B-AD37-4A92-922E-5F76E70CCBDC}"/>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Profiles with guided forms</a:t>
            </a:r>
          </a:p>
        </p:txBody>
      </p:sp>
      <p:sp>
        <p:nvSpPr>
          <p:cNvPr id="2" name="">
            <a:extLst xmlns:a="http://schemas.openxmlformats.org/drawingml/2006/main">
              <a:ext uri="{FF2B5EF4-FFF2-40B4-BE49-F238E27FC236}">
                <a16:creationId xmlns:a16="http://schemas.microsoft.com/office/drawing/2014/main" id="{80798063-DB03-4AC2-8691-E8C270C8F0A1}"/>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39735EEA-49F0-4A69-96FF-9543BCECD026}"/>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06</a:t>
            </a:r>
          </a:p>
        </p:txBody>
      </p:sp>
      <p:sp>
        <p:nvSpPr>
          <p:cNvPr id="4" name="">
            <a:extLst xmlns:a="http://schemas.openxmlformats.org/drawingml/2006/main">
              <a:ext uri="{FF2B5EF4-FFF2-40B4-BE49-F238E27FC236}">
                <a16:creationId xmlns:a16="http://schemas.microsoft.com/office/drawing/2014/main" id="{66C9711F-CED6-429E-8AA3-93E75E14AE8C}"/>
              </a:ext>
            </a:extLst>
          </p:cNvPr>
          <p:cNvSpPr>
            <a:spLocks xmlns:a="http://schemas.openxmlformats.org/drawingml/2006/main" noGrp="1"/>
          </p:cNvSpPr>
          <p:nvPr/>
        </p:nvSpPr>
        <p:spPr>
          <a:xfrm xmlns:a="http://schemas.openxmlformats.org/drawingml/2006/main">
            <a:off x="571500" y="17145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Standard choices</a:t>
            </a:r>
          </a:p>
        </p:txBody>
      </p:sp>
      <p:sp>
        <p:nvSpPr>
          <p:cNvPr id="5" name="">
            <a:extLst xmlns:a="http://schemas.openxmlformats.org/drawingml/2006/main">
              <a:ext uri="{FF2B5EF4-FFF2-40B4-BE49-F238E27FC236}">
                <a16:creationId xmlns:a16="http://schemas.microsoft.com/office/drawing/2014/main" id="{A101FA41-DB00-4D68-8984-6FEA1CE1F056}"/>
              </a:ext>
            </a:extLst>
          </p:cNvPr>
          <p:cNvSpPr>
            <a:spLocks xmlns:a="http://schemas.openxmlformats.org/drawingml/2006/main" noGrp="1"/>
          </p:cNvSpPr>
          <p:nvPr/>
        </p:nvSpPr>
        <p:spPr>
          <a:xfrm xmlns:a="http://schemas.openxmlformats.org/drawingml/2006/main">
            <a:off x="571500" y="21145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Roles, skills, qualifications, languages and care settings.</a:t>
            </a:r>
          </a:p>
        </p:txBody>
      </p:sp>
      <p:sp>
        <p:nvSpPr>
          <p:cNvPr id="6" name="">
            <a:extLst xmlns:a="http://schemas.openxmlformats.org/drawingml/2006/main">
              <a:ext uri="{FF2B5EF4-FFF2-40B4-BE49-F238E27FC236}">
                <a16:creationId xmlns:a16="http://schemas.microsoft.com/office/drawing/2014/main" id="{20DBAC9F-7EE3-4924-A351-27500A75F579}"/>
              </a:ext>
            </a:extLst>
          </p:cNvPr>
          <p:cNvSpPr>
            <a:spLocks xmlns:a="http://schemas.openxmlformats.org/drawingml/2006/main" noGrp="1"/>
          </p:cNvSpPr>
          <p:nvPr/>
        </p:nvSpPr>
        <p:spPr>
          <a:xfrm xmlns:a="http://schemas.openxmlformats.org/drawingml/2006/main">
            <a:off x="571500" y="2971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Flexible entries</a:t>
            </a:r>
          </a:p>
        </p:txBody>
      </p:sp>
      <p:sp>
        <p:nvSpPr>
          <p:cNvPr id="7" name="">
            <a:extLst xmlns:a="http://schemas.openxmlformats.org/drawingml/2006/main">
              <a:ext uri="{FF2B5EF4-FFF2-40B4-BE49-F238E27FC236}">
                <a16:creationId xmlns:a16="http://schemas.microsoft.com/office/drawing/2014/main" id="{B82F5D5D-4EFD-4E9E-8CE8-5312F6D51F92}"/>
              </a:ext>
            </a:extLst>
          </p:cNvPr>
          <p:cNvSpPr>
            <a:spLocks xmlns:a="http://schemas.openxmlformats.org/drawingml/2006/main" noGrp="1"/>
          </p:cNvSpPr>
          <p:nvPr/>
        </p:nvSpPr>
        <p:spPr>
          <a:xfrm xmlns:a="http://schemas.openxmlformats.org/drawingml/2006/main">
            <a:off x="571500" y="33718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Custom text remains available when a choice does not fit.</a:t>
            </a:r>
          </a:p>
        </p:txBody>
      </p:sp>
      <p:sp>
        <p:nvSpPr>
          <p:cNvPr id="8" name="">
            <a:extLst xmlns:a="http://schemas.openxmlformats.org/drawingml/2006/main">
              <a:ext uri="{FF2B5EF4-FFF2-40B4-BE49-F238E27FC236}">
                <a16:creationId xmlns:a16="http://schemas.microsoft.com/office/drawing/2014/main" id="{CDF4905B-613D-4D8D-A570-487C857B4034}"/>
              </a:ext>
            </a:extLst>
          </p:cNvPr>
          <p:cNvSpPr>
            <a:spLocks xmlns:a="http://schemas.openxmlformats.org/drawingml/2006/main" noGrp="1"/>
          </p:cNvSpPr>
          <p:nvPr/>
        </p:nvSpPr>
        <p:spPr>
          <a:xfrm xmlns:a="http://schemas.openxmlformats.org/drawingml/2006/main">
            <a:off x="571500" y="4229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Location selection</a:t>
            </a:r>
          </a:p>
        </p:txBody>
      </p:sp>
      <p:sp>
        <p:nvSpPr>
          <p:cNvPr id="9" name="">
            <a:extLst xmlns:a="http://schemas.openxmlformats.org/drawingml/2006/main">
              <a:ext uri="{FF2B5EF4-FFF2-40B4-BE49-F238E27FC236}">
                <a16:creationId xmlns:a16="http://schemas.microsoft.com/office/drawing/2014/main" id="{5722C607-6294-4E61-AB99-A9A7095AC62D}"/>
              </a:ext>
            </a:extLst>
          </p:cNvPr>
          <p:cNvSpPr>
            <a:spLocks xmlns:a="http://schemas.openxmlformats.org/drawingml/2006/main" noGrp="1"/>
          </p:cNvSpPr>
          <p:nvPr/>
        </p:nvSpPr>
        <p:spPr>
          <a:xfrm xmlns:a="http://schemas.openxmlformats.org/drawingml/2006/main">
            <a:off x="571500" y="46291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Country, state, county and city replace manual code entry.</a:t>
            </a:r>
          </a:p>
        </p:txBody>
      </p:sp>
      <p:pic>
        <p:nvPicPr>
          <p:cNvPr id="10" name="">
            <a:extLst xmlns:a="http://schemas.openxmlformats.org/drawingml/2006/main">
              <a:ext uri="{FF2B5EF4-FFF2-40B4-BE49-F238E27FC236}">
                <a16:creationId xmlns:a16="http://schemas.microsoft.com/office/drawing/2014/main" id="{EE36DC08-DD4A-466E-88AD-9FBC98713267}"/>
              </a:ext>
            </a:extLst>
          </p:cNvPr>
          <p:cNvPicPr>
            <a:picLocks xmlns:a="http://schemas.openxmlformats.org/drawingml/2006/main" noChangeAspect="1"/>
          </p:cNvPicPr>
          <p:nvPr/>
        </p:nvPicPr>
        <p:blipFill>
          <a:blip xmlns:r="http://schemas.openxmlformats.org/officeDocument/2006/relationships" xmlns:a="http://schemas.openxmlformats.org/drawingml/2006/main" r:embed="R6b95f2ffd05b419d"/>
          <a:stretch xmlns:a="http://schemas.openxmlformats.org/drawingml/2006/main"/>
        </p:blipFill>
        <p:spPr>
          <a:xfrm xmlns:a="http://schemas.openxmlformats.org/drawingml/2006/main">
            <a:off x="4488316" y="1381125"/>
            <a:ext cx="6596743" cy="4810125"/>
          </a:xfrm>
          <a:prstGeom xmlns:a="http://schemas.openxmlformats.org/drawingml/2006/main" prst="rect">
            <a:avLst/>
          </a:prstGeom>
        </p:spPr>
      </p:pic>
    </p:spTree>
    <p:extLst>
      <p:ext uri="{BB962C8B-B14F-4D97-AF65-F5344CB8AC3E}">
        <p14:creationId xmlns:p14="http://schemas.microsoft.com/office/powerpoint/2010/main" val="1449968819"/>
      </p:ext>
    </p:extLst>
  </p:cSld>
</p:sld>
</file>

<file path=ppt/slides/slide7.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B4DCC9-8812-4294-8BBA-E1D023948057}"/>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Help when a field is unclear</a:t>
            </a:r>
          </a:p>
        </p:txBody>
      </p:sp>
      <p:sp>
        <p:nvSpPr>
          <p:cNvPr id="2" name="">
            <a:extLst xmlns:a="http://schemas.openxmlformats.org/drawingml/2006/main">
              <a:ext uri="{FF2B5EF4-FFF2-40B4-BE49-F238E27FC236}">
                <a16:creationId xmlns:a16="http://schemas.microsoft.com/office/drawing/2014/main" id="{CDB46D04-0014-4FC9-A3C6-B7141D1E6E4D}"/>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946541F3-CC0D-4337-B539-7FEF2A66FDB2}"/>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07</a:t>
            </a:r>
          </a:p>
        </p:txBody>
      </p:sp>
      <p:sp>
        <p:nvSpPr>
          <p:cNvPr id="4" name="">
            <a:extLst xmlns:a="http://schemas.openxmlformats.org/drawingml/2006/main">
              <a:ext uri="{FF2B5EF4-FFF2-40B4-BE49-F238E27FC236}">
                <a16:creationId xmlns:a16="http://schemas.microsoft.com/office/drawing/2014/main" id="{68D6705E-73FE-44C5-9EF0-675EDBD32113}"/>
              </a:ext>
            </a:extLst>
          </p:cNvPr>
          <p:cNvSpPr>
            <a:spLocks xmlns:a="http://schemas.openxmlformats.org/drawingml/2006/main" noGrp="1"/>
          </p:cNvSpPr>
          <p:nvPr/>
        </p:nvSpPr>
        <p:spPr>
          <a:xfrm xmlns:a="http://schemas.openxmlformats.org/drawingml/2006/main">
            <a:off x="571500" y="17145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Brief explanations</a:t>
            </a:r>
          </a:p>
        </p:txBody>
      </p:sp>
      <p:sp>
        <p:nvSpPr>
          <p:cNvPr id="5" name="">
            <a:extLst xmlns:a="http://schemas.openxmlformats.org/drawingml/2006/main">
              <a:ext uri="{FF2B5EF4-FFF2-40B4-BE49-F238E27FC236}">
                <a16:creationId xmlns:a16="http://schemas.microsoft.com/office/drawing/2014/main" id="{9043586B-765A-4912-9F61-C0B12B5E048D}"/>
              </a:ext>
            </a:extLst>
          </p:cNvPr>
          <p:cNvSpPr>
            <a:spLocks xmlns:a="http://schemas.openxmlformats.org/drawingml/2006/main" noGrp="1"/>
          </p:cNvSpPr>
          <p:nvPr/>
        </p:nvSpPr>
        <p:spPr>
          <a:xfrm xmlns:a="http://schemas.openxmlformats.org/drawingml/2006/main">
            <a:off x="571500" y="21145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Small question marks explain what the field means.</a:t>
            </a:r>
          </a:p>
        </p:txBody>
      </p:sp>
      <p:sp>
        <p:nvSpPr>
          <p:cNvPr id="6" name="">
            <a:extLst xmlns:a="http://schemas.openxmlformats.org/drawingml/2006/main">
              <a:ext uri="{FF2B5EF4-FFF2-40B4-BE49-F238E27FC236}">
                <a16:creationId xmlns:a16="http://schemas.microsoft.com/office/drawing/2014/main" id="{797AE7FD-47F4-4861-96BC-441FC20E70AE}"/>
              </a:ext>
            </a:extLst>
          </p:cNvPr>
          <p:cNvSpPr>
            <a:spLocks xmlns:a="http://schemas.openxmlformats.org/drawingml/2006/main" noGrp="1"/>
          </p:cNvSpPr>
          <p:nvPr/>
        </p:nvSpPr>
        <p:spPr>
          <a:xfrm xmlns:a="http://schemas.openxmlformats.org/drawingml/2006/main">
            <a:off x="571500" y="2971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Examples</a:t>
            </a:r>
          </a:p>
        </p:txBody>
      </p:sp>
      <p:sp>
        <p:nvSpPr>
          <p:cNvPr id="7" name="">
            <a:extLst xmlns:a="http://schemas.openxmlformats.org/drawingml/2006/main">
              <a:ext uri="{FF2B5EF4-FFF2-40B4-BE49-F238E27FC236}">
                <a16:creationId xmlns:a16="http://schemas.microsoft.com/office/drawing/2014/main" id="{F1FFAC67-2E5F-4B02-961B-18DB9BFB9151}"/>
              </a:ext>
            </a:extLst>
          </p:cNvPr>
          <p:cNvSpPr>
            <a:spLocks xmlns:a="http://schemas.openxmlformats.org/drawingml/2006/main" noGrp="1"/>
          </p:cNvSpPr>
          <p:nvPr/>
        </p:nvSpPr>
        <p:spPr>
          <a:xfrm xmlns:a="http://schemas.openxmlformats.org/drawingml/2006/main">
            <a:off x="571500" y="33718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Users can see examples before entering information.</a:t>
            </a:r>
          </a:p>
        </p:txBody>
      </p:sp>
      <p:sp>
        <p:nvSpPr>
          <p:cNvPr id="8" name="">
            <a:extLst xmlns:a="http://schemas.openxmlformats.org/drawingml/2006/main">
              <a:ext uri="{FF2B5EF4-FFF2-40B4-BE49-F238E27FC236}">
                <a16:creationId xmlns:a16="http://schemas.microsoft.com/office/drawing/2014/main" id="{309D425D-FCEA-432F-B5F6-6F7F90CA0257}"/>
              </a:ext>
            </a:extLst>
          </p:cNvPr>
          <p:cNvSpPr>
            <a:spLocks xmlns:a="http://schemas.openxmlformats.org/drawingml/2006/main" noGrp="1"/>
          </p:cNvSpPr>
          <p:nvPr/>
        </p:nvSpPr>
        <p:spPr>
          <a:xfrm xmlns:a="http://schemas.openxmlformats.org/drawingml/2006/main">
            <a:off x="571500" y="4229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Consistent forms</a:t>
            </a:r>
          </a:p>
        </p:txBody>
      </p:sp>
      <p:sp>
        <p:nvSpPr>
          <p:cNvPr id="9" name="">
            <a:extLst xmlns:a="http://schemas.openxmlformats.org/drawingml/2006/main">
              <a:ext uri="{FF2B5EF4-FFF2-40B4-BE49-F238E27FC236}">
                <a16:creationId xmlns:a16="http://schemas.microsoft.com/office/drawing/2014/main" id="{A8644C9A-CC8E-4F21-A216-FD365450C1E3}"/>
              </a:ext>
            </a:extLst>
          </p:cNvPr>
          <p:cNvSpPr>
            <a:spLocks xmlns:a="http://schemas.openxmlformats.org/drawingml/2006/main" noGrp="1"/>
          </p:cNvSpPr>
          <p:nvPr/>
        </p:nvSpPr>
        <p:spPr>
          <a:xfrm xmlns:a="http://schemas.openxmlformats.org/drawingml/2006/main">
            <a:off x="571500" y="46291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Shared controls support the other application forms.</a:t>
            </a:r>
          </a:p>
        </p:txBody>
      </p:sp>
      <p:pic>
        <p:nvPicPr>
          <p:cNvPr id="10" name="">
            <a:extLst xmlns:a="http://schemas.openxmlformats.org/drawingml/2006/main">
              <a:ext uri="{FF2B5EF4-FFF2-40B4-BE49-F238E27FC236}">
                <a16:creationId xmlns:a16="http://schemas.microsoft.com/office/drawing/2014/main" id="{928B1094-DD91-4BF2-8601-527CF3367045}"/>
              </a:ext>
            </a:extLst>
          </p:cNvPr>
          <p:cNvPicPr>
            <a:picLocks xmlns:a="http://schemas.openxmlformats.org/drawingml/2006/main" noChangeAspect="1"/>
          </p:cNvPicPr>
          <p:nvPr/>
        </p:nvPicPr>
        <p:blipFill>
          <a:blip xmlns:r="http://schemas.openxmlformats.org/officeDocument/2006/relationships" xmlns:a="http://schemas.openxmlformats.org/drawingml/2006/main" r:embed="R12ef9d3250e64fae"/>
          <a:stretch xmlns:a="http://schemas.openxmlformats.org/drawingml/2006/main"/>
        </p:blipFill>
        <p:spPr>
          <a:xfrm xmlns:a="http://schemas.openxmlformats.org/drawingml/2006/main">
            <a:off x="4488316" y="1381125"/>
            <a:ext cx="6596743" cy="4810125"/>
          </a:xfrm>
          <a:prstGeom xmlns:a="http://schemas.openxmlformats.org/drawingml/2006/main" prst="rect">
            <a:avLst/>
          </a:prstGeom>
        </p:spPr>
      </p:pic>
    </p:spTree>
    <p:extLst>
      <p:ext uri="{BB962C8B-B14F-4D97-AF65-F5344CB8AC3E}">
        <p14:creationId xmlns:p14="http://schemas.microsoft.com/office/powerpoint/2010/main" val="1015931467"/>
      </p:ext>
    </p:extLst>
  </p:cSld>
</p:sld>
</file>

<file path=ppt/slides/slide8.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8E7013-2E40-4920-A5CD-2E70E25D058C}"/>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Recruitment and discovery</a:t>
            </a:r>
          </a:p>
        </p:txBody>
      </p:sp>
      <p:sp>
        <p:nvSpPr>
          <p:cNvPr id="2" name="">
            <a:extLst xmlns:a="http://schemas.openxmlformats.org/drawingml/2006/main">
              <a:ext uri="{FF2B5EF4-FFF2-40B4-BE49-F238E27FC236}">
                <a16:creationId xmlns:a16="http://schemas.microsoft.com/office/drawing/2014/main" id="{EDD05C7D-DFF8-4E14-99DC-07FB8757E1D4}"/>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9D43C754-C766-43A5-8DD4-5125B43F2C50}"/>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08</a:t>
            </a:r>
          </a:p>
        </p:txBody>
      </p:sp>
      <p:sp>
        <p:nvSpPr>
          <p:cNvPr id="4" name="">
            <a:extLst xmlns:a="http://schemas.openxmlformats.org/drawingml/2006/main">
              <a:ext uri="{FF2B5EF4-FFF2-40B4-BE49-F238E27FC236}">
                <a16:creationId xmlns:a16="http://schemas.microsoft.com/office/drawing/2014/main" id="{0598C4E7-0DC2-4ADB-9C8D-8F6A4099E243}"/>
              </a:ext>
            </a:extLst>
          </p:cNvPr>
          <p:cNvSpPr>
            <a:spLocks xmlns:a="http://schemas.openxmlformats.org/drawingml/2006/main" noGrp="1"/>
          </p:cNvSpPr>
          <p:nvPr/>
        </p:nvSpPr>
        <p:spPr>
          <a:xfrm xmlns:a="http://schemas.openxmlformats.org/drawingml/2006/main">
            <a:off x="571500" y="17145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Purpose of search</a:t>
            </a:r>
          </a:p>
        </p:txBody>
      </p:sp>
      <p:sp>
        <p:nvSpPr>
          <p:cNvPr id="5" name="">
            <a:extLst xmlns:a="http://schemas.openxmlformats.org/drawingml/2006/main">
              <a:ext uri="{FF2B5EF4-FFF2-40B4-BE49-F238E27FC236}">
                <a16:creationId xmlns:a16="http://schemas.microsoft.com/office/drawing/2014/main" id="{6CECC68C-0D78-4300-A16B-CB530124FA15}"/>
              </a:ext>
            </a:extLst>
          </p:cNvPr>
          <p:cNvSpPr>
            <a:spLocks xmlns:a="http://schemas.openxmlformats.org/drawingml/2006/main" noGrp="1"/>
          </p:cNvSpPr>
          <p:nvPr/>
        </p:nvSpPr>
        <p:spPr>
          <a:xfrm xmlns:a="http://schemas.openxmlformats.org/drawingml/2006/main">
            <a:off x="571500" y="21145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Recruiters state why they are looking.</a:t>
            </a:r>
          </a:p>
        </p:txBody>
      </p:sp>
      <p:sp>
        <p:nvSpPr>
          <p:cNvPr id="6" name="">
            <a:extLst xmlns:a="http://schemas.openxmlformats.org/drawingml/2006/main">
              <a:ext uri="{FF2B5EF4-FFF2-40B4-BE49-F238E27FC236}">
                <a16:creationId xmlns:a16="http://schemas.microsoft.com/office/drawing/2014/main" id="{90F1D361-A011-49EA-BE14-4E6711540A5B}"/>
              </a:ext>
            </a:extLst>
          </p:cNvPr>
          <p:cNvSpPr>
            <a:spLocks xmlns:a="http://schemas.openxmlformats.org/drawingml/2006/main" noGrp="1"/>
          </p:cNvSpPr>
          <p:nvPr/>
        </p:nvSpPr>
        <p:spPr>
          <a:xfrm xmlns:a="http://schemas.openxmlformats.org/drawingml/2006/main">
            <a:off x="571500" y="2971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Approved summaries</a:t>
            </a:r>
          </a:p>
        </p:txBody>
      </p:sp>
      <p:sp>
        <p:nvSpPr>
          <p:cNvPr id="7" name="">
            <a:extLst xmlns:a="http://schemas.openxmlformats.org/drawingml/2006/main">
              <a:ext uri="{FF2B5EF4-FFF2-40B4-BE49-F238E27FC236}">
                <a16:creationId xmlns:a16="http://schemas.microsoft.com/office/drawing/2014/main" id="{DC01F726-DA0E-4C74-A54D-9E6926D4FA62}"/>
              </a:ext>
            </a:extLst>
          </p:cNvPr>
          <p:cNvSpPr>
            <a:spLocks xmlns:a="http://schemas.openxmlformats.org/drawingml/2006/main" noGrp="1"/>
          </p:cNvSpPr>
          <p:nvPr/>
        </p:nvSpPr>
        <p:spPr>
          <a:xfrm xmlns:a="http://schemas.openxmlformats.org/drawingml/2006/main">
            <a:off x="571500" y="33718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Search uses the profile projection the person approved.</a:t>
            </a:r>
          </a:p>
        </p:txBody>
      </p:sp>
      <p:sp>
        <p:nvSpPr>
          <p:cNvPr id="8" name="">
            <a:extLst xmlns:a="http://schemas.openxmlformats.org/drawingml/2006/main">
              <a:ext uri="{FF2B5EF4-FFF2-40B4-BE49-F238E27FC236}">
                <a16:creationId xmlns:a16="http://schemas.microsoft.com/office/drawing/2014/main" id="{9F2E2DD3-12AE-49D6-BF9E-1F1609A105B1}"/>
              </a:ext>
            </a:extLst>
          </p:cNvPr>
          <p:cNvSpPr>
            <a:spLocks xmlns:a="http://schemas.openxmlformats.org/drawingml/2006/main" noGrp="1"/>
          </p:cNvSpPr>
          <p:nvPr/>
        </p:nvSpPr>
        <p:spPr>
          <a:xfrm xmlns:a="http://schemas.openxmlformats.org/drawingml/2006/main">
            <a:off x="571500" y="4229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Candidate response</a:t>
            </a:r>
          </a:p>
        </p:txBody>
      </p:sp>
      <p:sp>
        <p:nvSpPr>
          <p:cNvPr id="9" name="">
            <a:extLst xmlns:a="http://schemas.openxmlformats.org/drawingml/2006/main">
              <a:ext uri="{FF2B5EF4-FFF2-40B4-BE49-F238E27FC236}">
                <a16:creationId xmlns:a16="http://schemas.microsoft.com/office/drawing/2014/main" id="{7B072C20-C027-4AAF-B449-B28427495380}"/>
              </a:ext>
            </a:extLst>
          </p:cNvPr>
          <p:cNvSpPr>
            <a:spLocks xmlns:a="http://schemas.openxmlformats.org/drawingml/2006/main" noGrp="1"/>
          </p:cNvSpPr>
          <p:nvPr/>
        </p:nvSpPr>
        <p:spPr>
          <a:xfrm xmlns:a="http://schemas.openxmlformats.org/drawingml/2006/main">
            <a:off x="571500" y="46291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Invitations and applications retain a private response path.</a:t>
            </a:r>
          </a:p>
        </p:txBody>
      </p:sp>
      <p:pic>
        <p:nvPicPr>
          <p:cNvPr id="10" name="">
            <a:extLst xmlns:a="http://schemas.openxmlformats.org/drawingml/2006/main">
              <a:ext uri="{FF2B5EF4-FFF2-40B4-BE49-F238E27FC236}">
                <a16:creationId xmlns:a16="http://schemas.microsoft.com/office/drawing/2014/main" id="{36C60D9C-4CC5-4D88-B87C-26FF5E372A86}"/>
              </a:ext>
            </a:extLst>
          </p:cNvPr>
          <p:cNvPicPr>
            <a:picLocks xmlns:a="http://schemas.openxmlformats.org/drawingml/2006/main" noChangeAspect="1"/>
          </p:cNvPicPr>
          <p:nvPr/>
        </p:nvPicPr>
        <p:blipFill>
          <a:blip xmlns:r="http://schemas.openxmlformats.org/officeDocument/2006/relationships" xmlns:a="http://schemas.openxmlformats.org/drawingml/2006/main" r:embed="Rc833ae4194e34f13"/>
          <a:stretch xmlns:a="http://schemas.openxmlformats.org/drawingml/2006/main"/>
        </p:blipFill>
        <p:spPr>
          <a:xfrm xmlns:a="http://schemas.openxmlformats.org/drawingml/2006/main">
            <a:off x="4179094" y="1381125"/>
            <a:ext cx="7215188" cy="4810125"/>
          </a:xfrm>
          <a:prstGeom xmlns:a="http://schemas.openxmlformats.org/drawingml/2006/main" prst="rect">
            <a:avLst/>
          </a:prstGeom>
        </p:spPr>
      </p:pic>
    </p:spTree>
    <p:extLst>
      <p:ext uri="{BB962C8B-B14F-4D97-AF65-F5344CB8AC3E}">
        <p14:creationId xmlns:p14="http://schemas.microsoft.com/office/powerpoint/2010/main" val="1821619980"/>
      </p:ext>
    </p:extLst>
  </p:cSld>
</p:sld>
</file>

<file path=ppt/slides/slide9.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F479D2-FB6D-421D-ADDD-BA89B947C253}"/>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Consent and career privacy</a:t>
            </a:r>
          </a:p>
        </p:txBody>
      </p:sp>
      <p:sp>
        <p:nvSpPr>
          <p:cNvPr id="2" name="">
            <a:extLst xmlns:a="http://schemas.openxmlformats.org/drawingml/2006/main">
              <a:ext uri="{FF2B5EF4-FFF2-40B4-BE49-F238E27FC236}">
                <a16:creationId xmlns:a16="http://schemas.microsoft.com/office/drawing/2014/main" id="{F5954652-2DFA-4DEA-8802-B3D1B99BBAB8}"/>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A8FC6089-01E3-46DF-8BA0-76F78092B7D5}"/>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09</a:t>
            </a:r>
          </a:p>
        </p:txBody>
      </p:sp>
      <p:sp>
        <p:nvSpPr>
          <p:cNvPr id="4" name="">
            <a:extLst xmlns:a="http://schemas.openxmlformats.org/drawingml/2006/main">
              <a:ext uri="{FF2B5EF4-FFF2-40B4-BE49-F238E27FC236}">
                <a16:creationId xmlns:a16="http://schemas.microsoft.com/office/drawing/2014/main" id="{7E553DB4-C454-444A-B76C-401EAABF1ABA}"/>
              </a:ext>
            </a:extLst>
          </p:cNvPr>
          <p:cNvSpPr>
            <a:spLocks xmlns:a="http://schemas.openxmlformats.org/drawingml/2006/main" noGrp="1"/>
          </p:cNvSpPr>
          <p:nvPr/>
        </p:nvSpPr>
        <p:spPr>
          <a:xfrm xmlns:a="http://schemas.openxmlformats.org/drawingml/2006/main">
            <a:off x="571500" y="17145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Selective disclosure</a:t>
            </a:r>
          </a:p>
        </p:txBody>
      </p:sp>
      <p:sp>
        <p:nvSpPr>
          <p:cNvPr id="5" name="">
            <a:extLst xmlns:a="http://schemas.openxmlformats.org/drawingml/2006/main">
              <a:ext uri="{FF2B5EF4-FFF2-40B4-BE49-F238E27FC236}">
                <a16:creationId xmlns:a16="http://schemas.microsoft.com/office/drawing/2014/main" id="{6AD38052-ED02-42C6-8B68-255EB4DA270F}"/>
              </a:ext>
            </a:extLst>
          </p:cNvPr>
          <p:cNvSpPr>
            <a:spLocks xmlns:a="http://schemas.openxmlformats.org/drawingml/2006/main" noGrp="1"/>
          </p:cNvSpPr>
          <p:nvPr/>
        </p:nvSpPr>
        <p:spPr>
          <a:xfrm xmlns:a="http://schemas.openxmlformats.org/drawingml/2006/main">
            <a:off x="571500" y="21145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History sharing specifies entries, recipient and purpose.</a:t>
            </a:r>
          </a:p>
        </p:txBody>
      </p:sp>
      <p:sp>
        <p:nvSpPr>
          <p:cNvPr id="6" name="">
            <a:extLst xmlns:a="http://schemas.openxmlformats.org/drawingml/2006/main">
              <a:ext uri="{FF2B5EF4-FFF2-40B4-BE49-F238E27FC236}">
                <a16:creationId xmlns:a16="http://schemas.microsoft.com/office/drawing/2014/main" id="{D8D5AEC8-EC7C-42EB-B1BA-9EAB37CF8CD7}"/>
              </a:ext>
            </a:extLst>
          </p:cNvPr>
          <p:cNvSpPr>
            <a:spLocks xmlns:a="http://schemas.openxmlformats.org/drawingml/2006/main" noGrp="1"/>
          </p:cNvSpPr>
          <p:nvPr/>
        </p:nvSpPr>
        <p:spPr>
          <a:xfrm xmlns:a="http://schemas.openxmlformats.org/drawingml/2006/main">
            <a:off x="571500" y="2971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Expiry and withdrawal</a:t>
            </a:r>
          </a:p>
        </p:txBody>
      </p:sp>
      <p:sp>
        <p:nvSpPr>
          <p:cNvPr id="7" name="">
            <a:extLst xmlns:a="http://schemas.openxmlformats.org/drawingml/2006/main">
              <a:ext uri="{FF2B5EF4-FFF2-40B4-BE49-F238E27FC236}">
                <a16:creationId xmlns:a16="http://schemas.microsoft.com/office/drawing/2014/main" id="{9AB267F8-3AA1-4078-BB98-D68E66E7E346}"/>
              </a:ext>
            </a:extLst>
          </p:cNvPr>
          <p:cNvSpPr>
            <a:spLocks xmlns:a="http://schemas.openxmlformats.org/drawingml/2006/main" noGrp="1"/>
          </p:cNvSpPr>
          <p:nvPr/>
        </p:nvSpPr>
        <p:spPr>
          <a:xfrm xmlns:a="http://schemas.openxmlformats.org/drawingml/2006/main">
            <a:off x="571500" y="33718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Access follows the current grant and its conditions.</a:t>
            </a:r>
          </a:p>
        </p:txBody>
      </p:sp>
      <p:sp>
        <p:nvSpPr>
          <p:cNvPr id="8" name="">
            <a:extLst xmlns:a="http://schemas.openxmlformats.org/drawingml/2006/main">
              <a:ext uri="{FF2B5EF4-FFF2-40B4-BE49-F238E27FC236}">
                <a16:creationId xmlns:a16="http://schemas.microsoft.com/office/drawing/2014/main" id="{829B5ECD-0AB5-403C-93CF-1A7F764D2CCE}"/>
              </a:ext>
            </a:extLst>
          </p:cNvPr>
          <p:cNvSpPr>
            <a:spLocks xmlns:a="http://schemas.openxmlformats.org/drawingml/2006/main" noGrp="1"/>
          </p:cNvSpPr>
          <p:nvPr/>
        </p:nvSpPr>
        <p:spPr>
          <a:xfrm xmlns:a="http://schemas.openxmlformats.org/drawingml/2006/main">
            <a:off x="571500" y="4229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Continuing identity</a:t>
            </a:r>
          </a:p>
        </p:txBody>
      </p:sp>
      <p:sp>
        <p:nvSpPr>
          <p:cNvPr id="9" name="">
            <a:extLst xmlns:a="http://schemas.openxmlformats.org/drawingml/2006/main">
              <a:ext uri="{FF2B5EF4-FFF2-40B4-BE49-F238E27FC236}">
                <a16:creationId xmlns:a16="http://schemas.microsoft.com/office/drawing/2014/main" id="{A917BF2B-6102-4DFA-9A3D-5BFC918C7DE6}"/>
              </a:ext>
            </a:extLst>
          </p:cNvPr>
          <p:cNvSpPr>
            <a:spLocks xmlns:a="http://schemas.openxmlformats.org/drawingml/2006/main" noGrp="1"/>
          </p:cNvSpPr>
          <p:nvPr/>
        </p:nvSpPr>
        <p:spPr>
          <a:xfrm xmlns:a="http://schemas.openxmlformats.org/drawingml/2006/main">
            <a:off x="571500" y="46291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Previous agency relationships do not transfer ownership of a person.</a:t>
            </a:r>
          </a:p>
        </p:txBody>
      </p:sp>
      <p:pic>
        <p:nvPicPr>
          <p:cNvPr id="10" name="">
            <a:extLst xmlns:a="http://schemas.openxmlformats.org/drawingml/2006/main">
              <a:ext uri="{FF2B5EF4-FFF2-40B4-BE49-F238E27FC236}">
                <a16:creationId xmlns:a16="http://schemas.microsoft.com/office/drawing/2014/main" id="{5506FE70-37EB-4373-9FBE-7369BD208F53}"/>
              </a:ext>
            </a:extLst>
          </p:cNvPr>
          <p:cNvPicPr>
            <a:picLocks xmlns:a="http://schemas.openxmlformats.org/drawingml/2006/main" noChangeAspect="1"/>
          </p:cNvPicPr>
          <p:nvPr/>
        </p:nvPicPr>
        <p:blipFill>
          <a:blip xmlns:r="http://schemas.openxmlformats.org/officeDocument/2006/relationships" xmlns:a="http://schemas.openxmlformats.org/drawingml/2006/main" r:embed="Ra10f0f5ff6b249c8"/>
          <a:stretch xmlns:a="http://schemas.openxmlformats.org/drawingml/2006/main"/>
        </p:blipFill>
        <p:spPr>
          <a:xfrm xmlns:a="http://schemas.openxmlformats.org/drawingml/2006/main">
            <a:off x="4179094" y="1381125"/>
            <a:ext cx="7215188" cy="4810125"/>
          </a:xfrm>
          <a:prstGeom xmlns:a="http://schemas.openxmlformats.org/drawingml/2006/main" prst="rect">
            <a:avLst/>
          </a:prstGeom>
        </p:spPr>
      </p:pic>
    </p:spTree>
    <p:extLst>
      <p:ext uri="{BB962C8B-B14F-4D97-AF65-F5344CB8AC3E}">
        <p14:creationId xmlns:p14="http://schemas.microsoft.com/office/powerpoint/2010/main" val="488859034"/>
      </p:ext>
    </p:extLst>
  </p:cSld>
</p:sld>
</file>

<file path=ppt/slides/slide10.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E01066-1AE3-4C02-A9A1-D64223EC22C6}"/>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Contracts and joining</a:t>
            </a:r>
          </a:p>
        </p:txBody>
      </p:sp>
      <p:sp>
        <p:nvSpPr>
          <p:cNvPr id="2" name="">
            <a:extLst xmlns:a="http://schemas.openxmlformats.org/drawingml/2006/main">
              <a:ext uri="{FF2B5EF4-FFF2-40B4-BE49-F238E27FC236}">
                <a16:creationId xmlns:a16="http://schemas.microsoft.com/office/drawing/2014/main" id="{3C73941D-67F5-4159-888A-0E2EF03DDE3C}"/>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6EB81C32-3984-446E-91E5-B3975C1089DE}"/>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10</a:t>
            </a:r>
          </a:p>
        </p:txBody>
      </p:sp>
      <p:sp>
        <p:nvSpPr>
          <p:cNvPr id="4" name="">
            <a:extLst xmlns:a="http://schemas.openxmlformats.org/drawingml/2006/main">
              <a:ext uri="{FF2B5EF4-FFF2-40B4-BE49-F238E27FC236}">
                <a16:creationId xmlns:a16="http://schemas.microsoft.com/office/drawing/2014/main" id="{F75EE56D-1BCF-4ED3-BCF0-0EBF0CA11246}"/>
              </a:ext>
            </a:extLst>
          </p:cNvPr>
          <p:cNvSpPr>
            <a:spLocks xmlns:a="http://schemas.openxmlformats.org/drawingml/2006/main" noGrp="1"/>
          </p:cNvSpPr>
          <p:nvPr/>
        </p:nvSpPr>
        <p:spPr>
          <a:xfrm xmlns:a="http://schemas.openxmlformats.org/drawingml/2006/main">
            <a:off x="571500" y="17145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Versioned agreements</a:t>
            </a:r>
          </a:p>
        </p:txBody>
      </p:sp>
      <p:sp>
        <p:nvSpPr>
          <p:cNvPr id="5" name="">
            <a:extLst xmlns:a="http://schemas.openxmlformats.org/drawingml/2006/main">
              <a:ext uri="{FF2B5EF4-FFF2-40B4-BE49-F238E27FC236}">
                <a16:creationId xmlns:a16="http://schemas.microsoft.com/office/drawing/2014/main" id="{B2244925-05D2-4DA0-B3B4-109220916395}"/>
              </a:ext>
            </a:extLst>
          </p:cNvPr>
          <p:cNvSpPr>
            <a:spLocks xmlns:a="http://schemas.openxmlformats.org/drawingml/2006/main" noGrp="1"/>
          </p:cNvSpPr>
          <p:nvPr/>
        </p:nvSpPr>
        <p:spPr>
          <a:xfrm xmlns:a="http://schemas.openxmlformats.org/drawingml/2006/main">
            <a:off x="571500" y="21145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A revision records its own content and acceptance.</a:t>
            </a:r>
          </a:p>
        </p:txBody>
      </p:sp>
      <p:sp>
        <p:nvSpPr>
          <p:cNvPr id="6" name="">
            <a:extLst xmlns:a="http://schemas.openxmlformats.org/drawingml/2006/main">
              <a:ext uri="{FF2B5EF4-FFF2-40B4-BE49-F238E27FC236}">
                <a16:creationId xmlns:a16="http://schemas.microsoft.com/office/drawing/2014/main" id="{917324BA-268A-4AC1-8D68-B2B774BCA0CF}"/>
              </a:ext>
            </a:extLst>
          </p:cNvPr>
          <p:cNvSpPr>
            <a:spLocks xmlns:a="http://schemas.openxmlformats.org/drawingml/2006/main" noGrp="1"/>
          </p:cNvSpPr>
          <p:nvPr/>
        </p:nvSpPr>
        <p:spPr>
          <a:xfrm xmlns:a="http://schemas.openxmlformats.org/drawingml/2006/main">
            <a:off x="571500" y="2971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Separate permission</a:t>
            </a:r>
          </a:p>
        </p:txBody>
      </p:sp>
      <p:sp>
        <p:nvSpPr>
          <p:cNvPr id="7" name="">
            <a:extLst xmlns:a="http://schemas.openxmlformats.org/drawingml/2006/main">
              <a:ext uri="{FF2B5EF4-FFF2-40B4-BE49-F238E27FC236}">
                <a16:creationId xmlns:a16="http://schemas.microsoft.com/office/drawing/2014/main" id="{76575FDE-9477-40E9-AAC7-A8834A3FDB1A}"/>
              </a:ext>
            </a:extLst>
          </p:cNvPr>
          <p:cNvSpPr>
            <a:spLocks xmlns:a="http://schemas.openxmlformats.org/drawingml/2006/main" noGrp="1"/>
          </p:cNvSpPr>
          <p:nvPr/>
        </p:nvSpPr>
        <p:spPr>
          <a:xfrm xmlns:a="http://schemas.openxmlformats.org/drawingml/2006/main">
            <a:off x="571500" y="33718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The candidate explicitly authorizes joining.</a:t>
            </a:r>
          </a:p>
        </p:txBody>
      </p:sp>
      <p:sp>
        <p:nvSpPr>
          <p:cNvPr id="8" name="">
            <a:extLst xmlns:a="http://schemas.openxmlformats.org/drawingml/2006/main">
              <a:ext uri="{FF2B5EF4-FFF2-40B4-BE49-F238E27FC236}">
                <a16:creationId xmlns:a16="http://schemas.microsoft.com/office/drawing/2014/main" id="{0E334E70-0DAA-46C3-8DCC-23AA72987E52}"/>
              </a:ext>
            </a:extLst>
          </p:cNvPr>
          <p:cNvSpPr>
            <a:spLocks xmlns:a="http://schemas.openxmlformats.org/drawingml/2006/main" noGrp="1"/>
          </p:cNvSpPr>
          <p:nvPr/>
        </p:nvSpPr>
        <p:spPr>
          <a:xfrm xmlns:a="http://schemas.openxmlformats.org/drawingml/2006/main">
            <a:off x="571500" y="4229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Reviewed activation</a:t>
            </a:r>
          </a:p>
        </p:txBody>
      </p:sp>
      <p:sp>
        <p:nvSpPr>
          <p:cNvPr id="9" name="">
            <a:extLst xmlns:a="http://schemas.openxmlformats.org/drawingml/2006/main">
              <a:ext uri="{FF2B5EF4-FFF2-40B4-BE49-F238E27FC236}">
                <a16:creationId xmlns:a16="http://schemas.microsoft.com/office/drawing/2014/main" id="{2368CE86-22D1-4D80-B6CD-614D0DC19470}"/>
              </a:ext>
            </a:extLst>
          </p:cNvPr>
          <p:cNvSpPr>
            <a:spLocks xmlns:a="http://schemas.openxmlformats.org/drawingml/2006/main" noGrp="1"/>
          </p:cNvSpPr>
          <p:nvPr/>
        </p:nvSpPr>
        <p:spPr>
          <a:xfrm xmlns:a="http://schemas.openxmlformats.org/drawingml/2006/main">
            <a:off x="571500" y="46291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Conditions and effective dates control activation.</a:t>
            </a:r>
          </a:p>
        </p:txBody>
      </p:sp>
      <p:pic>
        <p:nvPicPr>
          <p:cNvPr id="10" name="">
            <a:extLst xmlns:a="http://schemas.openxmlformats.org/drawingml/2006/main">
              <a:ext uri="{FF2B5EF4-FFF2-40B4-BE49-F238E27FC236}">
                <a16:creationId xmlns:a16="http://schemas.microsoft.com/office/drawing/2014/main" id="{7FA933BB-4F4F-4442-9C15-6CBDEDACE5E0}"/>
              </a:ext>
            </a:extLst>
          </p:cNvPr>
          <p:cNvPicPr>
            <a:picLocks xmlns:a="http://schemas.openxmlformats.org/drawingml/2006/main" noChangeAspect="1"/>
          </p:cNvPicPr>
          <p:nvPr/>
        </p:nvPicPr>
        <p:blipFill>
          <a:blip xmlns:r="http://schemas.openxmlformats.org/officeDocument/2006/relationships" xmlns:a="http://schemas.openxmlformats.org/drawingml/2006/main" r:embed="R24665006ef364c38"/>
          <a:stretch xmlns:a="http://schemas.openxmlformats.org/drawingml/2006/main"/>
        </p:blipFill>
        <p:spPr>
          <a:xfrm xmlns:a="http://schemas.openxmlformats.org/drawingml/2006/main">
            <a:off x="4179094" y="1381125"/>
            <a:ext cx="7215188" cy="4810125"/>
          </a:xfrm>
          <a:prstGeom xmlns:a="http://schemas.openxmlformats.org/drawingml/2006/main" prst="rect">
            <a:avLst/>
          </a:prstGeom>
        </p:spPr>
      </p:pic>
    </p:spTree>
    <p:extLst>
      <p:ext uri="{BB962C8B-B14F-4D97-AF65-F5344CB8AC3E}">
        <p14:creationId xmlns:p14="http://schemas.microsoft.com/office/powerpoint/2010/main" val="442091735"/>
      </p:ext>
    </p:extLst>
  </p:cSld>
</p:sld>
</file>

<file path=ppt/slides/slide11.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D58C8C-0EF1-4844-A5EF-C1FA4204C8BF}"/>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Scheduling and daily care</a:t>
            </a:r>
          </a:p>
        </p:txBody>
      </p:sp>
      <p:sp>
        <p:nvSpPr>
          <p:cNvPr id="2" name="">
            <a:extLst xmlns:a="http://schemas.openxmlformats.org/drawingml/2006/main">
              <a:ext uri="{FF2B5EF4-FFF2-40B4-BE49-F238E27FC236}">
                <a16:creationId xmlns:a16="http://schemas.microsoft.com/office/drawing/2014/main" id="{FDD19620-26D7-4AFD-B8A2-687D812AB5FC}"/>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D7A1C2AE-288A-438F-9B9E-78B5E1E4C9CC}"/>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11</a:t>
            </a:r>
          </a:p>
        </p:txBody>
      </p:sp>
      <p:sp>
        <p:nvSpPr>
          <p:cNvPr id="4" name="">
            <a:extLst xmlns:a="http://schemas.openxmlformats.org/drawingml/2006/main">
              <a:ext uri="{FF2B5EF4-FFF2-40B4-BE49-F238E27FC236}">
                <a16:creationId xmlns:a16="http://schemas.microsoft.com/office/drawing/2014/main" id="{95146B96-22A1-459B-A2B5-32E5F36C9D5B}"/>
              </a:ext>
            </a:extLst>
          </p:cNvPr>
          <p:cNvSpPr>
            <a:spLocks xmlns:a="http://schemas.openxmlformats.org/drawingml/2006/main" noGrp="1"/>
          </p:cNvSpPr>
          <p:nvPr/>
        </p:nvSpPr>
        <p:spPr>
          <a:xfrm xmlns:a="http://schemas.openxmlformats.org/drawingml/2006/main">
            <a:off x="571500" y="17145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Visit assignment</a:t>
            </a:r>
          </a:p>
        </p:txBody>
      </p:sp>
      <p:sp>
        <p:nvSpPr>
          <p:cNvPr id="5" name="">
            <a:extLst xmlns:a="http://schemas.openxmlformats.org/drawingml/2006/main">
              <a:ext uri="{FF2B5EF4-FFF2-40B4-BE49-F238E27FC236}">
                <a16:creationId xmlns:a16="http://schemas.microsoft.com/office/drawing/2014/main" id="{1F138251-6C8D-484E-805C-215CC86B4CE8}"/>
              </a:ext>
            </a:extLst>
          </p:cNvPr>
          <p:cNvSpPr>
            <a:spLocks xmlns:a="http://schemas.openxmlformats.org/drawingml/2006/main" noGrp="1"/>
          </p:cNvSpPr>
          <p:nvPr/>
        </p:nvSpPr>
        <p:spPr>
          <a:xfrm xmlns:a="http://schemas.openxmlformats.org/drawingml/2006/main">
            <a:off x="571500" y="21145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Client visits connect to authorized caregivers.</a:t>
            </a:r>
          </a:p>
        </p:txBody>
      </p:sp>
      <p:sp>
        <p:nvSpPr>
          <p:cNvPr id="6" name="">
            <a:extLst xmlns:a="http://schemas.openxmlformats.org/drawingml/2006/main">
              <a:ext uri="{FF2B5EF4-FFF2-40B4-BE49-F238E27FC236}">
                <a16:creationId xmlns:a16="http://schemas.microsoft.com/office/drawing/2014/main" id="{C9B2C746-657C-4262-A6E0-EE7A0072335A}"/>
              </a:ext>
            </a:extLst>
          </p:cNvPr>
          <p:cNvSpPr>
            <a:spLocks xmlns:a="http://schemas.openxmlformats.org/drawingml/2006/main" noGrp="1"/>
          </p:cNvSpPr>
          <p:nvPr/>
        </p:nvSpPr>
        <p:spPr>
          <a:xfrm xmlns:a="http://schemas.openxmlformats.org/drawingml/2006/main">
            <a:off x="571500" y="2971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Eligibility checks</a:t>
            </a:r>
          </a:p>
        </p:txBody>
      </p:sp>
      <p:sp>
        <p:nvSpPr>
          <p:cNvPr id="7" name="">
            <a:extLst xmlns:a="http://schemas.openxmlformats.org/drawingml/2006/main">
              <a:ext uri="{FF2B5EF4-FFF2-40B4-BE49-F238E27FC236}">
                <a16:creationId xmlns:a16="http://schemas.microsoft.com/office/drawing/2014/main" id="{A416D378-2DF9-4292-BE9E-4B0BF6615AC5}"/>
              </a:ext>
            </a:extLst>
          </p:cNvPr>
          <p:cNvSpPr>
            <a:spLocks xmlns:a="http://schemas.openxmlformats.org/drawingml/2006/main" noGrp="1"/>
          </p:cNvSpPr>
          <p:nvPr/>
        </p:nvSpPr>
        <p:spPr>
          <a:xfrm xmlns:a="http://schemas.openxmlformats.org/drawingml/2006/main">
            <a:off x="571500" y="33718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Assignments check overlaps, leave and required credentials.</a:t>
            </a:r>
          </a:p>
        </p:txBody>
      </p:sp>
      <p:sp>
        <p:nvSpPr>
          <p:cNvPr id="8" name="">
            <a:extLst xmlns:a="http://schemas.openxmlformats.org/drawingml/2006/main">
              <a:ext uri="{FF2B5EF4-FFF2-40B4-BE49-F238E27FC236}">
                <a16:creationId xmlns:a16="http://schemas.microsoft.com/office/drawing/2014/main" id="{D6640E84-424D-44B3-9E77-B1D3F2A6530A}"/>
              </a:ext>
            </a:extLst>
          </p:cNvPr>
          <p:cNvSpPr>
            <a:spLocks xmlns:a="http://schemas.openxmlformats.org/drawingml/2006/main" noGrp="1"/>
          </p:cNvSpPr>
          <p:nvPr/>
        </p:nvSpPr>
        <p:spPr>
          <a:xfrm xmlns:a="http://schemas.openxmlformats.org/drawingml/2006/main">
            <a:off x="571500" y="4229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Care records</a:t>
            </a:r>
          </a:p>
        </p:txBody>
      </p:sp>
      <p:sp>
        <p:nvSpPr>
          <p:cNvPr id="9" name="">
            <a:extLst xmlns:a="http://schemas.openxmlformats.org/drawingml/2006/main">
              <a:ext uri="{FF2B5EF4-FFF2-40B4-BE49-F238E27FC236}">
                <a16:creationId xmlns:a16="http://schemas.microsoft.com/office/drawing/2014/main" id="{4D3423A6-8EDE-47A5-96B1-974DF9F995A6}"/>
              </a:ext>
            </a:extLst>
          </p:cNvPr>
          <p:cNvSpPr>
            <a:spLocks xmlns:a="http://schemas.openxmlformats.org/drawingml/2006/main" noGrp="1"/>
          </p:cNvSpPr>
          <p:nvPr/>
        </p:nvSpPr>
        <p:spPr>
          <a:xfrm xmlns:a="http://schemas.openxmlformats.org/drawingml/2006/main">
            <a:off x="571500" y="46291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Teams can record notes and incidents for review.</a:t>
            </a:r>
          </a:p>
        </p:txBody>
      </p:sp>
      <p:pic>
        <p:nvPicPr>
          <p:cNvPr id="10" name="">
            <a:extLst xmlns:a="http://schemas.openxmlformats.org/drawingml/2006/main">
              <a:ext uri="{FF2B5EF4-FFF2-40B4-BE49-F238E27FC236}">
                <a16:creationId xmlns:a16="http://schemas.microsoft.com/office/drawing/2014/main" id="{0EB72492-E843-4DB6-8F42-51C4684A13DF}"/>
              </a:ext>
            </a:extLst>
          </p:cNvPr>
          <p:cNvPicPr>
            <a:picLocks xmlns:a="http://schemas.openxmlformats.org/drawingml/2006/main" noChangeAspect="1"/>
          </p:cNvPicPr>
          <p:nvPr/>
        </p:nvPicPr>
        <p:blipFill>
          <a:blip xmlns:r="http://schemas.openxmlformats.org/officeDocument/2006/relationships" xmlns:a="http://schemas.openxmlformats.org/drawingml/2006/main" r:embed="R2d8706f3af17482f"/>
          <a:stretch xmlns:a="http://schemas.openxmlformats.org/drawingml/2006/main"/>
        </p:blipFill>
        <p:spPr>
          <a:xfrm xmlns:a="http://schemas.openxmlformats.org/drawingml/2006/main">
            <a:off x="4179094" y="1381125"/>
            <a:ext cx="7215188" cy="4810125"/>
          </a:xfrm>
          <a:prstGeom xmlns:a="http://schemas.openxmlformats.org/drawingml/2006/main" prst="rect">
            <a:avLst/>
          </a:prstGeom>
        </p:spPr>
      </p:pic>
    </p:spTree>
    <p:extLst>
      <p:ext uri="{BB962C8B-B14F-4D97-AF65-F5344CB8AC3E}">
        <p14:creationId xmlns:p14="http://schemas.microsoft.com/office/powerpoint/2010/main" val="397299745"/>
      </p:ext>
    </p:extLst>
  </p:cSld>
</p:sld>
</file>

<file path=ppt/slides/slide12.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1AA6D4-8732-4962-870D-C699EBD34398}"/>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Time attendance and review</a:t>
            </a:r>
          </a:p>
        </p:txBody>
      </p:sp>
      <p:sp>
        <p:nvSpPr>
          <p:cNvPr id="2" name="">
            <a:extLst xmlns:a="http://schemas.openxmlformats.org/drawingml/2006/main">
              <a:ext uri="{FF2B5EF4-FFF2-40B4-BE49-F238E27FC236}">
                <a16:creationId xmlns:a16="http://schemas.microsoft.com/office/drawing/2014/main" id="{120E4BB6-E3B7-4819-B748-A82031397658}"/>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9589CDF1-E208-496D-9E46-42A7EC59083C}"/>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12</a:t>
            </a:r>
          </a:p>
        </p:txBody>
      </p:sp>
      <p:sp>
        <p:nvSpPr>
          <p:cNvPr id="4" name="">
            <a:extLst xmlns:a="http://schemas.openxmlformats.org/drawingml/2006/main">
              <a:ext uri="{FF2B5EF4-FFF2-40B4-BE49-F238E27FC236}">
                <a16:creationId xmlns:a16="http://schemas.microsoft.com/office/drawing/2014/main" id="{763CC602-7C73-4AD5-8E2A-5B6F16748887}"/>
              </a:ext>
            </a:extLst>
          </p:cNvPr>
          <p:cNvSpPr>
            <a:spLocks xmlns:a="http://schemas.openxmlformats.org/drawingml/2006/main" noGrp="1"/>
          </p:cNvSpPr>
          <p:nvPr/>
        </p:nvSpPr>
        <p:spPr>
          <a:xfrm xmlns:a="http://schemas.openxmlformats.org/drawingml/2006/main">
            <a:off x="571500" y="17145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Clock events</a:t>
            </a:r>
          </a:p>
        </p:txBody>
      </p:sp>
      <p:sp>
        <p:nvSpPr>
          <p:cNvPr id="5" name="">
            <a:extLst xmlns:a="http://schemas.openxmlformats.org/drawingml/2006/main">
              <a:ext uri="{FF2B5EF4-FFF2-40B4-BE49-F238E27FC236}">
                <a16:creationId xmlns:a16="http://schemas.microsoft.com/office/drawing/2014/main" id="{C3C1ADC5-A0F0-44E8-8E5D-065A460A302C}"/>
              </a:ext>
            </a:extLst>
          </p:cNvPr>
          <p:cNvSpPr>
            <a:spLocks xmlns:a="http://schemas.openxmlformats.org/drawingml/2006/main" noGrp="1"/>
          </p:cNvSpPr>
          <p:nvPr/>
        </p:nvSpPr>
        <p:spPr>
          <a:xfrm xmlns:a="http://schemas.openxmlformats.org/drawingml/2006/main">
            <a:off x="571500" y="21145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Online events record starts, breaks and finishes.</a:t>
            </a:r>
          </a:p>
        </p:txBody>
      </p:sp>
      <p:sp>
        <p:nvSpPr>
          <p:cNvPr id="6" name="">
            <a:extLst xmlns:a="http://schemas.openxmlformats.org/drawingml/2006/main">
              <a:ext uri="{FF2B5EF4-FFF2-40B4-BE49-F238E27FC236}">
                <a16:creationId xmlns:a16="http://schemas.microsoft.com/office/drawing/2014/main" id="{000DD8C3-D7BC-46B1-BAD5-009DC1E7245B}"/>
              </a:ext>
            </a:extLst>
          </p:cNvPr>
          <p:cNvSpPr>
            <a:spLocks xmlns:a="http://schemas.openxmlformats.org/drawingml/2006/main" noGrp="1"/>
          </p:cNvSpPr>
          <p:nvPr/>
        </p:nvSpPr>
        <p:spPr>
          <a:xfrm xmlns:a="http://schemas.openxmlformats.org/drawingml/2006/main">
            <a:off x="571500" y="2971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Worked time</a:t>
            </a:r>
          </a:p>
        </p:txBody>
      </p:sp>
      <p:sp>
        <p:nvSpPr>
          <p:cNvPr id="7" name="">
            <a:extLst xmlns:a="http://schemas.openxmlformats.org/drawingml/2006/main">
              <a:ext uri="{FF2B5EF4-FFF2-40B4-BE49-F238E27FC236}">
                <a16:creationId xmlns:a16="http://schemas.microsoft.com/office/drawing/2014/main" id="{724B84E9-E16F-409D-98E2-855A84713146}"/>
              </a:ext>
            </a:extLst>
          </p:cNvPr>
          <p:cNvSpPr>
            <a:spLocks xmlns:a="http://schemas.openxmlformats.org/drawingml/2006/main" noGrp="1"/>
          </p:cNvSpPr>
          <p:nvPr/>
        </p:nvSpPr>
        <p:spPr>
          <a:xfrm xmlns:a="http://schemas.openxmlformats.org/drawingml/2006/main">
            <a:off x="571500" y="33718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Elapsed time excludes recorded breaks.</a:t>
            </a:r>
          </a:p>
        </p:txBody>
      </p:sp>
      <p:sp>
        <p:nvSpPr>
          <p:cNvPr id="8" name="">
            <a:extLst xmlns:a="http://schemas.openxmlformats.org/drawingml/2006/main">
              <a:ext uri="{FF2B5EF4-FFF2-40B4-BE49-F238E27FC236}">
                <a16:creationId xmlns:a16="http://schemas.microsoft.com/office/drawing/2014/main" id="{416B71B1-34F3-41A7-BB24-417D37C3C93A}"/>
              </a:ext>
            </a:extLst>
          </p:cNvPr>
          <p:cNvSpPr>
            <a:spLocks xmlns:a="http://schemas.openxmlformats.org/drawingml/2006/main" noGrp="1"/>
          </p:cNvSpPr>
          <p:nvPr/>
        </p:nvSpPr>
        <p:spPr>
          <a:xfrm xmlns:a="http://schemas.openxmlformats.org/drawingml/2006/main">
            <a:off x="571500" y="4229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Supervisor review</a:t>
            </a:r>
          </a:p>
        </p:txBody>
      </p:sp>
      <p:sp>
        <p:nvSpPr>
          <p:cNvPr id="9" name="">
            <a:extLst xmlns:a="http://schemas.openxmlformats.org/drawingml/2006/main">
              <a:ext uri="{FF2B5EF4-FFF2-40B4-BE49-F238E27FC236}">
                <a16:creationId xmlns:a16="http://schemas.microsoft.com/office/drawing/2014/main" id="{CE63A9CB-F3A9-4A79-87CD-372515316FCC}"/>
              </a:ext>
            </a:extLst>
          </p:cNvPr>
          <p:cNvSpPr>
            <a:spLocks xmlns:a="http://schemas.openxmlformats.org/drawingml/2006/main" noGrp="1"/>
          </p:cNvSpPr>
          <p:nvPr/>
        </p:nvSpPr>
        <p:spPr>
          <a:xfrm xmlns:a="http://schemas.openxmlformats.org/drawingml/2006/main">
            <a:off x="571500" y="46291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Version-aware approvals and corrections preserve accountability.</a:t>
            </a:r>
          </a:p>
        </p:txBody>
      </p:sp>
      <p:pic>
        <p:nvPicPr>
          <p:cNvPr id="10" name="">
            <a:extLst xmlns:a="http://schemas.openxmlformats.org/drawingml/2006/main">
              <a:ext uri="{FF2B5EF4-FFF2-40B4-BE49-F238E27FC236}">
                <a16:creationId xmlns:a16="http://schemas.microsoft.com/office/drawing/2014/main" id="{E7349824-C8F9-44FE-ABE2-E997345C8EFD}"/>
              </a:ext>
            </a:extLst>
          </p:cNvPr>
          <p:cNvPicPr>
            <a:picLocks xmlns:a="http://schemas.openxmlformats.org/drawingml/2006/main" noChangeAspect="1"/>
          </p:cNvPicPr>
          <p:nvPr/>
        </p:nvPicPr>
        <p:blipFill>
          <a:blip xmlns:r="http://schemas.openxmlformats.org/officeDocument/2006/relationships" xmlns:a="http://schemas.openxmlformats.org/drawingml/2006/main" r:embed="R854e6e5a62e04b29"/>
          <a:stretch xmlns:a="http://schemas.openxmlformats.org/drawingml/2006/main"/>
        </p:blipFill>
        <p:spPr>
          <a:xfrm xmlns:a="http://schemas.openxmlformats.org/drawingml/2006/main">
            <a:off x="4179094" y="1381125"/>
            <a:ext cx="7215188" cy="4810125"/>
          </a:xfrm>
          <a:prstGeom xmlns:a="http://schemas.openxmlformats.org/drawingml/2006/main" prst="rect">
            <a:avLst/>
          </a:prstGeom>
        </p:spPr>
      </p:pic>
    </p:spTree>
    <p:extLst>
      <p:ext uri="{BB962C8B-B14F-4D97-AF65-F5344CB8AC3E}">
        <p14:creationId xmlns:p14="http://schemas.microsoft.com/office/powerpoint/2010/main" val="620735057"/>
      </p:ext>
    </p:extLst>
  </p:cSld>
</p:sld>
</file>

<file path=ppt/slides/slide13.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9C779F-EFC9-412E-AD41-A191099EAC67}"/>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Finance and operational records</a:t>
            </a:r>
          </a:p>
        </p:txBody>
      </p:sp>
      <p:sp>
        <p:nvSpPr>
          <p:cNvPr id="2" name="">
            <a:extLst xmlns:a="http://schemas.openxmlformats.org/drawingml/2006/main">
              <a:ext uri="{FF2B5EF4-FFF2-40B4-BE49-F238E27FC236}">
                <a16:creationId xmlns:a16="http://schemas.microsoft.com/office/drawing/2014/main" id="{535C1E39-FC97-4577-BC38-EF03A6063217}"/>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39829193-4D18-4EFA-95D9-2815BE54F12F}"/>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13</a:t>
            </a:r>
          </a:p>
        </p:txBody>
      </p:sp>
      <p:sp>
        <p:nvSpPr>
          <p:cNvPr id="4" name="">
            <a:extLst xmlns:a="http://schemas.openxmlformats.org/drawingml/2006/main">
              <a:ext uri="{FF2B5EF4-FFF2-40B4-BE49-F238E27FC236}">
                <a16:creationId xmlns:a16="http://schemas.microsoft.com/office/drawing/2014/main" id="{E91BCD76-432A-4006-A745-29A12CD16646}"/>
              </a:ext>
            </a:extLst>
          </p:cNvPr>
          <p:cNvSpPr>
            <a:spLocks xmlns:a="http://schemas.openxmlformats.org/drawingml/2006/main" noGrp="1"/>
          </p:cNvSpPr>
          <p:nvPr/>
        </p:nvSpPr>
        <p:spPr>
          <a:xfrm xmlns:a="http://schemas.openxmlformats.org/drawingml/2006/main">
            <a:off x="571500" y="17145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Billing records</a:t>
            </a:r>
          </a:p>
        </p:txBody>
      </p:sp>
      <p:sp>
        <p:nvSpPr>
          <p:cNvPr id="5" name="">
            <a:extLst xmlns:a="http://schemas.openxmlformats.org/drawingml/2006/main">
              <a:ext uri="{FF2B5EF4-FFF2-40B4-BE49-F238E27FC236}">
                <a16:creationId xmlns:a16="http://schemas.microsoft.com/office/drawing/2014/main" id="{0821E07A-FD7D-45A0-922D-2922C9A758B5}"/>
              </a:ext>
            </a:extLst>
          </p:cNvPr>
          <p:cNvSpPr>
            <a:spLocks xmlns:a="http://schemas.openxmlformats.org/drawingml/2006/main" noGrp="1"/>
          </p:cNvSpPr>
          <p:nvPr/>
        </p:nvSpPr>
        <p:spPr>
          <a:xfrm xmlns:a="http://schemas.openxmlformats.org/drawingml/2006/main">
            <a:off x="571500" y="21145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Invoices, receipts and supported credits.</a:t>
            </a:r>
          </a:p>
        </p:txBody>
      </p:sp>
      <p:sp>
        <p:nvSpPr>
          <p:cNvPr id="6" name="">
            <a:extLst xmlns:a="http://schemas.openxmlformats.org/drawingml/2006/main">
              <a:ext uri="{FF2B5EF4-FFF2-40B4-BE49-F238E27FC236}">
                <a16:creationId xmlns:a16="http://schemas.microsoft.com/office/drawing/2014/main" id="{8089628E-0609-4716-B123-D3A84B6D7BDD}"/>
              </a:ext>
            </a:extLst>
          </p:cNvPr>
          <p:cNvSpPr>
            <a:spLocks xmlns:a="http://schemas.openxmlformats.org/drawingml/2006/main" noGrp="1"/>
          </p:cNvSpPr>
          <p:nvPr/>
        </p:nvSpPr>
        <p:spPr>
          <a:xfrm xmlns:a="http://schemas.openxmlformats.org/drawingml/2006/main">
            <a:off x="571500" y="2971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Workforce records</a:t>
            </a:r>
          </a:p>
        </p:txBody>
      </p:sp>
      <p:sp>
        <p:nvSpPr>
          <p:cNvPr id="7" name="">
            <a:extLst xmlns:a="http://schemas.openxmlformats.org/drawingml/2006/main">
              <a:ext uri="{FF2B5EF4-FFF2-40B4-BE49-F238E27FC236}">
                <a16:creationId xmlns:a16="http://schemas.microsoft.com/office/drawing/2014/main" id="{1289EC1A-A715-4B71-A860-E09BACD951B3}"/>
              </a:ext>
            </a:extLst>
          </p:cNvPr>
          <p:cNvSpPr>
            <a:spLocks xmlns:a="http://schemas.openxmlformats.org/drawingml/2006/main" noGrp="1"/>
          </p:cNvSpPr>
          <p:nvPr/>
        </p:nvSpPr>
        <p:spPr>
          <a:xfrm xmlns:a="http://schemas.openxmlformats.org/drawingml/2006/main">
            <a:off x="571500" y="33718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Expenses, assets and approved worked-time exports.</a:t>
            </a:r>
          </a:p>
        </p:txBody>
      </p:sp>
      <p:sp>
        <p:nvSpPr>
          <p:cNvPr id="8" name="">
            <a:extLst xmlns:a="http://schemas.openxmlformats.org/drawingml/2006/main">
              <a:ext uri="{FF2B5EF4-FFF2-40B4-BE49-F238E27FC236}">
                <a16:creationId xmlns:a16="http://schemas.microsoft.com/office/drawing/2014/main" id="{31B3F151-A990-4711-AEA5-B9FACEBF2DB5}"/>
              </a:ext>
            </a:extLst>
          </p:cNvPr>
          <p:cNvSpPr>
            <a:spLocks xmlns:a="http://schemas.openxmlformats.org/drawingml/2006/main" noGrp="1"/>
          </p:cNvSpPr>
          <p:nvPr/>
        </p:nvSpPr>
        <p:spPr>
          <a:xfrm xmlns:a="http://schemas.openxmlformats.org/drawingml/2006/main">
            <a:off x="571500" y="4229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Integration boundary</a:t>
            </a:r>
          </a:p>
        </p:txBody>
      </p:sp>
      <p:sp>
        <p:nvSpPr>
          <p:cNvPr id="9" name="">
            <a:extLst xmlns:a="http://schemas.openxmlformats.org/drawingml/2006/main">
              <a:ext uri="{FF2B5EF4-FFF2-40B4-BE49-F238E27FC236}">
                <a16:creationId xmlns:a16="http://schemas.microsoft.com/office/drawing/2014/main" id="{8622DA30-866C-4ACD-ADA5-04CC6A45C92F}"/>
              </a:ext>
            </a:extLst>
          </p:cNvPr>
          <p:cNvSpPr>
            <a:spLocks xmlns:a="http://schemas.openxmlformats.org/drawingml/2006/main" noGrp="1"/>
          </p:cNvSpPr>
          <p:nvPr/>
        </p:nvSpPr>
        <p:spPr>
          <a:xfrm xmlns:a="http://schemas.openxmlformats.org/drawingml/2006/main">
            <a:off x="571500" y="46291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34B48"/>
                </a:solidFill>
                <a:latin typeface="Calibri"/>
                <a:ea typeface="Calibri"/>
                <a:cs typeface="Calibri"/>
              </a:defRPr>
            </a:defPPr>
            <a:lvl1pPr>
              <a:defRPr sz="1800" b="0">
                <a:solidFill>
                  <a:srgbClr val="334B48"/>
                </a:solidFill>
                <a:latin typeface="Calibri"/>
                <a:ea typeface="Calibri"/>
                <a:cs typeface="Calibri"/>
              </a:defRPr>
            </a:lvl1pPr>
            <a:lvl2pPr>
              <a:defRPr sz="1800" b="0">
                <a:solidFill>
                  <a:srgbClr val="334B48"/>
                </a:solidFill>
                <a:latin typeface="Calibri"/>
                <a:ea typeface="Calibri"/>
                <a:cs typeface="Calibri"/>
              </a:defRPr>
            </a:lvl2pPr>
            <a:lvl3pPr>
              <a:defRPr sz="1800" b="0">
                <a:solidFill>
                  <a:srgbClr val="334B48"/>
                </a:solidFill>
                <a:latin typeface="Calibri"/>
                <a:ea typeface="Calibri"/>
                <a:cs typeface="Calibri"/>
              </a:defRPr>
            </a:lvl3pPr>
            <a:lvl4pPr>
              <a:defRPr sz="1800" b="0">
                <a:solidFill>
                  <a:srgbClr val="334B48"/>
                </a:solidFill>
                <a:latin typeface="Calibri"/>
                <a:ea typeface="Calibri"/>
                <a:cs typeface="Calibri"/>
              </a:defRPr>
            </a:lvl4pPr>
            <a:lvl5pPr>
              <a:defRPr sz="1800" b="0">
                <a:solidFill>
                  <a:srgbClr val="334B48"/>
                </a:solidFill>
                <a:latin typeface="Calibri"/>
                <a:ea typeface="Calibri"/>
                <a:cs typeface="Calibri"/>
              </a:defRPr>
            </a:lvl5pPr>
            <a:lvl6pPr>
              <a:defRPr sz="1800" b="0">
                <a:solidFill>
                  <a:srgbClr val="334B48"/>
                </a:solidFill>
                <a:latin typeface="Calibri"/>
                <a:ea typeface="Calibri"/>
                <a:cs typeface="Calibri"/>
              </a:defRPr>
            </a:lvl6pPr>
            <a:lvl7pPr>
              <a:defRPr sz="1800" b="0">
                <a:solidFill>
                  <a:srgbClr val="334B48"/>
                </a:solidFill>
                <a:latin typeface="Calibri"/>
                <a:ea typeface="Calibri"/>
                <a:cs typeface="Calibri"/>
              </a:defRPr>
            </a:lvl7pPr>
            <a:lvl8pPr>
              <a:defRPr sz="1800" b="0">
                <a:solidFill>
                  <a:srgbClr val="334B48"/>
                </a:solidFill>
                <a:latin typeface="Calibri"/>
                <a:ea typeface="Calibri"/>
                <a:cs typeface="Calibri"/>
              </a:defRPr>
            </a:lvl8pPr>
            <a:lvl9pPr>
              <a:defRPr sz="1800" b="0">
                <a:solidFill>
                  <a:srgbClr val="334B48"/>
                </a:solidFill>
                <a:latin typeface="Calibri"/>
                <a:ea typeface="Calibri"/>
                <a:cs typeface="Calibri"/>
              </a:defRPr>
            </a:lvl9pPr>
          </a:lstStyle>
          <a:p xmlns:a="http://schemas.openxmlformats.org/drawingml/2006/main">
            <a:pPr>
              <a:defRPr sz="1800" b="0">
                <a:solidFill>
                  <a:srgbClr val="334B48"/>
                </a:solidFill>
                <a:latin typeface="Calibri"/>
                <a:ea typeface="Calibri"/>
                <a:cs typeface="Calibri"/>
              </a:defRPr>
            </a:pPr>
            <a:r>
              <a:rPr sz="1800" b="0">
                <a:solidFill>
                  <a:srgbClr val="334B48"/>
                </a:solidFill>
                <a:latin typeface="Calibri"/>
                <a:ea typeface="Calibri"/>
                <a:cs typeface="Calibri"/>
              </a:rPr>
              <a:t>External payroll submission and a complete accounting ledger remain future work.</a:t>
            </a:r>
          </a:p>
        </p:txBody>
      </p:sp>
      <p:pic>
        <p:nvPicPr>
          <p:cNvPr id="10" name="">
            <a:extLst xmlns:a="http://schemas.openxmlformats.org/drawingml/2006/main">
              <a:ext uri="{FF2B5EF4-FFF2-40B4-BE49-F238E27FC236}">
                <a16:creationId xmlns:a16="http://schemas.microsoft.com/office/drawing/2014/main" id="{62579369-DCF8-4DF4-B410-1458D2AAEA81}"/>
              </a:ext>
            </a:extLst>
          </p:cNvPr>
          <p:cNvPicPr>
            <a:picLocks xmlns:a="http://schemas.openxmlformats.org/drawingml/2006/main" noChangeAspect="1"/>
          </p:cNvPicPr>
          <p:nvPr/>
        </p:nvPicPr>
        <p:blipFill>
          <a:blip xmlns:r="http://schemas.openxmlformats.org/officeDocument/2006/relationships" xmlns:a="http://schemas.openxmlformats.org/drawingml/2006/main" r:embed="R7a1af1f6fa1e4cc4"/>
          <a:stretch xmlns:a="http://schemas.openxmlformats.org/drawingml/2006/main"/>
        </p:blipFill>
        <p:spPr>
          <a:xfrm xmlns:a="http://schemas.openxmlformats.org/drawingml/2006/main">
            <a:off x="4179094" y="1381125"/>
            <a:ext cx="7215188" cy="4810125"/>
          </a:xfrm>
          <a:prstGeom xmlns:a="http://schemas.openxmlformats.org/drawingml/2006/main" prst="rect">
            <a:avLst/>
          </a:prstGeom>
        </p:spPr>
      </p:pic>
    </p:spTree>
    <p:extLst>
      <p:ext uri="{BB962C8B-B14F-4D97-AF65-F5344CB8AC3E}">
        <p14:creationId xmlns:p14="http://schemas.microsoft.com/office/powerpoint/2010/main" val="2004748423"/>
      </p:ext>
    </p:extLst>
  </p:cSld>
</p:sld>
</file>

<file path=ppt/slides/slide14.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F283A1-F697-41FA-998B-7241A96687DA}"/>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Application status</a:t>
            </a:r>
          </a:p>
        </p:txBody>
      </p:sp>
      <p:sp>
        <p:nvSpPr>
          <p:cNvPr id="2" name="">
            <a:extLst xmlns:a="http://schemas.openxmlformats.org/drawingml/2006/main">
              <a:ext uri="{FF2B5EF4-FFF2-40B4-BE49-F238E27FC236}">
                <a16:creationId xmlns:a16="http://schemas.microsoft.com/office/drawing/2014/main" id="{EC147469-7014-44A7-957D-421DEA15A400}"/>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D96E2F6B-E0BD-4407-94F2-37A16AE73BBF}"/>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14</a:t>
            </a:r>
          </a:p>
        </p:txBody>
      </p:sp>
      <p:sp>
        <p:nvSpPr>
          <p:cNvPr id="4" name="">
            <a:extLst xmlns:a="http://schemas.openxmlformats.org/drawingml/2006/main">
              <a:ext uri="{FF2B5EF4-FFF2-40B4-BE49-F238E27FC236}">
                <a16:creationId xmlns:a16="http://schemas.microsoft.com/office/drawing/2014/main" id="{F871C222-8D9A-43B9-BB40-F1ADA146DC59}"/>
              </a:ext>
            </a:extLst>
          </p:cNvPr>
          <p:cNvSpPr>
            <a:spLocks xmlns:a="http://schemas.openxmlformats.org/drawingml/2006/main" noGrp="1"/>
          </p:cNvSpPr>
          <p:nvPr/>
        </p:nvSpPr>
        <p:spPr>
          <a:xfrm xmlns:a="http://schemas.openxmlformats.org/drawingml/2006/main">
            <a:off x="619125" y="15716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37F73"/>
                </a:solidFill>
                <a:latin typeface="Calibri"/>
                <a:ea typeface="Calibri"/>
                <a:cs typeface="Calibri"/>
              </a:defRPr>
            </a:defPPr>
            <a:lvl1pPr>
              <a:defRPr sz="2325" b="1">
                <a:solidFill>
                  <a:srgbClr val="137F73"/>
                </a:solidFill>
                <a:latin typeface="Calibri"/>
                <a:ea typeface="Calibri"/>
                <a:cs typeface="Calibri"/>
              </a:defRPr>
            </a:lvl1pPr>
            <a:lvl2pPr>
              <a:defRPr sz="2325" b="1">
                <a:solidFill>
                  <a:srgbClr val="137F73"/>
                </a:solidFill>
                <a:latin typeface="Calibri"/>
                <a:ea typeface="Calibri"/>
                <a:cs typeface="Calibri"/>
              </a:defRPr>
            </a:lvl2pPr>
            <a:lvl3pPr>
              <a:defRPr sz="2325" b="1">
                <a:solidFill>
                  <a:srgbClr val="137F73"/>
                </a:solidFill>
                <a:latin typeface="Calibri"/>
                <a:ea typeface="Calibri"/>
                <a:cs typeface="Calibri"/>
              </a:defRPr>
            </a:lvl3pPr>
            <a:lvl4pPr>
              <a:defRPr sz="2325" b="1">
                <a:solidFill>
                  <a:srgbClr val="137F73"/>
                </a:solidFill>
                <a:latin typeface="Calibri"/>
                <a:ea typeface="Calibri"/>
                <a:cs typeface="Calibri"/>
              </a:defRPr>
            </a:lvl4pPr>
            <a:lvl5pPr>
              <a:defRPr sz="2325" b="1">
                <a:solidFill>
                  <a:srgbClr val="137F73"/>
                </a:solidFill>
                <a:latin typeface="Calibri"/>
                <a:ea typeface="Calibri"/>
                <a:cs typeface="Calibri"/>
              </a:defRPr>
            </a:lvl5pPr>
            <a:lvl6pPr>
              <a:defRPr sz="2325" b="1">
                <a:solidFill>
                  <a:srgbClr val="137F73"/>
                </a:solidFill>
                <a:latin typeface="Calibri"/>
                <a:ea typeface="Calibri"/>
                <a:cs typeface="Calibri"/>
              </a:defRPr>
            </a:lvl6pPr>
            <a:lvl7pPr>
              <a:defRPr sz="2325" b="1">
                <a:solidFill>
                  <a:srgbClr val="137F73"/>
                </a:solidFill>
                <a:latin typeface="Calibri"/>
                <a:ea typeface="Calibri"/>
                <a:cs typeface="Calibri"/>
              </a:defRPr>
            </a:lvl7pPr>
            <a:lvl8pPr>
              <a:defRPr sz="2325" b="1">
                <a:solidFill>
                  <a:srgbClr val="137F73"/>
                </a:solidFill>
                <a:latin typeface="Calibri"/>
                <a:ea typeface="Calibri"/>
                <a:cs typeface="Calibri"/>
              </a:defRPr>
            </a:lvl8pPr>
            <a:lvl9pPr>
              <a:defRPr sz="2325" b="1">
                <a:solidFill>
                  <a:srgbClr val="137F73"/>
                </a:solidFill>
                <a:latin typeface="Calibri"/>
                <a:ea typeface="Calibri"/>
                <a:cs typeface="Calibri"/>
              </a:defRPr>
            </a:lvl9pPr>
          </a:lstStyle>
          <a:p xmlns:a="http://schemas.openxmlformats.org/drawingml/2006/main">
            <a:pPr>
              <a:defRPr sz="2325" b="1">
                <a:solidFill>
                  <a:srgbClr val="137F73"/>
                </a:solidFill>
                <a:latin typeface="Calibri"/>
                <a:ea typeface="Calibri"/>
                <a:cs typeface="Calibri"/>
              </a:defRPr>
            </a:pPr>
            <a:r>
              <a:rPr sz="2325" b="1">
                <a:solidFill>
                  <a:srgbClr val="137F73"/>
                </a:solidFill>
                <a:latin typeface="Calibri"/>
                <a:ea typeface="Calibri"/>
                <a:cs typeface="Calibri"/>
              </a:rPr>
              <a:t>Working in the local implementation</a:t>
            </a:r>
          </a:p>
        </p:txBody>
      </p:sp>
      <p:sp>
        <p:nvSpPr>
          <p:cNvPr id="5" name="">
            <a:extLst xmlns:a="http://schemas.openxmlformats.org/drawingml/2006/main">
              <a:ext uri="{FF2B5EF4-FFF2-40B4-BE49-F238E27FC236}">
                <a16:creationId xmlns:a16="http://schemas.microsoft.com/office/drawing/2014/main" id="{2C6F44E4-FCF7-4707-B159-0FD93B2AD7AE}"/>
              </a:ext>
            </a:extLst>
          </p:cNvPr>
          <p:cNvSpPr>
            <a:spLocks xmlns:a="http://schemas.openxmlformats.org/drawingml/2006/main" noGrp="1"/>
          </p:cNvSpPr>
          <p:nvPr/>
        </p:nvSpPr>
        <p:spPr>
          <a:xfrm xmlns:a="http://schemas.openxmlformats.org/drawingml/2006/main">
            <a:off x="619125" y="2209800"/>
            <a:ext cx="51911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34B48"/>
                </a:solidFill>
                <a:latin typeface="Calibri"/>
                <a:ea typeface="Calibri"/>
                <a:cs typeface="Calibri"/>
              </a:defRPr>
            </a:defPPr>
            <a:lvl1pPr>
              <a:defRPr sz="2175" b="0">
                <a:solidFill>
                  <a:srgbClr val="334B48"/>
                </a:solidFill>
                <a:latin typeface="Calibri"/>
                <a:ea typeface="Calibri"/>
                <a:cs typeface="Calibri"/>
              </a:defRPr>
            </a:lvl1pPr>
            <a:lvl2pPr>
              <a:defRPr sz="2175" b="0">
                <a:solidFill>
                  <a:srgbClr val="334B48"/>
                </a:solidFill>
                <a:latin typeface="Calibri"/>
                <a:ea typeface="Calibri"/>
                <a:cs typeface="Calibri"/>
              </a:defRPr>
            </a:lvl2pPr>
            <a:lvl3pPr>
              <a:defRPr sz="2175" b="0">
                <a:solidFill>
                  <a:srgbClr val="334B48"/>
                </a:solidFill>
                <a:latin typeface="Calibri"/>
                <a:ea typeface="Calibri"/>
                <a:cs typeface="Calibri"/>
              </a:defRPr>
            </a:lvl3pPr>
            <a:lvl4pPr>
              <a:defRPr sz="2175" b="0">
                <a:solidFill>
                  <a:srgbClr val="334B48"/>
                </a:solidFill>
                <a:latin typeface="Calibri"/>
                <a:ea typeface="Calibri"/>
                <a:cs typeface="Calibri"/>
              </a:defRPr>
            </a:lvl4pPr>
            <a:lvl5pPr>
              <a:defRPr sz="2175" b="0">
                <a:solidFill>
                  <a:srgbClr val="334B48"/>
                </a:solidFill>
                <a:latin typeface="Calibri"/>
                <a:ea typeface="Calibri"/>
                <a:cs typeface="Calibri"/>
              </a:defRPr>
            </a:lvl5pPr>
            <a:lvl6pPr>
              <a:defRPr sz="2175" b="0">
                <a:solidFill>
                  <a:srgbClr val="334B48"/>
                </a:solidFill>
                <a:latin typeface="Calibri"/>
                <a:ea typeface="Calibri"/>
                <a:cs typeface="Calibri"/>
              </a:defRPr>
            </a:lvl6pPr>
            <a:lvl7pPr>
              <a:defRPr sz="2175" b="0">
                <a:solidFill>
                  <a:srgbClr val="334B48"/>
                </a:solidFill>
                <a:latin typeface="Calibri"/>
                <a:ea typeface="Calibri"/>
                <a:cs typeface="Calibri"/>
              </a:defRPr>
            </a:lvl7pPr>
            <a:lvl8pPr>
              <a:defRPr sz="2175" b="0">
                <a:solidFill>
                  <a:srgbClr val="334B48"/>
                </a:solidFill>
                <a:latin typeface="Calibri"/>
                <a:ea typeface="Calibri"/>
                <a:cs typeface="Calibri"/>
              </a:defRPr>
            </a:lvl8pPr>
            <a:lvl9pPr>
              <a:defRPr sz="2175" b="0">
                <a:solidFill>
                  <a:srgbClr val="334B48"/>
                </a:solidFill>
                <a:latin typeface="Calibri"/>
                <a:ea typeface="Calibri"/>
                <a:cs typeface="Calibri"/>
              </a:defRPr>
            </a:lvl9pPr>
          </a:lstStyle>
          <a:p xmlns:a="http://schemas.openxmlformats.org/drawingml/2006/main">
            <a:pPr>
              <a:defRPr sz="2175" b="0">
                <a:solidFill>
                  <a:srgbClr val="334B48"/>
                </a:solidFill>
                <a:latin typeface="Calibri"/>
                <a:ea typeface="Calibri"/>
                <a:cs typeface="Calibri"/>
              </a:defRPr>
            </a:pPr>
            <a:r>
              <a:rPr sz="2175" b="0">
                <a:solidFill>
                  <a:srgbClr val="334B48"/>
                </a:solidFill>
                <a:latin typeface="Calibri"/>
                <a:ea typeface="Calibri"/>
                <a:cs typeface="Calibri"/>
              </a:rPr>
              <a:t>Profiles and consent</a:t>
            </a:r>
          </a:p>
          <a:p xmlns:a="http://schemas.openxmlformats.org/drawingml/2006/main">
            <a:pPr>
              <a:defRPr sz="2175" b="0">
                <a:solidFill>
                  <a:srgbClr val="334B48"/>
                </a:solidFill>
                <a:latin typeface="Calibri"/>
                <a:ea typeface="Calibri"/>
                <a:cs typeface="Calibri"/>
              </a:defRPr>
            </a:pPr>
            <a:r>
              <a:rPr sz="2175" b="0">
                <a:solidFill>
                  <a:srgbClr val="334B48"/>
                </a:solidFill>
                <a:latin typeface="Calibri"/>
                <a:ea typeface="Calibri"/>
                <a:cs typeface="Calibri"/>
              </a:rPr>
              <a:t>Recruitment and applications</a:t>
            </a:r>
          </a:p>
          <a:p xmlns:a="http://schemas.openxmlformats.org/drawingml/2006/main">
            <a:pPr>
              <a:defRPr sz="2175" b="0">
                <a:solidFill>
                  <a:srgbClr val="334B48"/>
                </a:solidFill>
                <a:latin typeface="Calibri"/>
                <a:ea typeface="Calibri"/>
                <a:cs typeface="Calibri"/>
              </a:defRPr>
            </a:pPr>
            <a:r>
              <a:rPr sz="2175" b="0">
                <a:solidFill>
                  <a:srgbClr val="334B48"/>
                </a:solidFill>
                <a:latin typeface="Calibri"/>
                <a:ea typeface="Calibri"/>
                <a:cs typeface="Calibri"/>
              </a:rPr>
              <a:t>Contracts and joining</a:t>
            </a:r>
          </a:p>
          <a:p xmlns:a="http://schemas.openxmlformats.org/drawingml/2006/main">
            <a:pPr>
              <a:defRPr sz="2175" b="0">
                <a:solidFill>
                  <a:srgbClr val="334B48"/>
                </a:solidFill>
                <a:latin typeface="Calibri"/>
                <a:ea typeface="Calibri"/>
                <a:cs typeface="Calibri"/>
              </a:defRPr>
            </a:pPr>
            <a:r>
              <a:rPr sz="2175" b="0">
                <a:solidFill>
                  <a:srgbClr val="334B48"/>
                </a:solidFill>
                <a:latin typeface="Calibri"/>
                <a:ea typeface="Calibri"/>
                <a:cs typeface="Calibri"/>
              </a:rPr>
              <a:t>Agency operational reviews</a:t>
            </a:r>
          </a:p>
          <a:p xmlns:a="http://schemas.openxmlformats.org/drawingml/2006/main">
            <a:pPr>
              <a:defRPr sz="2175" b="0">
                <a:solidFill>
                  <a:srgbClr val="334B48"/>
                </a:solidFill>
                <a:latin typeface="Calibri"/>
                <a:ea typeface="Calibri"/>
                <a:cs typeface="Calibri"/>
              </a:defRPr>
            </a:pPr>
            <a:r>
              <a:rPr sz="2175" b="0">
                <a:solidFill>
                  <a:srgbClr val="334B48"/>
                </a:solidFill>
                <a:latin typeface="Calibri"/>
                <a:ea typeface="Calibri"/>
                <a:cs typeface="Calibri"/>
              </a:rPr>
              <a:t>Core JSON endpoints</a:t>
            </a:r>
          </a:p>
        </p:txBody>
      </p:sp>
      <p:sp>
        <p:nvSpPr>
          <p:cNvPr id="6" name="">
            <a:extLst xmlns:a="http://schemas.openxmlformats.org/drawingml/2006/main">
              <a:ext uri="{FF2B5EF4-FFF2-40B4-BE49-F238E27FC236}">
                <a16:creationId xmlns:a16="http://schemas.microsoft.com/office/drawing/2014/main" id="{E18B1DF7-C1AA-4974-B509-0BB7C6D137CB}"/>
              </a:ext>
            </a:extLst>
          </p:cNvPr>
          <p:cNvSpPr>
            <a:spLocks xmlns:a="http://schemas.openxmlformats.org/drawingml/2006/main" noGrp="1"/>
          </p:cNvSpPr>
          <p:nvPr/>
        </p:nvSpPr>
        <p:spPr>
          <a:xfrm xmlns:a="http://schemas.openxmlformats.org/drawingml/2006/main">
            <a:off x="6286500" y="1571625"/>
            <a:ext cx="528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53D38"/>
                </a:solidFill>
                <a:latin typeface="Calibri"/>
                <a:ea typeface="Calibri"/>
                <a:cs typeface="Calibri"/>
              </a:defRPr>
            </a:defPPr>
            <a:lvl1pPr>
              <a:defRPr sz="2325" b="1">
                <a:solidFill>
                  <a:srgbClr val="153D38"/>
                </a:solidFill>
                <a:latin typeface="Calibri"/>
                <a:ea typeface="Calibri"/>
                <a:cs typeface="Calibri"/>
              </a:defRPr>
            </a:lvl1pPr>
            <a:lvl2pPr>
              <a:defRPr sz="2325" b="1">
                <a:solidFill>
                  <a:srgbClr val="153D38"/>
                </a:solidFill>
                <a:latin typeface="Calibri"/>
                <a:ea typeface="Calibri"/>
                <a:cs typeface="Calibri"/>
              </a:defRPr>
            </a:lvl2pPr>
            <a:lvl3pPr>
              <a:defRPr sz="2325" b="1">
                <a:solidFill>
                  <a:srgbClr val="153D38"/>
                </a:solidFill>
                <a:latin typeface="Calibri"/>
                <a:ea typeface="Calibri"/>
                <a:cs typeface="Calibri"/>
              </a:defRPr>
            </a:lvl3pPr>
            <a:lvl4pPr>
              <a:defRPr sz="2325" b="1">
                <a:solidFill>
                  <a:srgbClr val="153D38"/>
                </a:solidFill>
                <a:latin typeface="Calibri"/>
                <a:ea typeface="Calibri"/>
                <a:cs typeface="Calibri"/>
              </a:defRPr>
            </a:lvl4pPr>
            <a:lvl5pPr>
              <a:defRPr sz="2325" b="1">
                <a:solidFill>
                  <a:srgbClr val="153D38"/>
                </a:solidFill>
                <a:latin typeface="Calibri"/>
                <a:ea typeface="Calibri"/>
                <a:cs typeface="Calibri"/>
              </a:defRPr>
            </a:lvl5pPr>
            <a:lvl6pPr>
              <a:defRPr sz="2325" b="1">
                <a:solidFill>
                  <a:srgbClr val="153D38"/>
                </a:solidFill>
                <a:latin typeface="Calibri"/>
                <a:ea typeface="Calibri"/>
                <a:cs typeface="Calibri"/>
              </a:defRPr>
            </a:lvl6pPr>
            <a:lvl7pPr>
              <a:defRPr sz="2325" b="1">
                <a:solidFill>
                  <a:srgbClr val="153D38"/>
                </a:solidFill>
                <a:latin typeface="Calibri"/>
                <a:ea typeface="Calibri"/>
                <a:cs typeface="Calibri"/>
              </a:defRPr>
            </a:lvl7pPr>
            <a:lvl8pPr>
              <a:defRPr sz="2325" b="1">
                <a:solidFill>
                  <a:srgbClr val="153D38"/>
                </a:solidFill>
                <a:latin typeface="Calibri"/>
                <a:ea typeface="Calibri"/>
                <a:cs typeface="Calibri"/>
              </a:defRPr>
            </a:lvl8pPr>
            <a:lvl9pPr>
              <a:defRPr sz="2325" b="1">
                <a:solidFill>
                  <a:srgbClr val="153D38"/>
                </a:solidFill>
                <a:latin typeface="Calibri"/>
                <a:ea typeface="Calibri"/>
                <a:cs typeface="Calibri"/>
              </a:defRPr>
            </a:lvl9pPr>
          </a:lstStyle>
          <a:p xmlns:a="http://schemas.openxmlformats.org/drawingml/2006/main">
            <a:pPr>
              <a:defRPr sz="2325" b="1">
                <a:solidFill>
                  <a:srgbClr val="153D38"/>
                </a:solidFill>
                <a:latin typeface="Calibri"/>
                <a:ea typeface="Calibri"/>
                <a:cs typeface="Calibri"/>
              </a:defRPr>
            </a:pPr>
            <a:r>
              <a:rPr sz="2325" b="1">
                <a:solidFill>
                  <a:srgbClr val="153D38"/>
                </a:solidFill>
                <a:latin typeface="Calibri"/>
                <a:ea typeface="Calibri"/>
                <a:cs typeface="Calibri"/>
              </a:rPr>
              <a:t>Remaining before commercial launch</a:t>
            </a:r>
          </a:p>
        </p:txBody>
      </p:sp>
      <p:sp>
        <p:nvSpPr>
          <p:cNvPr id="7" name="">
            <a:extLst xmlns:a="http://schemas.openxmlformats.org/drawingml/2006/main">
              <a:ext uri="{FF2B5EF4-FFF2-40B4-BE49-F238E27FC236}">
                <a16:creationId xmlns:a16="http://schemas.microsoft.com/office/drawing/2014/main" id="{69207BAD-D73C-4113-860F-29DFBC31DEF8}"/>
              </a:ext>
            </a:extLst>
          </p:cNvPr>
          <p:cNvSpPr>
            <a:spLocks xmlns:a="http://schemas.openxmlformats.org/drawingml/2006/main" noGrp="1"/>
          </p:cNvSpPr>
          <p:nvPr/>
        </p:nvSpPr>
        <p:spPr>
          <a:xfrm xmlns:a="http://schemas.openxmlformats.org/drawingml/2006/main">
            <a:off x="6286500" y="2209800"/>
            <a:ext cx="5286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34B48"/>
                </a:solidFill>
                <a:latin typeface="Calibri"/>
                <a:ea typeface="Calibri"/>
                <a:cs typeface="Calibri"/>
              </a:defRPr>
            </a:defPPr>
            <a:lvl1pPr>
              <a:defRPr sz="2100" b="0">
                <a:solidFill>
                  <a:srgbClr val="334B48"/>
                </a:solidFill>
                <a:latin typeface="Calibri"/>
                <a:ea typeface="Calibri"/>
                <a:cs typeface="Calibri"/>
              </a:defRPr>
            </a:lvl1pPr>
            <a:lvl2pPr>
              <a:defRPr sz="2100" b="0">
                <a:solidFill>
                  <a:srgbClr val="334B48"/>
                </a:solidFill>
                <a:latin typeface="Calibri"/>
                <a:ea typeface="Calibri"/>
                <a:cs typeface="Calibri"/>
              </a:defRPr>
            </a:lvl2pPr>
            <a:lvl3pPr>
              <a:defRPr sz="2100" b="0">
                <a:solidFill>
                  <a:srgbClr val="334B48"/>
                </a:solidFill>
                <a:latin typeface="Calibri"/>
                <a:ea typeface="Calibri"/>
                <a:cs typeface="Calibri"/>
              </a:defRPr>
            </a:lvl3pPr>
            <a:lvl4pPr>
              <a:defRPr sz="2100" b="0">
                <a:solidFill>
                  <a:srgbClr val="334B48"/>
                </a:solidFill>
                <a:latin typeface="Calibri"/>
                <a:ea typeface="Calibri"/>
                <a:cs typeface="Calibri"/>
              </a:defRPr>
            </a:lvl4pPr>
            <a:lvl5pPr>
              <a:defRPr sz="2100" b="0">
                <a:solidFill>
                  <a:srgbClr val="334B48"/>
                </a:solidFill>
                <a:latin typeface="Calibri"/>
                <a:ea typeface="Calibri"/>
                <a:cs typeface="Calibri"/>
              </a:defRPr>
            </a:lvl5pPr>
            <a:lvl6pPr>
              <a:defRPr sz="2100" b="0">
                <a:solidFill>
                  <a:srgbClr val="334B48"/>
                </a:solidFill>
                <a:latin typeface="Calibri"/>
                <a:ea typeface="Calibri"/>
                <a:cs typeface="Calibri"/>
              </a:defRPr>
            </a:lvl6pPr>
            <a:lvl7pPr>
              <a:defRPr sz="2100" b="0">
                <a:solidFill>
                  <a:srgbClr val="334B48"/>
                </a:solidFill>
                <a:latin typeface="Calibri"/>
                <a:ea typeface="Calibri"/>
                <a:cs typeface="Calibri"/>
              </a:defRPr>
            </a:lvl7pPr>
            <a:lvl8pPr>
              <a:defRPr sz="2100" b="0">
                <a:solidFill>
                  <a:srgbClr val="334B48"/>
                </a:solidFill>
                <a:latin typeface="Calibri"/>
                <a:ea typeface="Calibri"/>
                <a:cs typeface="Calibri"/>
              </a:defRPr>
            </a:lvl8pPr>
            <a:lvl9pPr>
              <a:defRPr sz="2100" b="0">
                <a:solidFill>
                  <a:srgbClr val="334B48"/>
                </a:solidFill>
                <a:latin typeface="Calibri"/>
                <a:ea typeface="Calibri"/>
                <a:cs typeface="Calibri"/>
              </a:defRPr>
            </a:lvl9pPr>
          </a:lstStyle>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Production email and privileged MFA</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Subscription billing and tax handling</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Native mobile authentication and apps</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Private files and retention workflows</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Deployment, recovery and security review</a:t>
            </a:r>
          </a:p>
        </p:txBody>
      </p:sp>
      <p:sp>
        <p:nvSpPr>
          <p:cNvPr id="8" name="">
            <a:extLst xmlns:a="http://schemas.openxmlformats.org/drawingml/2006/main">
              <a:ext uri="{FF2B5EF4-FFF2-40B4-BE49-F238E27FC236}">
                <a16:creationId xmlns:a16="http://schemas.microsoft.com/office/drawing/2014/main" id="{D699EFEA-3D8D-4400-A3C4-E09B0C950A91}"/>
              </a:ext>
            </a:extLst>
          </p:cNvPr>
          <p:cNvSpPr>
            <a:spLocks xmlns:a="http://schemas.openxmlformats.org/drawingml/2006/main" noGrp="1"/>
          </p:cNvSpPr>
          <p:nvPr/>
        </p:nvSpPr>
        <p:spPr>
          <a:xfrm xmlns:a="http://schemas.openxmlformats.org/drawingml/2006/main">
            <a:off x="619125" y="56197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37F73"/>
                </a:solidFill>
                <a:latin typeface="Calibri"/>
                <a:ea typeface="Calibri"/>
                <a:cs typeface="Calibri"/>
              </a:defRPr>
            </a:defPPr>
            <a:lvl1pPr>
              <a:defRPr sz="1875" b="1">
                <a:solidFill>
                  <a:srgbClr val="137F73"/>
                </a:solidFill>
                <a:latin typeface="Calibri"/>
                <a:ea typeface="Calibri"/>
                <a:cs typeface="Calibri"/>
              </a:defRPr>
            </a:lvl1pPr>
            <a:lvl2pPr>
              <a:defRPr sz="1875" b="1">
                <a:solidFill>
                  <a:srgbClr val="137F73"/>
                </a:solidFill>
                <a:latin typeface="Calibri"/>
                <a:ea typeface="Calibri"/>
                <a:cs typeface="Calibri"/>
              </a:defRPr>
            </a:lvl2pPr>
            <a:lvl3pPr>
              <a:defRPr sz="1875" b="1">
                <a:solidFill>
                  <a:srgbClr val="137F73"/>
                </a:solidFill>
                <a:latin typeface="Calibri"/>
                <a:ea typeface="Calibri"/>
                <a:cs typeface="Calibri"/>
              </a:defRPr>
            </a:lvl3pPr>
            <a:lvl4pPr>
              <a:defRPr sz="1875" b="1">
                <a:solidFill>
                  <a:srgbClr val="137F73"/>
                </a:solidFill>
                <a:latin typeface="Calibri"/>
                <a:ea typeface="Calibri"/>
                <a:cs typeface="Calibri"/>
              </a:defRPr>
            </a:lvl4pPr>
            <a:lvl5pPr>
              <a:defRPr sz="1875" b="1">
                <a:solidFill>
                  <a:srgbClr val="137F73"/>
                </a:solidFill>
                <a:latin typeface="Calibri"/>
                <a:ea typeface="Calibri"/>
                <a:cs typeface="Calibri"/>
              </a:defRPr>
            </a:lvl5pPr>
            <a:lvl6pPr>
              <a:defRPr sz="1875" b="1">
                <a:solidFill>
                  <a:srgbClr val="137F73"/>
                </a:solidFill>
                <a:latin typeface="Calibri"/>
                <a:ea typeface="Calibri"/>
                <a:cs typeface="Calibri"/>
              </a:defRPr>
            </a:lvl6pPr>
            <a:lvl7pPr>
              <a:defRPr sz="1875" b="1">
                <a:solidFill>
                  <a:srgbClr val="137F73"/>
                </a:solidFill>
                <a:latin typeface="Calibri"/>
                <a:ea typeface="Calibri"/>
                <a:cs typeface="Calibri"/>
              </a:defRPr>
            </a:lvl7pPr>
            <a:lvl8pPr>
              <a:defRPr sz="1875" b="1">
                <a:solidFill>
                  <a:srgbClr val="137F73"/>
                </a:solidFill>
                <a:latin typeface="Calibri"/>
                <a:ea typeface="Calibri"/>
                <a:cs typeface="Calibri"/>
              </a:defRPr>
            </a:lvl8pPr>
            <a:lvl9pPr>
              <a:defRPr sz="1875" b="1">
                <a:solidFill>
                  <a:srgbClr val="137F73"/>
                </a:solidFill>
                <a:latin typeface="Calibri"/>
                <a:ea typeface="Calibri"/>
                <a:cs typeface="Calibri"/>
              </a:defRPr>
            </a:lvl9pPr>
          </a:lstStyle>
          <a:p xmlns:a="http://schemas.openxmlformats.org/drawingml/2006/main">
            <a:pPr>
              <a:defRPr sz="1875" b="1">
                <a:solidFill>
                  <a:srgbClr val="137F73"/>
                </a:solidFill>
                <a:latin typeface="Calibri"/>
                <a:ea typeface="Calibri"/>
                <a:cs typeface="Calibri"/>
              </a:defRPr>
            </a:pPr>
            <a:r>
              <a:rPr sz="1875" b="1">
                <a:solidFill>
                  <a:srgbClr val="137F73"/>
                </a:solidFill>
                <a:latin typeface="Calibri"/>
                <a:ea typeface="Calibri"/>
                <a:cs typeface="Calibri"/>
              </a:rPr>
              <a:t>Verification baseline: 30 automated tests and 108 assertions passed</a:t>
            </a:r>
          </a:p>
        </p:txBody>
      </p:sp>
    </p:spTree>
    <p:extLst>
      <p:ext uri="{BB962C8B-B14F-4D97-AF65-F5344CB8AC3E}">
        <p14:creationId xmlns:p14="http://schemas.microsoft.com/office/powerpoint/2010/main" val="841667778"/>
      </p:ext>
    </p:extLst>
  </p:cSld>
</p:sld>
</file>

<file path=ppt/slides/slide15.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49A5AA-2E81-4F90-8BF8-A7F6EAC07735}"/>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Development staging and production</a:t>
            </a:r>
          </a:p>
        </p:txBody>
      </p:sp>
      <p:sp>
        <p:nvSpPr>
          <p:cNvPr id="2" name="">
            <a:extLst xmlns:a="http://schemas.openxmlformats.org/drawingml/2006/main">
              <a:ext uri="{FF2B5EF4-FFF2-40B4-BE49-F238E27FC236}">
                <a16:creationId xmlns:a16="http://schemas.microsoft.com/office/drawing/2014/main" id="{DF4DBE72-C35D-426F-8FEC-79ECC6EE73B7}"/>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21C59E1E-0982-408C-A42E-9BA48BCD3C44}"/>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15</a:t>
            </a:r>
          </a:p>
        </p:txBody>
      </p:sp>
      <p:graphicFrame>
        <p:nvGraphicFramePr>
          <p:cNvPr id="4" name="">
            <a:extLst xmlns:a="http://schemas.openxmlformats.org/drawingml/2006/main">
              <a:ext uri="{FF2B5EF4-FFF2-40B4-BE49-F238E27FC236}">
                <a16:creationId xmlns:a16="http://schemas.microsoft.com/office/drawing/2014/main" id="{0CE80EC5-728A-42DC-A5E0-EA490A78612C}"/>
              </a:ext>
            </a:extLst>
          </p:cNvPr>
          <p:cNvGraphicFramePr/>
          <p:nvPr/>
        </p:nvGraphicFramePr>
        <p:xfrm>
          <a:off xmlns:a="http://schemas.openxmlformats.org/drawingml/2006/main" x="619125" y="1762125"/>
          <a:ext xmlns:a="http://schemas.openxmlformats.org/drawingml/2006/main" cx="10953750" cy="3143250"/>
        </p:xfrm>
        <a:graphic xmlns:a="http://schemas.openxmlformats.org/drawingml/2006/main">
          <a:graphicData uri="http://schemas.openxmlformats.org/drawingml/2006/table">
            <a:tbl>
              <a:tblPr/>
              <a:tblGrid>
                <a:gridCol w="2476500"/>
                <a:gridCol w="3333750"/>
                <a:gridCol w="5143500"/>
              </a:tblGrid>
              <a:tr h="785813">
                <a:tc>
                  <a:txBody>
                    <a:bodyPr/>
                    <a:lstStyle/>
                    <a:p>
                      <a:r>
                        <a:rPr sz="1875" b="1">
                          <a:solidFill>
                            <a:srgbClr val="FFFFFF"/>
                          </a:solidFill>
                          <a:latin typeface="Calibri"/>
                          <a:ea typeface="Calibri"/>
                          <a:cs typeface="Calibri"/>
                        </a:rPr>
                        <a:t>Environment</a:t>
                      </a:r>
                    </a:p>
                  </a:txBody>
                  <a:tcPr marL="91440" marR="91440" marT="45720" marB="45720">
                    <a:lnL w="9525">
                      <a:solidFill>
                        <a:srgbClr val="CEDAD2"/>
                      </a:solidFill>
                      <a:prstDash val="solid"/>
                    </a:lnL>
                    <a:lnR w="9525">
                      <a:solidFill>
                        <a:srgbClr val="CEDAD2"/>
                      </a:solidFill>
                      <a:prstDash val="solid"/>
                    </a:lnR>
                    <a:lnT w="9525">
                      <a:solidFill>
                        <a:srgbClr val="CEDAD2"/>
                      </a:solidFill>
                      <a:prstDash val="solid"/>
                    </a:lnT>
                    <a:lnB w="9525">
                      <a:solidFill>
                        <a:srgbClr val="CEDAD2"/>
                      </a:solidFill>
                      <a:prstDash val="solid"/>
                    </a:lnB>
                    <a:solidFill>
                      <a:srgbClr val="153D38"/>
                    </a:solidFill>
                  </a:tcPr>
                </a:tc>
                <a:tc>
                  <a:txBody>
                    <a:bodyPr/>
                    <a:lstStyle/>
                    <a:p>
                      <a:r>
                        <a:rPr sz="1875" b="1">
                          <a:solidFill>
                            <a:srgbClr val="FFFFFF"/>
                          </a:solidFill>
                          <a:latin typeface="Calibri"/>
                          <a:ea typeface="Calibri"/>
                          <a:cs typeface="Calibri"/>
                        </a:rPr>
                        <a:t>Purpose</a:t>
                      </a:r>
                    </a:p>
                  </a:txBody>
                  <a:tcPr marL="91440" marR="91440" marT="45720" marB="45720">
                    <a:lnR w="9525">
                      <a:solidFill>
                        <a:srgbClr val="CEDAD2"/>
                      </a:solidFill>
                      <a:prstDash val="solid"/>
                    </a:lnR>
                    <a:lnT w="9525">
                      <a:solidFill>
                        <a:srgbClr val="CEDAD2"/>
                      </a:solidFill>
                      <a:prstDash val="solid"/>
                    </a:lnT>
                    <a:lnB w="9525">
                      <a:solidFill>
                        <a:srgbClr val="CEDAD2"/>
                      </a:solidFill>
                      <a:prstDash val="solid"/>
                    </a:lnB>
                    <a:solidFill>
                      <a:srgbClr val="153D38"/>
                    </a:solidFill>
                  </a:tcPr>
                </a:tc>
                <a:tc>
                  <a:txBody>
                    <a:bodyPr/>
                    <a:lstStyle/>
                    <a:p>
                      <a:r>
                        <a:rPr sz="1875" b="1">
                          <a:solidFill>
                            <a:srgbClr val="FFFFFF"/>
                          </a:solidFill>
                          <a:latin typeface="Calibri"/>
                          <a:ea typeface="Calibri"/>
                          <a:cs typeface="Calibri"/>
                        </a:rPr>
                        <a:t>Data and release controls</a:t>
                      </a:r>
                    </a:p>
                  </a:txBody>
                  <a:tcPr marL="91440" marR="91440" marT="45720" marB="45720">
                    <a:lnR w="9525">
                      <a:solidFill>
                        <a:srgbClr val="CEDAD2"/>
                      </a:solidFill>
                      <a:prstDash val="solid"/>
                    </a:lnR>
                    <a:lnT w="9525">
                      <a:solidFill>
                        <a:srgbClr val="CEDAD2"/>
                      </a:solidFill>
                      <a:prstDash val="solid"/>
                    </a:lnT>
                    <a:lnB w="9525">
                      <a:solidFill>
                        <a:srgbClr val="CEDAD2"/>
                      </a:solidFill>
                      <a:prstDash val="solid"/>
                    </a:lnB>
                    <a:solidFill>
                      <a:srgbClr val="153D38"/>
                    </a:solidFill>
                  </a:tcPr>
                </a:tc>
              </a:tr>
              <a:tr h="785813">
                <a:tc>
                  <a:txBody>
                    <a:bodyPr/>
                    <a:lstStyle/>
                    <a:p>
                      <a:r>
                        <a:rPr sz="1875" b="0">
                          <a:solidFill>
                            <a:srgbClr val="334B48"/>
                          </a:solidFill>
                          <a:latin typeface="Calibri"/>
                          <a:ea typeface="Calibri"/>
                          <a:cs typeface="Calibri"/>
                        </a:rPr>
                        <a:t>Development</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FFFFFF"/>
                    </a:solidFill>
                  </a:tcPr>
                </a:tc>
                <a:tc>
                  <a:txBody>
                    <a:bodyPr/>
                    <a:lstStyle/>
                    <a:p>
                      <a:r>
                        <a:rPr sz="1875" b="0">
                          <a:solidFill>
                            <a:srgbClr val="334B48"/>
                          </a:solidFill>
                          <a:latin typeface="Calibri"/>
                          <a:ea typeface="Calibri"/>
                          <a:cs typeface="Calibri"/>
                        </a:rPr>
                        <a:t>Build features locally</a:t>
                      </a:r>
                    </a:p>
                  </a:txBody>
                  <a:tcPr marL="91440" marR="91440" marT="45720" marB="45720">
                    <a:lnR w="9525">
                      <a:solidFill>
                        <a:srgbClr val="CEDAD2"/>
                      </a:solidFill>
                      <a:prstDash val="solid"/>
                    </a:lnR>
                    <a:lnB w="9525">
                      <a:solidFill>
                        <a:srgbClr val="CEDAD2"/>
                      </a:solidFill>
                      <a:prstDash val="solid"/>
                    </a:lnB>
                    <a:solidFill>
                      <a:srgbClr val="FFFFFF"/>
                    </a:solidFill>
                  </a:tcPr>
                </a:tc>
                <a:tc>
                  <a:txBody>
                    <a:bodyPr/>
                    <a:lstStyle/>
                    <a:p>
                      <a:r>
                        <a:rPr sz="1875" b="0">
                          <a:solidFill>
                            <a:srgbClr val="334B48"/>
                          </a:solidFill>
                          <a:latin typeface="Calibri"/>
                          <a:ea typeface="Calibri"/>
                          <a:cs typeface="Calibri"/>
                        </a:rPr>
                        <a:t>Fictional records and isolated test database</a:t>
                      </a:r>
                    </a:p>
                  </a:txBody>
                  <a:tcPr marL="91440" marR="91440" marT="45720" marB="45720">
                    <a:lnR w="9525">
                      <a:solidFill>
                        <a:srgbClr val="CEDAD2"/>
                      </a:solidFill>
                      <a:prstDash val="solid"/>
                    </a:lnR>
                    <a:lnB w="9525">
                      <a:solidFill>
                        <a:srgbClr val="CEDAD2"/>
                      </a:solidFill>
                      <a:prstDash val="solid"/>
                    </a:lnB>
                    <a:solidFill>
                      <a:srgbClr val="FFFFFF"/>
                    </a:solidFill>
                  </a:tcPr>
                </a:tc>
              </a:tr>
              <a:tr h="785813">
                <a:tc>
                  <a:txBody>
                    <a:bodyPr/>
                    <a:lstStyle/>
                    <a:p>
                      <a:r>
                        <a:rPr sz="1875" b="0">
                          <a:solidFill>
                            <a:srgbClr val="334B48"/>
                          </a:solidFill>
                          <a:latin typeface="Calibri"/>
                          <a:ea typeface="Calibri"/>
                          <a:cs typeface="Calibri"/>
                        </a:rPr>
                        <a:t>Staging</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EDF2E9"/>
                    </a:solidFill>
                  </a:tcPr>
                </a:tc>
                <a:tc>
                  <a:txBody>
                    <a:bodyPr/>
                    <a:lstStyle/>
                    <a:p>
                      <a:r>
                        <a:rPr sz="1875" b="0">
                          <a:solidFill>
                            <a:srgbClr val="334B48"/>
                          </a:solidFill>
                          <a:latin typeface="Calibri"/>
                          <a:ea typeface="Calibri"/>
                          <a:cs typeface="Calibri"/>
                        </a:rPr>
                        <a:t>Review a release online</a:t>
                      </a:r>
                    </a:p>
                  </a:txBody>
                  <a:tcPr marL="91440" marR="91440" marT="45720" marB="45720">
                    <a:lnR w="9525">
                      <a:solidFill>
                        <a:srgbClr val="CEDAD2"/>
                      </a:solidFill>
                      <a:prstDash val="solid"/>
                    </a:lnR>
                    <a:lnB w="9525">
                      <a:solidFill>
                        <a:srgbClr val="CEDAD2"/>
                      </a:solidFill>
                      <a:prstDash val="solid"/>
                    </a:lnB>
                    <a:solidFill>
                      <a:srgbClr val="EDF2E9"/>
                    </a:solidFill>
                  </a:tcPr>
                </a:tc>
                <a:tc>
                  <a:txBody>
                    <a:bodyPr/>
                    <a:lstStyle/>
                    <a:p>
                      <a:r>
                        <a:rPr sz="1875" b="0">
                          <a:solidFill>
                            <a:srgbClr val="334B48"/>
                          </a:solidFill>
                          <a:latin typeface="Calibri"/>
                          <a:ea typeface="Calibri"/>
                          <a:cs typeface="Calibri"/>
                        </a:rPr>
                        <a:t>Separate server, test payments, named reviewers</a:t>
                      </a:r>
                    </a:p>
                  </a:txBody>
                  <a:tcPr marL="91440" marR="91440" marT="45720" marB="45720">
                    <a:lnR w="9525">
                      <a:solidFill>
                        <a:srgbClr val="CEDAD2"/>
                      </a:solidFill>
                      <a:prstDash val="solid"/>
                    </a:lnR>
                    <a:lnB w="9525">
                      <a:solidFill>
                        <a:srgbClr val="CEDAD2"/>
                      </a:solidFill>
                      <a:prstDash val="solid"/>
                    </a:lnB>
                    <a:solidFill>
                      <a:srgbClr val="EDF2E9"/>
                    </a:solidFill>
                  </a:tcPr>
                </a:tc>
              </a:tr>
              <a:tr h="785813">
                <a:tc>
                  <a:txBody>
                    <a:bodyPr/>
                    <a:lstStyle/>
                    <a:p>
                      <a:r>
                        <a:rPr sz="1875" b="0">
                          <a:solidFill>
                            <a:srgbClr val="334B48"/>
                          </a:solidFill>
                          <a:latin typeface="Calibri"/>
                          <a:ea typeface="Calibri"/>
                          <a:cs typeface="Calibri"/>
                        </a:rPr>
                        <a:t>Production</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FFFFFF"/>
                    </a:solidFill>
                  </a:tcPr>
                </a:tc>
                <a:tc>
                  <a:txBody>
                    <a:bodyPr/>
                    <a:lstStyle/>
                    <a:p>
                      <a:r>
                        <a:rPr sz="1875" b="0">
                          <a:solidFill>
                            <a:srgbClr val="334B48"/>
                          </a:solidFill>
                          <a:latin typeface="Calibri"/>
                          <a:ea typeface="Calibri"/>
                          <a:cs typeface="Calibri"/>
                        </a:rPr>
                        <a:t>Serve live customers</a:t>
                      </a:r>
                    </a:p>
                  </a:txBody>
                  <a:tcPr marL="91440" marR="91440" marT="45720" marB="45720">
                    <a:lnR w="9525">
                      <a:solidFill>
                        <a:srgbClr val="CEDAD2"/>
                      </a:solidFill>
                      <a:prstDash val="solid"/>
                    </a:lnR>
                    <a:lnB w="9525">
                      <a:solidFill>
                        <a:srgbClr val="CEDAD2"/>
                      </a:solidFill>
                      <a:prstDash val="solid"/>
                    </a:lnB>
                    <a:solidFill>
                      <a:srgbClr val="FFFFFF"/>
                    </a:solidFill>
                  </a:tcPr>
                </a:tc>
                <a:tc>
                  <a:txBody>
                    <a:bodyPr/>
                    <a:lstStyle/>
                    <a:p>
                      <a:r>
                        <a:rPr sz="1875" b="0">
                          <a:solidFill>
                            <a:srgbClr val="334B48"/>
                          </a:solidFill>
                          <a:latin typeface="Calibri"/>
                          <a:ea typeface="Calibri"/>
                          <a:cs typeface="Calibri"/>
                        </a:rPr>
                        <a:t>Separate secrets, backups and approval gate</a:t>
                      </a:r>
                    </a:p>
                  </a:txBody>
                  <a:tcPr marL="91440" marR="91440" marT="45720" marB="45720">
                    <a:lnR w="9525">
                      <a:solidFill>
                        <a:srgbClr val="CEDAD2"/>
                      </a:solidFill>
                      <a:prstDash val="solid"/>
                    </a:lnR>
                    <a:lnB w="9525">
                      <a:solidFill>
                        <a:srgbClr val="CEDAD2"/>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CB67B13-C580-41B0-A38A-03D2FBB5B28C}"/>
              </a:ext>
            </a:extLst>
          </p:cNvPr>
          <p:cNvSpPr>
            <a:spLocks xmlns:a="http://schemas.openxmlformats.org/drawingml/2006/main" noGrp="1"/>
          </p:cNvSpPr>
          <p:nvPr/>
        </p:nvSpPr>
        <p:spPr>
          <a:xfrm xmlns:a="http://schemas.openxmlformats.org/drawingml/2006/main">
            <a:off x="619125" y="542925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53D38"/>
                </a:solidFill>
                <a:latin typeface="Calibri"/>
                <a:ea typeface="Calibri"/>
                <a:cs typeface="Calibri"/>
              </a:defRPr>
            </a:defPPr>
            <a:lvl1pPr>
              <a:defRPr sz="2175" b="1">
                <a:solidFill>
                  <a:srgbClr val="153D38"/>
                </a:solidFill>
                <a:latin typeface="Calibri"/>
                <a:ea typeface="Calibri"/>
                <a:cs typeface="Calibri"/>
              </a:defRPr>
            </a:lvl1pPr>
            <a:lvl2pPr>
              <a:defRPr sz="2175" b="1">
                <a:solidFill>
                  <a:srgbClr val="153D38"/>
                </a:solidFill>
                <a:latin typeface="Calibri"/>
                <a:ea typeface="Calibri"/>
                <a:cs typeface="Calibri"/>
              </a:defRPr>
            </a:lvl2pPr>
            <a:lvl3pPr>
              <a:defRPr sz="2175" b="1">
                <a:solidFill>
                  <a:srgbClr val="153D38"/>
                </a:solidFill>
                <a:latin typeface="Calibri"/>
                <a:ea typeface="Calibri"/>
                <a:cs typeface="Calibri"/>
              </a:defRPr>
            </a:lvl3pPr>
            <a:lvl4pPr>
              <a:defRPr sz="2175" b="1">
                <a:solidFill>
                  <a:srgbClr val="153D38"/>
                </a:solidFill>
                <a:latin typeface="Calibri"/>
                <a:ea typeface="Calibri"/>
                <a:cs typeface="Calibri"/>
              </a:defRPr>
            </a:lvl4pPr>
            <a:lvl5pPr>
              <a:defRPr sz="2175" b="1">
                <a:solidFill>
                  <a:srgbClr val="153D38"/>
                </a:solidFill>
                <a:latin typeface="Calibri"/>
                <a:ea typeface="Calibri"/>
                <a:cs typeface="Calibri"/>
              </a:defRPr>
            </a:lvl5pPr>
            <a:lvl6pPr>
              <a:defRPr sz="2175" b="1">
                <a:solidFill>
                  <a:srgbClr val="153D38"/>
                </a:solidFill>
                <a:latin typeface="Calibri"/>
                <a:ea typeface="Calibri"/>
                <a:cs typeface="Calibri"/>
              </a:defRPr>
            </a:lvl6pPr>
            <a:lvl7pPr>
              <a:defRPr sz="2175" b="1">
                <a:solidFill>
                  <a:srgbClr val="153D38"/>
                </a:solidFill>
                <a:latin typeface="Calibri"/>
                <a:ea typeface="Calibri"/>
                <a:cs typeface="Calibri"/>
              </a:defRPr>
            </a:lvl7pPr>
            <a:lvl8pPr>
              <a:defRPr sz="2175" b="1">
                <a:solidFill>
                  <a:srgbClr val="153D38"/>
                </a:solidFill>
                <a:latin typeface="Calibri"/>
                <a:ea typeface="Calibri"/>
                <a:cs typeface="Calibri"/>
              </a:defRPr>
            </a:lvl8pPr>
            <a:lvl9pPr>
              <a:defRPr sz="2175" b="1">
                <a:solidFill>
                  <a:srgbClr val="153D38"/>
                </a:solidFill>
                <a:latin typeface="Calibri"/>
                <a:ea typeface="Calibri"/>
                <a:cs typeface="Calibri"/>
              </a:defRPr>
            </a:lvl9pPr>
          </a:lstStyle>
          <a:p xmlns:a="http://schemas.openxmlformats.org/drawingml/2006/main">
            <a:pPr>
              <a:defRPr sz="2175" b="1">
                <a:solidFill>
                  <a:srgbClr val="153D38"/>
                </a:solidFill>
                <a:latin typeface="Calibri"/>
                <a:ea typeface="Calibri"/>
                <a:cs typeface="Calibri"/>
              </a:defRPr>
            </a:pPr>
            <a:r>
              <a:rPr sz="2175" b="1">
                <a:solidFill>
                  <a:srgbClr val="153D38"/>
                </a:solidFill>
                <a:latin typeface="Calibri"/>
                <a:ea typeface="Calibri"/>
                <a:cs typeface="Calibri"/>
              </a:rPr>
              <a:t>One tested release artifact moves from staging to production after approval.</a:t>
            </a:r>
          </a:p>
        </p:txBody>
      </p:sp>
    </p:spTree>
    <p:extLst>
      <p:ext uri="{BB962C8B-B14F-4D97-AF65-F5344CB8AC3E}">
        <p14:creationId xmlns:p14="http://schemas.microsoft.com/office/powerpoint/2010/main" val="253701012"/>
      </p:ext>
    </p:extLst>
  </p:cSld>
</p:sld>
</file>

<file path=ppt/slides/slide16.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B7B71F-D3DD-43A7-928A-CFA10A197A7C}"/>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Repositories and shared web services</a:t>
            </a:r>
          </a:p>
        </p:txBody>
      </p:sp>
      <p:sp>
        <p:nvSpPr>
          <p:cNvPr id="2" name="">
            <a:extLst xmlns:a="http://schemas.openxmlformats.org/drawingml/2006/main">
              <a:ext uri="{FF2B5EF4-FFF2-40B4-BE49-F238E27FC236}">
                <a16:creationId xmlns:a16="http://schemas.microsoft.com/office/drawing/2014/main" id="{F533F1F6-5888-49B5-B5D1-A4C64A5B163E}"/>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5F4D1CEF-4654-4761-A669-C8C1B6800B14}"/>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16</a:t>
            </a:r>
          </a:p>
        </p:txBody>
      </p:sp>
      <p:graphicFrame>
        <p:nvGraphicFramePr>
          <p:cNvPr id="4" name="">
            <a:extLst xmlns:a="http://schemas.openxmlformats.org/drawingml/2006/main">
              <a:ext uri="{FF2B5EF4-FFF2-40B4-BE49-F238E27FC236}">
                <a16:creationId xmlns:a16="http://schemas.microsoft.com/office/drawing/2014/main" id="{420A4486-F829-4198-8249-E433956EB951}"/>
              </a:ext>
            </a:extLst>
          </p:cNvPr>
          <p:cNvGraphicFramePr/>
          <p:nvPr/>
        </p:nvGraphicFramePr>
        <p:xfrm>
          <a:off xmlns:a="http://schemas.openxmlformats.org/drawingml/2006/main" x="619125" y="1619250"/>
          <a:ext xmlns:a="http://schemas.openxmlformats.org/drawingml/2006/main" cx="10953750" cy="3905250"/>
        </p:xfrm>
        <a:graphic xmlns:a="http://schemas.openxmlformats.org/drawingml/2006/main">
          <a:graphicData uri="http://schemas.openxmlformats.org/drawingml/2006/table">
            <a:tbl>
              <a:tblPr/>
              <a:tblGrid>
                <a:gridCol w="3619500"/>
                <a:gridCol w="7334250"/>
              </a:tblGrid>
              <a:tr h="650875">
                <a:tc>
                  <a:txBody>
                    <a:bodyPr/>
                    <a:lstStyle/>
                    <a:p>
                      <a:r>
                        <a:rPr sz="1875" b="1">
                          <a:solidFill>
                            <a:srgbClr val="FFFFFF"/>
                          </a:solidFill>
                          <a:latin typeface="Calibri"/>
                          <a:ea typeface="Calibri"/>
                          <a:cs typeface="Calibri"/>
                        </a:rPr>
                        <a:t>Repository</a:t>
                      </a:r>
                    </a:p>
                  </a:txBody>
                  <a:tcPr marL="91440" marR="91440" marT="45720" marB="45720">
                    <a:lnL w="9525">
                      <a:solidFill>
                        <a:srgbClr val="CEDAD2"/>
                      </a:solidFill>
                      <a:prstDash val="solid"/>
                    </a:lnL>
                    <a:lnR w="9525">
                      <a:solidFill>
                        <a:srgbClr val="CEDAD2"/>
                      </a:solidFill>
                      <a:prstDash val="solid"/>
                    </a:lnR>
                    <a:lnT w="9525">
                      <a:solidFill>
                        <a:srgbClr val="CEDAD2"/>
                      </a:solidFill>
                      <a:prstDash val="solid"/>
                    </a:lnT>
                    <a:lnB w="9525">
                      <a:solidFill>
                        <a:srgbClr val="CEDAD2"/>
                      </a:solidFill>
                      <a:prstDash val="solid"/>
                    </a:lnB>
                    <a:solidFill>
                      <a:srgbClr val="153D38"/>
                    </a:solidFill>
                  </a:tcPr>
                </a:tc>
                <a:tc>
                  <a:txBody>
                    <a:bodyPr/>
                    <a:lstStyle/>
                    <a:p>
                      <a:r>
                        <a:rPr sz="1875" b="1">
                          <a:solidFill>
                            <a:srgbClr val="FFFFFF"/>
                          </a:solidFill>
                          <a:latin typeface="Calibri"/>
                          <a:ea typeface="Calibri"/>
                          <a:cs typeface="Calibri"/>
                        </a:rPr>
                        <a:t>Responsibility</a:t>
                      </a:r>
                    </a:p>
                  </a:txBody>
                  <a:tcPr marL="91440" marR="91440" marT="45720" marB="45720">
                    <a:lnR w="9525">
                      <a:solidFill>
                        <a:srgbClr val="CEDAD2"/>
                      </a:solidFill>
                      <a:prstDash val="solid"/>
                    </a:lnR>
                    <a:lnT w="9525">
                      <a:solidFill>
                        <a:srgbClr val="CEDAD2"/>
                      </a:solidFill>
                      <a:prstDash val="solid"/>
                    </a:lnT>
                    <a:lnB w="9525">
                      <a:solidFill>
                        <a:srgbClr val="CEDAD2"/>
                      </a:solidFill>
                      <a:prstDash val="solid"/>
                    </a:lnB>
                    <a:solidFill>
                      <a:srgbClr val="153D38"/>
                    </a:solidFill>
                  </a:tcPr>
                </a:tc>
              </a:tr>
              <a:tr h="650875">
                <a:tc>
                  <a:txBody>
                    <a:bodyPr/>
                    <a:lstStyle/>
                    <a:p>
                      <a:r>
                        <a:rPr sz="1875" b="0">
                          <a:solidFill>
                            <a:srgbClr val="334B48"/>
                          </a:solidFill>
                          <a:latin typeface="Calibri"/>
                          <a:ea typeface="Calibri"/>
                          <a:cs typeface="Calibri"/>
                        </a:rPr>
                        <a:t>CareSys</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FFFFFF"/>
                    </a:solidFill>
                  </a:tcPr>
                </a:tc>
                <a:tc>
                  <a:txBody>
                    <a:bodyPr/>
                    <a:lstStyle/>
                    <a:p>
                      <a:r>
                        <a:rPr sz="1875" b="0">
                          <a:solidFill>
                            <a:srgbClr val="334B48"/>
                          </a:solidFill>
                          <a:latin typeface="Calibri"/>
                          <a:ea typeface="Calibri"/>
                          <a:cs typeface="Calibri"/>
                        </a:rPr>
                        <a:t>Web portal, API implementation and migrations</a:t>
                      </a:r>
                    </a:p>
                  </a:txBody>
                  <a:tcPr marL="91440" marR="91440" marT="45720" marB="45720">
                    <a:lnR w="9525">
                      <a:solidFill>
                        <a:srgbClr val="CEDAD2"/>
                      </a:solidFill>
                      <a:prstDash val="solid"/>
                    </a:lnR>
                    <a:lnB w="9525">
                      <a:solidFill>
                        <a:srgbClr val="CEDAD2"/>
                      </a:solidFill>
                      <a:prstDash val="solid"/>
                    </a:lnB>
                    <a:solidFill>
                      <a:srgbClr val="FFFFFF"/>
                    </a:solidFill>
                  </a:tcPr>
                </a:tc>
              </a:tr>
              <a:tr h="650875">
                <a:tc>
                  <a:txBody>
                    <a:bodyPr/>
                    <a:lstStyle/>
                    <a:p>
                      <a:r>
                        <a:rPr sz="1875" b="0">
                          <a:solidFill>
                            <a:srgbClr val="334B48"/>
                          </a:solidFill>
                          <a:latin typeface="Calibri"/>
                          <a:ea typeface="Calibri"/>
                          <a:cs typeface="Calibri"/>
                        </a:rPr>
                        <a:t>caresys-webservices</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EDF2E9"/>
                    </a:solidFill>
                  </a:tcPr>
                </a:tc>
                <a:tc>
                  <a:txBody>
                    <a:bodyPr/>
                    <a:lstStyle/>
                    <a:p>
                      <a:r>
                        <a:rPr sz="1875" b="0">
                          <a:solidFill>
                            <a:srgbClr val="334B48"/>
                          </a:solidFill>
                          <a:latin typeface="Calibri"/>
                          <a:ea typeface="Calibri"/>
                          <a:cs typeface="Calibri"/>
                        </a:rPr>
                        <a:t>API contracts, examples and service tests</a:t>
                      </a:r>
                    </a:p>
                  </a:txBody>
                  <a:tcPr marL="91440" marR="91440" marT="45720" marB="45720">
                    <a:lnR w="9525">
                      <a:solidFill>
                        <a:srgbClr val="CEDAD2"/>
                      </a:solidFill>
                      <a:prstDash val="solid"/>
                    </a:lnR>
                    <a:lnB w="9525">
                      <a:solidFill>
                        <a:srgbClr val="CEDAD2"/>
                      </a:solidFill>
                      <a:prstDash val="solid"/>
                    </a:lnB>
                    <a:solidFill>
                      <a:srgbClr val="EDF2E9"/>
                    </a:solidFill>
                  </a:tcPr>
                </a:tc>
              </a:tr>
              <a:tr h="650875">
                <a:tc>
                  <a:txBody>
                    <a:bodyPr/>
                    <a:lstStyle/>
                    <a:p>
                      <a:r>
                        <a:rPr sz="1875" b="0">
                          <a:solidFill>
                            <a:srgbClr val="334B48"/>
                          </a:solidFill>
                          <a:latin typeface="Calibri"/>
                          <a:ea typeface="Calibri"/>
                          <a:cs typeface="Calibri"/>
                        </a:rPr>
                        <a:t>caresys-mobile</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FFFFFF"/>
                    </a:solidFill>
                  </a:tcPr>
                </a:tc>
                <a:tc>
                  <a:txBody>
                    <a:bodyPr/>
                    <a:lstStyle/>
                    <a:p>
                      <a:r>
                        <a:rPr sz="1875" b="0">
                          <a:solidFill>
                            <a:srgbClr val="334B48"/>
                          </a:solidFill>
                          <a:latin typeface="Calibri"/>
                          <a:ea typeface="Calibri"/>
                          <a:cs typeface="Calibri"/>
                        </a:rPr>
                        <a:t>Shared Android and iOS application</a:t>
                      </a:r>
                    </a:p>
                  </a:txBody>
                  <a:tcPr marL="91440" marR="91440" marT="45720" marB="45720">
                    <a:lnR w="9525">
                      <a:solidFill>
                        <a:srgbClr val="CEDAD2"/>
                      </a:solidFill>
                      <a:prstDash val="solid"/>
                    </a:lnR>
                    <a:lnB w="9525">
                      <a:solidFill>
                        <a:srgbClr val="CEDAD2"/>
                      </a:solidFill>
                      <a:prstDash val="solid"/>
                    </a:lnB>
                    <a:solidFill>
                      <a:srgbClr val="FFFFFF"/>
                    </a:solidFill>
                  </a:tcPr>
                </a:tc>
              </a:tr>
              <a:tr h="650875">
                <a:tc>
                  <a:txBody>
                    <a:bodyPr/>
                    <a:lstStyle/>
                    <a:p>
                      <a:r>
                        <a:rPr sz="1875" b="0">
                          <a:solidFill>
                            <a:srgbClr val="334B48"/>
                          </a:solidFill>
                          <a:latin typeface="Calibri"/>
                          <a:ea typeface="Calibri"/>
                          <a:cs typeface="Calibri"/>
                        </a:rPr>
                        <a:t>caresys-website</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EDF2E9"/>
                    </a:solidFill>
                  </a:tcPr>
                </a:tc>
                <a:tc>
                  <a:txBody>
                    <a:bodyPr/>
                    <a:lstStyle/>
                    <a:p>
                      <a:r>
                        <a:rPr sz="1875" b="0">
                          <a:solidFill>
                            <a:srgbClr val="334B48"/>
                          </a:solidFill>
                          <a:latin typeface="Calibri"/>
                          <a:ea typeface="Calibri"/>
                          <a:cs typeface="Calibri"/>
                        </a:rPr>
                        <a:t>Public information and regional pricing</a:t>
                      </a:r>
                    </a:p>
                  </a:txBody>
                  <a:tcPr marL="91440" marR="91440" marT="45720" marB="45720">
                    <a:lnR w="9525">
                      <a:solidFill>
                        <a:srgbClr val="CEDAD2"/>
                      </a:solidFill>
                      <a:prstDash val="solid"/>
                    </a:lnR>
                    <a:lnB w="9525">
                      <a:solidFill>
                        <a:srgbClr val="CEDAD2"/>
                      </a:solidFill>
                      <a:prstDash val="solid"/>
                    </a:lnB>
                    <a:solidFill>
                      <a:srgbClr val="EDF2E9"/>
                    </a:solidFill>
                  </a:tcPr>
                </a:tc>
              </a:tr>
              <a:tr h="650875">
                <a:tc>
                  <a:txBody>
                    <a:bodyPr/>
                    <a:lstStyle/>
                    <a:p>
                      <a:r>
                        <a:rPr sz="1875" b="0">
                          <a:solidFill>
                            <a:srgbClr val="334B48"/>
                          </a:solidFill>
                          <a:latin typeface="Calibri"/>
                          <a:ea typeface="Calibri"/>
                          <a:cs typeface="Calibri"/>
                        </a:rPr>
                        <a:t>caresys-infrastructure</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FFFFFF"/>
                    </a:solidFill>
                  </a:tcPr>
                </a:tc>
                <a:tc>
                  <a:txBody>
                    <a:bodyPr/>
                    <a:lstStyle/>
                    <a:p>
                      <a:r>
                        <a:rPr sz="1875" b="0">
                          <a:solidFill>
                            <a:srgbClr val="334B48"/>
                          </a:solidFill>
                          <a:latin typeface="Calibri"/>
                          <a:ea typeface="Calibri"/>
                          <a:cs typeface="Calibri"/>
                        </a:rPr>
                        <a:t>Deployments, configuration and recovery runbooks</a:t>
                      </a:r>
                    </a:p>
                  </a:txBody>
                  <a:tcPr marL="91440" marR="91440" marT="45720" marB="45720">
                    <a:lnR w="9525">
                      <a:solidFill>
                        <a:srgbClr val="CEDAD2"/>
                      </a:solidFill>
                      <a:prstDash val="solid"/>
                    </a:lnR>
                    <a:lnB w="9525">
                      <a:solidFill>
                        <a:srgbClr val="CEDAD2"/>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316BD75-F2A8-43DF-9EA3-E08A5EFA3887}"/>
              </a:ext>
            </a:extLst>
          </p:cNvPr>
          <p:cNvSpPr>
            <a:spLocks xmlns:a="http://schemas.openxmlformats.org/drawingml/2006/main" noGrp="1"/>
          </p:cNvSpPr>
          <p:nvPr/>
        </p:nvSpPr>
        <p:spPr>
          <a:xfrm xmlns:a="http://schemas.openxmlformats.org/drawingml/2006/main">
            <a:off x="619125" y="57816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37F73"/>
                </a:solidFill>
                <a:latin typeface="Calibri"/>
                <a:ea typeface="Calibri"/>
                <a:cs typeface="Calibri"/>
              </a:defRPr>
            </a:defPPr>
            <a:lvl1pPr>
              <a:defRPr sz="1800" b="1">
                <a:solidFill>
                  <a:srgbClr val="137F73"/>
                </a:solidFill>
                <a:latin typeface="Calibri"/>
                <a:ea typeface="Calibri"/>
                <a:cs typeface="Calibri"/>
              </a:defRPr>
            </a:lvl1pPr>
            <a:lvl2pPr>
              <a:defRPr sz="1800" b="1">
                <a:solidFill>
                  <a:srgbClr val="137F73"/>
                </a:solidFill>
                <a:latin typeface="Calibri"/>
                <a:ea typeface="Calibri"/>
                <a:cs typeface="Calibri"/>
              </a:defRPr>
            </a:lvl2pPr>
            <a:lvl3pPr>
              <a:defRPr sz="1800" b="1">
                <a:solidFill>
                  <a:srgbClr val="137F73"/>
                </a:solidFill>
                <a:latin typeface="Calibri"/>
                <a:ea typeface="Calibri"/>
                <a:cs typeface="Calibri"/>
              </a:defRPr>
            </a:lvl3pPr>
            <a:lvl4pPr>
              <a:defRPr sz="1800" b="1">
                <a:solidFill>
                  <a:srgbClr val="137F73"/>
                </a:solidFill>
                <a:latin typeface="Calibri"/>
                <a:ea typeface="Calibri"/>
                <a:cs typeface="Calibri"/>
              </a:defRPr>
            </a:lvl4pPr>
            <a:lvl5pPr>
              <a:defRPr sz="1800" b="1">
                <a:solidFill>
                  <a:srgbClr val="137F73"/>
                </a:solidFill>
                <a:latin typeface="Calibri"/>
                <a:ea typeface="Calibri"/>
                <a:cs typeface="Calibri"/>
              </a:defRPr>
            </a:lvl5pPr>
            <a:lvl6pPr>
              <a:defRPr sz="1800" b="1">
                <a:solidFill>
                  <a:srgbClr val="137F73"/>
                </a:solidFill>
                <a:latin typeface="Calibri"/>
                <a:ea typeface="Calibri"/>
                <a:cs typeface="Calibri"/>
              </a:defRPr>
            </a:lvl6pPr>
            <a:lvl7pPr>
              <a:defRPr sz="1800" b="1">
                <a:solidFill>
                  <a:srgbClr val="137F73"/>
                </a:solidFill>
                <a:latin typeface="Calibri"/>
                <a:ea typeface="Calibri"/>
                <a:cs typeface="Calibri"/>
              </a:defRPr>
            </a:lvl7pPr>
            <a:lvl8pPr>
              <a:defRPr sz="1800" b="1">
                <a:solidFill>
                  <a:srgbClr val="137F73"/>
                </a:solidFill>
                <a:latin typeface="Calibri"/>
                <a:ea typeface="Calibri"/>
                <a:cs typeface="Calibri"/>
              </a:defRPr>
            </a:lvl8pPr>
            <a:lvl9pPr>
              <a:defRPr sz="1800" b="1">
                <a:solidFill>
                  <a:srgbClr val="137F73"/>
                </a:solidFill>
                <a:latin typeface="Calibri"/>
                <a:ea typeface="Calibri"/>
                <a:cs typeface="Calibri"/>
              </a:defRPr>
            </a:lvl9pPr>
          </a:lstStyle>
          <a:p xmlns:a="http://schemas.openxmlformats.org/drawingml/2006/main">
            <a:pPr>
              <a:defRPr sz="1800" b="1">
                <a:solidFill>
                  <a:srgbClr val="137F73"/>
                </a:solidFill>
                <a:latin typeface="Calibri"/>
                <a:ea typeface="Calibri"/>
                <a:cs typeface="Calibri"/>
              </a:defRPr>
            </a:pPr>
            <a:r>
              <a:rPr sz="1800" b="1">
                <a:solidFill>
                  <a:srgbClr val="137F73"/>
                </a:solidFill>
                <a:latin typeface="Calibri"/>
                <a:ea typeface="Calibri"/>
                <a:cs typeface="Calibri"/>
              </a:rPr>
              <a:t>Test and production use the same source history with separate configuration.</a:t>
            </a:r>
          </a:p>
        </p:txBody>
      </p:sp>
    </p:spTree>
    <p:extLst>
      <p:ext uri="{BB962C8B-B14F-4D97-AF65-F5344CB8AC3E}">
        <p14:creationId xmlns:p14="http://schemas.microsoft.com/office/powerpoint/2010/main" val="110976498"/>
      </p:ext>
    </p:extLst>
  </p:cSld>
</p:sld>
</file>

<file path=ppt/slides/slide17.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C0001C-F8A2-44E0-A0CD-59F3BB0960D6}"/>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Mobile apps and the public website</a:t>
            </a:r>
          </a:p>
        </p:txBody>
      </p:sp>
      <p:sp>
        <p:nvSpPr>
          <p:cNvPr id="2" name="">
            <a:extLst xmlns:a="http://schemas.openxmlformats.org/drawingml/2006/main">
              <a:ext uri="{FF2B5EF4-FFF2-40B4-BE49-F238E27FC236}">
                <a16:creationId xmlns:a16="http://schemas.microsoft.com/office/drawing/2014/main" id="{BEA4F8F8-486E-408B-83C1-AF0377C950C2}"/>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87476101-C9D8-4159-A0A8-5679D529089F}"/>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17</a:t>
            </a:r>
          </a:p>
        </p:txBody>
      </p:sp>
      <p:sp>
        <p:nvSpPr>
          <p:cNvPr id="4" name="">
            <a:extLst xmlns:a="http://schemas.openxmlformats.org/drawingml/2006/main">
              <a:ext uri="{FF2B5EF4-FFF2-40B4-BE49-F238E27FC236}">
                <a16:creationId xmlns:a16="http://schemas.microsoft.com/office/drawing/2014/main" id="{9766D8DB-B1F2-46B9-B2B6-6E64093B6816}"/>
              </a:ext>
            </a:extLst>
          </p:cNvPr>
          <p:cNvSpPr>
            <a:spLocks xmlns:a="http://schemas.openxmlformats.org/drawingml/2006/main" noGrp="1"/>
          </p:cNvSpPr>
          <p:nvPr/>
        </p:nvSpPr>
        <p:spPr>
          <a:xfrm xmlns:a="http://schemas.openxmlformats.org/drawingml/2006/main">
            <a:off x="619125" y="161925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37F73"/>
                </a:solidFill>
                <a:latin typeface="Calibri"/>
                <a:ea typeface="Calibri"/>
                <a:cs typeface="Calibri"/>
              </a:defRPr>
            </a:defPPr>
            <a:lvl1pPr>
              <a:defRPr sz="2550" b="1">
                <a:solidFill>
                  <a:srgbClr val="137F73"/>
                </a:solidFill>
                <a:latin typeface="Calibri"/>
                <a:ea typeface="Calibri"/>
                <a:cs typeface="Calibri"/>
              </a:defRPr>
            </a:lvl1pPr>
            <a:lvl2pPr>
              <a:defRPr sz="2550" b="1">
                <a:solidFill>
                  <a:srgbClr val="137F73"/>
                </a:solidFill>
                <a:latin typeface="Calibri"/>
                <a:ea typeface="Calibri"/>
                <a:cs typeface="Calibri"/>
              </a:defRPr>
            </a:lvl2pPr>
            <a:lvl3pPr>
              <a:defRPr sz="2550" b="1">
                <a:solidFill>
                  <a:srgbClr val="137F73"/>
                </a:solidFill>
                <a:latin typeface="Calibri"/>
                <a:ea typeface="Calibri"/>
                <a:cs typeface="Calibri"/>
              </a:defRPr>
            </a:lvl3pPr>
            <a:lvl4pPr>
              <a:defRPr sz="2550" b="1">
                <a:solidFill>
                  <a:srgbClr val="137F73"/>
                </a:solidFill>
                <a:latin typeface="Calibri"/>
                <a:ea typeface="Calibri"/>
                <a:cs typeface="Calibri"/>
              </a:defRPr>
            </a:lvl4pPr>
            <a:lvl5pPr>
              <a:defRPr sz="2550" b="1">
                <a:solidFill>
                  <a:srgbClr val="137F73"/>
                </a:solidFill>
                <a:latin typeface="Calibri"/>
                <a:ea typeface="Calibri"/>
                <a:cs typeface="Calibri"/>
              </a:defRPr>
            </a:lvl5pPr>
            <a:lvl6pPr>
              <a:defRPr sz="2550" b="1">
                <a:solidFill>
                  <a:srgbClr val="137F73"/>
                </a:solidFill>
                <a:latin typeface="Calibri"/>
                <a:ea typeface="Calibri"/>
                <a:cs typeface="Calibri"/>
              </a:defRPr>
            </a:lvl6pPr>
            <a:lvl7pPr>
              <a:defRPr sz="2550" b="1">
                <a:solidFill>
                  <a:srgbClr val="137F73"/>
                </a:solidFill>
                <a:latin typeface="Calibri"/>
                <a:ea typeface="Calibri"/>
                <a:cs typeface="Calibri"/>
              </a:defRPr>
            </a:lvl7pPr>
            <a:lvl8pPr>
              <a:defRPr sz="2550" b="1">
                <a:solidFill>
                  <a:srgbClr val="137F73"/>
                </a:solidFill>
                <a:latin typeface="Calibri"/>
                <a:ea typeface="Calibri"/>
                <a:cs typeface="Calibri"/>
              </a:defRPr>
            </a:lvl8pPr>
            <a:lvl9pPr>
              <a:defRPr sz="2550" b="1">
                <a:solidFill>
                  <a:srgbClr val="137F73"/>
                </a:solidFill>
                <a:latin typeface="Calibri"/>
                <a:ea typeface="Calibri"/>
                <a:cs typeface="Calibri"/>
              </a:defRPr>
            </a:lvl9pPr>
          </a:lstStyle>
          <a:p xmlns:a="http://schemas.openxmlformats.org/drawingml/2006/main">
            <a:pPr>
              <a:defRPr sz="2550" b="1">
                <a:solidFill>
                  <a:srgbClr val="137F73"/>
                </a:solidFill>
                <a:latin typeface="Calibri"/>
                <a:ea typeface="Calibri"/>
                <a:cs typeface="Calibri"/>
              </a:defRPr>
            </a:pPr>
            <a:r>
              <a:rPr sz="2550" b="1">
                <a:solidFill>
                  <a:srgbClr val="137F73"/>
                </a:solidFill>
                <a:latin typeface="Calibri"/>
                <a:ea typeface="Calibri"/>
                <a:cs typeface="Calibri"/>
              </a:rPr>
              <a:t>Android and iOS apps</a:t>
            </a:r>
          </a:p>
        </p:txBody>
      </p:sp>
      <p:sp>
        <p:nvSpPr>
          <p:cNvPr id="5" name="">
            <a:extLst xmlns:a="http://schemas.openxmlformats.org/drawingml/2006/main">
              <a:ext uri="{FF2B5EF4-FFF2-40B4-BE49-F238E27FC236}">
                <a16:creationId xmlns:a16="http://schemas.microsoft.com/office/drawing/2014/main" id="{8E50D510-B24D-4559-96E9-02CD956F501D}"/>
              </a:ext>
            </a:extLst>
          </p:cNvPr>
          <p:cNvSpPr>
            <a:spLocks xmlns:a="http://schemas.openxmlformats.org/drawingml/2006/main" noGrp="1"/>
          </p:cNvSpPr>
          <p:nvPr/>
        </p:nvSpPr>
        <p:spPr>
          <a:xfrm xmlns:a="http://schemas.openxmlformats.org/drawingml/2006/main">
            <a:off x="619125" y="2400300"/>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34B48"/>
                </a:solidFill>
                <a:latin typeface="Calibri"/>
                <a:ea typeface="Calibri"/>
                <a:cs typeface="Calibri"/>
              </a:defRPr>
            </a:defPPr>
            <a:lvl1pPr>
              <a:defRPr sz="2100" b="0">
                <a:solidFill>
                  <a:srgbClr val="334B48"/>
                </a:solidFill>
                <a:latin typeface="Calibri"/>
                <a:ea typeface="Calibri"/>
                <a:cs typeface="Calibri"/>
              </a:defRPr>
            </a:lvl1pPr>
            <a:lvl2pPr>
              <a:defRPr sz="2100" b="0">
                <a:solidFill>
                  <a:srgbClr val="334B48"/>
                </a:solidFill>
                <a:latin typeface="Calibri"/>
                <a:ea typeface="Calibri"/>
                <a:cs typeface="Calibri"/>
              </a:defRPr>
            </a:lvl2pPr>
            <a:lvl3pPr>
              <a:defRPr sz="2100" b="0">
                <a:solidFill>
                  <a:srgbClr val="334B48"/>
                </a:solidFill>
                <a:latin typeface="Calibri"/>
                <a:ea typeface="Calibri"/>
                <a:cs typeface="Calibri"/>
              </a:defRPr>
            </a:lvl3pPr>
            <a:lvl4pPr>
              <a:defRPr sz="2100" b="0">
                <a:solidFill>
                  <a:srgbClr val="334B48"/>
                </a:solidFill>
                <a:latin typeface="Calibri"/>
                <a:ea typeface="Calibri"/>
                <a:cs typeface="Calibri"/>
              </a:defRPr>
            </a:lvl4pPr>
            <a:lvl5pPr>
              <a:defRPr sz="2100" b="0">
                <a:solidFill>
                  <a:srgbClr val="334B48"/>
                </a:solidFill>
                <a:latin typeface="Calibri"/>
                <a:ea typeface="Calibri"/>
                <a:cs typeface="Calibri"/>
              </a:defRPr>
            </a:lvl5pPr>
            <a:lvl6pPr>
              <a:defRPr sz="2100" b="0">
                <a:solidFill>
                  <a:srgbClr val="334B48"/>
                </a:solidFill>
                <a:latin typeface="Calibri"/>
                <a:ea typeface="Calibri"/>
                <a:cs typeface="Calibri"/>
              </a:defRPr>
            </a:lvl6pPr>
            <a:lvl7pPr>
              <a:defRPr sz="2100" b="0">
                <a:solidFill>
                  <a:srgbClr val="334B48"/>
                </a:solidFill>
                <a:latin typeface="Calibri"/>
                <a:ea typeface="Calibri"/>
                <a:cs typeface="Calibri"/>
              </a:defRPr>
            </a:lvl7pPr>
            <a:lvl8pPr>
              <a:defRPr sz="2100" b="0">
                <a:solidFill>
                  <a:srgbClr val="334B48"/>
                </a:solidFill>
                <a:latin typeface="Calibri"/>
                <a:ea typeface="Calibri"/>
                <a:cs typeface="Calibri"/>
              </a:defRPr>
            </a:lvl8pPr>
            <a:lvl9pPr>
              <a:defRPr sz="2100" b="0">
                <a:solidFill>
                  <a:srgbClr val="334B48"/>
                </a:solidFill>
                <a:latin typeface="Calibri"/>
                <a:ea typeface="Calibri"/>
                <a:cs typeface="Calibri"/>
              </a:defRPr>
            </a:lvl9pPr>
          </a:lstStyle>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One proposed Flutter codebase</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Separate staging and live app identities</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Profiles, visits, time and leave first</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Secure device authentication</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Offline sync in a later release</a:t>
            </a:r>
          </a:p>
        </p:txBody>
      </p:sp>
      <p:sp>
        <p:nvSpPr>
          <p:cNvPr id="6" name="">
            <a:extLst xmlns:a="http://schemas.openxmlformats.org/drawingml/2006/main">
              <a:ext uri="{FF2B5EF4-FFF2-40B4-BE49-F238E27FC236}">
                <a16:creationId xmlns:a16="http://schemas.microsoft.com/office/drawing/2014/main" id="{59A2243F-136B-445F-ACD3-9B30F9CA4C44}"/>
              </a:ext>
            </a:extLst>
          </p:cNvPr>
          <p:cNvSpPr>
            <a:spLocks xmlns:a="http://schemas.openxmlformats.org/drawingml/2006/main" noGrp="1"/>
          </p:cNvSpPr>
          <p:nvPr/>
        </p:nvSpPr>
        <p:spPr>
          <a:xfrm xmlns:a="http://schemas.openxmlformats.org/drawingml/2006/main">
            <a:off x="6334125" y="161925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53D38"/>
                </a:solidFill>
                <a:latin typeface="Calibri"/>
                <a:ea typeface="Calibri"/>
                <a:cs typeface="Calibri"/>
              </a:defRPr>
            </a:defPPr>
            <a:lvl1pPr>
              <a:defRPr sz="2550" b="1">
                <a:solidFill>
                  <a:srgbClr val="153D38"/>
                </a:solidFill>
                <a:latin typeface="Calibri"/>
                <a:ea typeface="Calibri"/>
                <a:cs typeface="Calibri"/>
              </a:defRPr>
            </a:lvl1pPr>
            <a:lvl2pPr>
              <a:defRPr sz="2550" b="1">
                <a:solidFill>
                  <a:srgbClr val="153D38"/>
                </a:solidFill>
                <a:latin typeface="Calibri"/>
                <a:ea typeface="Calibri"/>
                <a:cs typeface="Calibri"/>
              </a:defRPr>
            </a:lvl2pPr>
            <a:lvl3pPr>
              <a:defRPr sz="2550" b="1">
                <a:solidFill>
                  <a:srgbClr val="153D38"/>
                </a:solidFill>
                <a:latin typeface="Calibri"/>
                <a:ea typeface="Calibri"/>
                <a:cs typeface="Calibri"/>
              </a:defRPr>
            </a:lvl3pPr>
            <a:lvl4pPr>
              <a:defRPr sz="2550" b="1">
                <a:solidFill>
                  <a:srgbClr val="153D38"/>
                </a:solidFill>
                <a:latin typeface="Calibri"/>
                <a:ea typeface="Calibri"/>
                <a:cs typeface="Calibri"/>
              </a:defRPr>
            </a:lvl4pPr>
            <a:lvl5pPr>
              <a:defRPr sz="2550" b="1">
                <a:solidFill>
                  <a:srgbClr val="153D38"/>
                </a:solidFill>
                <a:latin typeface="Calibri"/>
                <a:ea typeface="Calibri"/>
                <a:cs typeface="Calibri"/>
              </a:defRPr>
            </a:lvl5pPr>
            <a:lvl6pPr>
              <a:defRPr sz="2550" b="1">
                <a:solidFill>
                  <a:srgbClr val="153D38"/>
                </a:solidFill>
                <a:latin typeface="Calibri"/>
                <a:ea typeface="Calibri"/>
                <a:cs typeface="Calibri"/>
              </a:defRPr>
            </a:lvl6pPr>
            <a:lvl7pPr>
              <a:defRPr sz="2550" b="1">
                <a:solidFill>
                  <a:srgbClr val="153D38"/>
                </a:solidFill>
                <a:latin typeface="Calibri"/>
                <a:ea typeface="Calibri"/>
                <a:cs typeface="Calibri"/>
              </a:defRPr>
            </a:lvl7pPr>
            <a:lvl8pPr>
              <a:defRPr sz="2550" b="1">
                <a:solidFill>
                  <a:srgbClr val="153D38"/>
                </a:solidFill>
                <a:latin typeface="Calibri"/>
                <a:ea typeface="Calibri"/>
                <a:cs typeface="Calibri"/>
              </a:defRPr>
            </a:lvl8pPr>
            <a:lvl9pPr>
              <a:defRPr sz="2550" b="1">
                <a:solidFill>
                  <a:srgbClr val="153D38"/>
                </a:solidFill>
                <a:latin typeface="Calibri"/>
                <a:ea typeface="Calibri"/>
                <a:cs typeface="Calibri"/>
              </a:defRPr>
            </a:lvl9pPr>
          </a:lstStyle>
          <a:p xmlns:a="http://schemas.openxmlformats.org/drawingml/2006/main">
            <a:pPr>
              <a:defRPr sz="2550" b="1">
                <a:solidFill>
                  <a:srgbClr val="153D38"/>
                </a:solidFill>
                <a:latin typeface="Calibri"/>
                <a:ea typeface="Calibri"/>
                <a:cs typeface="Calibri"/>
              </a:defRPr>
            </a:pPr>
            <a:r>
              <a:rPr sz="2550" b="1">
                <a:solidFill>
                  <a:srgbClr val="153D38"/>
                </a:solidFill>
                <a:latin typeface="Calibri"/>
                <a:ea typeface="Calibri"/>
                <a:cs typeface="Calibri"/>
              </a:rPr>
              <a:t>Public CareSys website</a:t>
            </a:r>
          </a:p>
        </p:txBody>
      </p:sp>
      <p:sp>
        <p:nvSpPr>
          <p:cNvPr id="7" name="">
            <a:extLst xmlns:a="http://schemas.openxmlformats.org/drawingml/2006/main">
              <a:ext uri="{FF2B5EF4-FFF2-40B4-BE49-F238E27FC236}">
                <a16:creationId xmlns:a16="http://schemas.microsoft.com/office/drawing/2014/main" id="{B16A44EE-444E-421D-BF59-65FDA0B2119D}"/>
              </a:ext>
            </a:extLst>
          </p:cNvPr>
          <p:cNvSpPr>
            <a:spLocks xmlns:a="http://schemas.openxmlformats.org/drawingml/2006/main" noGrp="1"/>
          </p:cNvSpPr>
          <p:nvPr/>
        </p:nvSpPr>
        <p:spPr>
          <a:xfrm xmlns:a="http://schemas.openxmlformats.org/drawingml/2006/main">
            <a:off x="6334125" y="2400300"/>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34B48"/>
                </a:solidFill>
                <a:latin typeface="Calibri"/>
                <a:ea typeface="Calibri"/>
                <a:cs typeface="Calibri"/>
              </a:defRPr>
            </a:defPPr>
            <a:lvl1pPr>
              <a:defRPr sz="2100" b="0">
                <a:solidFill>
                  <a:srgbClr val="334B48"/>
                </a:solidFill>
                <a:latin typeface="Calibri"/>
                <a:ea typeface="Calibri"/>
                <a:cs typeface="Calibri"/>
              </a:defRPr>
            </a:lvl1pPr>
            <a:lvl2pPr>
              <a:defRPr sz="2100" b="0">
                <a:solidFill>
                  <a:srgbClr val="334B48"/>
                </a:solidFill>
                <a:latin typeface="Calibri"/>
                <a:ea typeface="Calibri"/>
                <a:cs typeface="Calibri"/>
              </a:defRPr>
            </a:lvl2pPr>
            <a:lvl3pPr>
              <a:defRPr sz="2100" b="0">
                <a:solidFill>
                  <a:srgbClr val="334B48"/>
                </a:solidFill>
                <a:latin typeface="Calibri"/>
                <a:ea typeface="Calibri"/>
                <a:cs typeface="Calibri"/>
              </a:defRPr>
            </a:lvl3pPr>
            <a:lvl4pPr>
              <a:defRPr sz="2100" b="0">
                <a:solidFill>
                  <a:srgbClr val="334B48"/>
                </a:solidFill>
                <a:latin typeface="Calibri"/>
                <a:ea typeface="Calibri"/>
                <a:cs typeface="Calibri"/>
              </a:defRPr>
            </a:lvl4pPr>
            <a:lvl5pPr>
              <a:defRPr sz="2100" b="0">
                <a:solidFill>
                  <a:srgbClr val="334B48"/>
                </a:solidFill>
                <a:latin typeface="Calibri"/>
                <a:ea typeface="Calibri"/>
                <a:cs typeface="Calibri"/>
              </a:defRPr>
            </a:lvl5pPr>
            <a:lvl6pPr>
              <a:defRPr sz="2100" b="0">
                <a:solidFill>
                  <a:srgbClr val="334B48"/>
                </a:solidFill>
                <a:latin typeface="Calibri"/>
                <a:ea typeface="Calibri"/>
                <a:cs typeface="Calibri"/>
              </a:defRPr>
            </a:lvl6pPr>
            <a:lvl7pPr>
              <a:defRPr sz="2100" b="0">
                <a:solidFill>
                  <a:srgbClr val="334B48"/>
                </a:solidFill>
                <a:latin typeface="Calibri"/>
                <a:ea typeface="Calibri"/>
                <a:cs typeface="Calibri"/>
              </a:defRPr>
            </a:lvl7pPr>
            <a:lvl8pPr>
              <a:defRPr sz="2100" b="0">
                <a:solidFill>
                  <a:srgbClr val="334B48"/>
                </a:solidFill>
                <a:latin typeface="Calibri"/>
                <a:ea typeface="Calibri"/>
                <a:cs typeface="Calibri"/>
              </a:defRPr>
            </a:lvl8pPr>
            <a:lvl9pPr>
              <a:defRPr sz="2100" b="0">
                <a:solidFill>
                  <a:srgbClr val="334B48"/>
                </a:solidFill>
                <a:latin typeface="Calibri"/>
                <a:ea typeface="Calibri"/>
                <a:cs typeface="Calibri"/>
              </a:defRPr>
            </a:lvl9pPr>
          </a:lstStyle>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Purpose and feature information</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Screenshots and demo requests</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Pricing and country selector</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Support and policy pages</a:t>
            </a:r>
          </a:p>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Clear labels for planned features</a:t>
            </a:r>
          </a:p>
        </p:txBody>
      </p:sp>
      <p:sp>
        <p:nvSpPr>
          <p:cNvPr id="8" name="">
            <a:extLst xmlns:a="http://schemas.openxmlformats.org/drawingml/2006/main">
              <a:ext uri="{FF2B5EF4-FFF2-40B4-BE49-F238E27FC236}">
                <a16:creationId xmlns:a16="http://schemas.microsoft.com/office/drawing/2014/main" id="{3A863A58-D5CD-4EC2-A4EF-19EF676919E2}"/>
              </a:ext>
            </a:extLst>
          </p:cNvPr>
          <p:cNvSpPr>
            <a:spLocks xmlns:a="http://schemas.openxmlformats.org/drawingml/2006/main" noGrp="1"/>
          </p:cNvSpPr>
          <p:nvPr/>
        </p:nvSpPr>
        <p:spPr>
          <a:xfrm xmlns:a="http://schemas.openxmlformats.org/drawingml/2006/main">
            <a:off x="619125" y="5905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1746F"/>
                </a:solidFill>
                <a:latin typeface="Calibri"/>
                <a:ea typeface="Calibri"/>
                <a:cs typeface="Calibri"/>
              </a:defRPr>
            </a:defPPr>
            <a:lvl1pPr>
              <a:defRPr sz="1650" b="0">
                <a:solidFill>
                  <a:srgbClr val="61746F"/>
                </a:solidFill>
                <a:latin typeface="Calibri"/>
                <a:ea typeface="Calibri"/>
                <a:cs typeface="Calibri"/>
              </a:defRPr>
            </a:lvl1pPr>
            <a:lvl2pPr>
              <a:defRPr sz="1650" b="0">
                <a:solidFill>
                  <a:srgbClr val="61746F"/>
                </a:solidFill>
                <a:latin typeface="Calibri"/>
                <a:ea typeface="Calibri"/>
                <a:cs typeface="Calibri"/>
              </a:defRPr>
            </a:lvl2pPr>
            <a:lvl3pPr>
              <a:defRPr sz="1650" b="0">
                <a:solidFill>
                  <a:srgbClr val="61746F"/>
                </a:solidFill>
                <a:latin typeface="Calibri"/>
                <a:ea typeface="Calibri"/>
                <a:cs typeface="Calibri"/>
              </a:defRPr>
            </a:lvl3pPr>
            <a:lvl4pPr>
              <a:defRPr sz="1650" b="0">
                <a:solidFill>
                  <a:srgbClr val="61746F"/>
                </a:solidFill>
                <a:latin typeface="Calibri"/>
                <a:ea typeface="Calibri"/>
                <a:cs typeface="Calibri"/>
              </a:defRPr>
            </a:lvl4pPr>
            <a:lvl5pPr>
              <a:defRPr sz="1650" b="0">
                <a:solidFill>
                  <a:srgbClr val="61746F"/>
                </a:solidFill>
                <a:latin typeface="Calibri"/>
                <a:ea typeface="Calibri"/>
                <a:cs typeface="Calibri"/>
              </a:defRPr>
            </a:lvl5pPr>
            <a:lvl6pPr>
              <a:defRPr sz="1650" b="0">
                <a:solidFill>
                  <a:srgbClr val="61746F"/>
                </a:solidFill>
                <a:latin typeface="Calibri"/>
                <a:ea typeface="Calibri"/>
                <a:cs typeface="Calibri"/>
              </a:defRPr>
            </a:lvl6pPr>
            <a:lvl7pPr>
              <a:defRPr sz="1650" b="0">
                <a:solidFill>
                  <a:srgbClr val="61746F"/>
                </a:solidFill>
                <a:latin typeface="Calibri"/>
                <a:ea typeface="Calibri"/>
                <a:cs typeface="Calibri"/>
              </a:defRPr>
            </a:lvl7pPr>
            <a:lvl8pPr>
              <a:defRPr sz="1650" b="0">
                <a:solidFill>
                  <a:srgbClr val="61746F"/>
                </a:solidFill>
                <a:latin typeface="Calibri"/>
                <a:ea typeface="Calibri"/>
                <a:cs typeface="Calibri"/>
              </a:defRPr>
            </a:lvl8pPr>
            <a:lvl9pPr>
              <a:defRPr sz="1650" b="0">
                <a:solidFill>
                  <a:srgbClr val="61746F"/>
                </a:solidFill>
                <a:latin typeface="Calibri"/>
                <a:ea typeface="Calibri"/>
                <a:cs typeface="Calibri"/>
              </a:defRPr>
            </a:lvl9pPr>
          </a:lstStyle>
          <a:p xmlns:a="http://schemas.openxmlformats.org/drawingml/2006/main">
            <a:pPr>
              <a:defRPr sz="1650" b="0">
                <a:solidFill>
                  <a:srgbClr val="61746F"/>
                </a:solidFill>
                <a:latin typeface="Calibri"/>
                <a:ea typeface="Calibri"/>
                <a:cs typeface="Calibri"/>
              </a:defRPr>
            </a:pPr>
            <a:r>
              <a:rPr sz="1650" b="0">
                <a:solidFill>
                  <a:srgbClr val="61746F"/>
                </a:solidFill>
                <a:latin typeface="Calibri"/>
                <a:ea typeface="Calibri"/>
                <a:cs typeface="Calibri"/>
              </a:rPr>
              <a:t>Planned scope</a:t>
            </a:r>
          </a:p>
        </p:txBody>
      </p:sp>
    </p:spTree>
    <p:extLst>
      <p:ext uri="{BB962C8B-B14F-4D97-AF65-F5344CB8AC3E}">
        <p14:creationId xmlns:p14="http://schemas.microsoft.com/office/powerpoint/2010/main" val="1541111047"/>
      </p:ext>
    </p:extLst>
  </p:cSld>
</p:sld>
</file>

<file path=ppt/slides/slide18.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591559-E55E-409D-90A1-D40287562F8A}"/>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Country-based subscription pricing</a:t>
            </a:r>
          </a:p>
        </p:txBody>
      </p:sp>
      <p:sp>
        <p:nvSpPr>
          <p:cNvPr id="2" name="">
            <a:extLst xmlns:a="http://schemas.openxmlformats.org/drawingml/2006/main">
              <a:ext uri="{FF2B5EF4-FFF2-40B4-BE49-F238E27FC236}">
                <a16:creationId xmlns:a16="http://schemas.microsoft.com/office/drawing/2014/main" id="{2F2ADA49-978D-4CA8-8921-3BF943DBB3E8}"/>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0DCD0377-C74A-4B8E-8E6A-F7A1FCA1F501}"/>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18</a:t>
            </a:r>
          </a:p>
        </p:txBody>
      </p:sp>
      <p:sp>
        <p:nvSpPr>
          <p:cNvPr id="4" name="">
            <a:extLst xmlns:a="http://schemas.openxmlformats.org/drawingml/2006/main">
              <a:ext uri="{FF2B5EF4-FFF2-40B4-BE49-F238E27FC236}">
                <a16:creationId xmlns:a16="http://schemas.microsoft.com/office/drawing/2014/main" id="{9F889684-9799-49E3-8E9F-842CCAA5A834}"/>
              </a:ext>
            </a:extLst>
          </p:cNvPr>
          <p:cNvSpPr>
            <a:spLocks xmlns:a="http://schemas.openxmlformats.org/drawingml/2006/main" noGrp="1"/>
          </p:cNvSpPr>
          <p:nvPr/>
        </p:nvSpPr>
        <p:spPr>
          <a:xfrm xmlns:a="http://schemas.openxmlformats.org/drawingml/2006/main">
            <a:off x="619125" y="1543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Suggested local currency</a:t>
            </a:r>
          </a:p>
        </p:txBody>
      </p:sp>
      <p:sp>
        <p:nvSpPr>
          <p:cNvPr id="5" name="">
            <a:extLst xmlns:a="http://schemas.openxmlformats.org/drawingml/2006/main">
              <a:ext uri="{FF2B5EF4-FFF2-40B4-BE49-F238E27FC236}">
                <a16:creationId xmlns:a16="http://schemas.microsoft.com/office/drawing/2014/main" id="{139FF638-6EB9-4D61-BA57-A7B371481C8C}"/>
              </a:ext>
            </a:extLst>
          </p:cNvPr>
          <p:cNvSpPr>
            <a:spLocks xmlns:a="http://schemas.openxmlformats.org/drawingml/2006/main" noGrp="1"/>
          </p:cNvSpPr>
          <p:nvPr/>
        </p:nvSpPr>
        <p:spPr>
          <a:xfrm xmlns:a="http://schemas.openxmlformats.org/drawingml/2006/main">
            <a:off x="619125" y="19431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Approximate country detection chooses an initial display currency.</a:t>
            </a:r>
          </a:p>
        </p:txBody>
      </p:sp>
      <p:sp>
        <p:nvSpPr>
          <p:cNvPr id="6" name="">
            <a:extLst xmlns:a="http://schemas.openxmlformats.org/drawingml/2006/main">
              <a:ext uri="{FF2B5EF4-FFF2-40B4-BE49-F238E27FC236}">
                <a16:creationId xmlns:a16="http://schemas.microsoft.com/office/drawing/2014/main" id="{05583306-0394-4F74-82CA-9EAB8AF66B0F}"/>
              </a:ext>
            </a:extLst>
          </p:cNvPr>
          <p:cNvSpPr>
            <a:spLocks xmlns:a="http://schemas.openxmlformats.org/drawingml/2006/main" noGrp="1"/>
          </p:cNvSpPr>
          <p:nvPr/>
        </p:nvSpPr>
        <p:spPr>
          <a:xfrm xmlns:a="http://schemas.openxmlformats.org/drawingml/2006/main">
            <a:off x="619125" y="2619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A visible country selector</a:t>
            </a:r>
          </a:p>
        </p:txBody>
      </p:sp>
      <p:sp>
        <p:nvSpPr>
          <p:cNvPr id="7" name="">
            <a:extLst xmlns:a="http://schemas.openxmlformats.org/drawingml/2006/main">
              <a:ext uri="{FF2B5EF4-FFF2-40B4-BE49-F238E27FC236}">
                <a16:creationId xmlns:a16="http://schemas.microsoft.com/office/drawing/2014/main" id="{AEF6D0D6-FEA9-40D9-B43B-7458636EA32E}"/>
              </a:ext>
            </a:extLst>
          </p:cNvPr>
          <p:cNvSpPr>
            <a:spLocks xmlns:a="http://schemas.openxmlformats.org/drawingml/2006/main" noGrp="1"/>
          </p:cNvSpPr>
          <p:nvPr/>
        </p:nvSpPr>
        <p:spPr>
          <a:xfrm xmlns:a="http://schemas.openxmlformats.org/drawingml/2006/main">
            <a:off x="619125" y="301942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Visitors can correct the location or choose another supported currency.</a:t>
            </a:r>
          </a:p>
        </p:txBody>
      </p:sp>
      <p:sp>
        <p:nvSpPr>
          <p:cNvPr id="8" name="">
            <a:extLst xmlns:a="http://schemas.openxmlformats.org/drawingml/2006/main">
              <a:ext uri="{FF2B5EF4-FFF2-40B4-BE49-F238E27FC236}">
                <a16:creationId xmlns:a16="http://schemas.microsoft.com/office/drawing/2014/main" id="{F0AC38DD-0F94-4BE3-A855-F8D54F53B2C7}"/>
              </a:ext>
            </a:extLst>
          </p:cNvPr>
          <p:cNvSpPr>
            <a:spLocks xmlns:a="http://schemas.openxmlformats.org/drawingml/2006/main" noGrp="1"/>
          </p:cNvSpPr>
          <p:nvPr/>
        </p:nvSpPr>
        <p:spPr>
          <a:xfrm xmlns:a="http://schemas.openxmlformats.org/drawingml/2006/main">
            <a:off x="619125" y="36957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Controlled regional prices</a:t>
            </a:r>
          </a:p>
        </p:txBody>
      </p:sp>
      <p:sp>
        <p:nvSpPr>
          <p:cNvPr id="9" name="">
            <a:extLst xmlns:a="http://schemas.openxmlformats.org/drawingml/2006/main">
              <a:ext uri="{FF2B5EF4-FFF2-40B4-BE49-F238E27FC236}">
                <a16:creationId xmlns:a16="http://schemas.microsoft.com/office/drawing/2014/main" id="{31C10E73-0DAB-46D1-80E8-70E9BEA74D2D}"/>
              </a:ext>
            </a:extLst>
          </p:cNvPr>
          <p:cNvSpPr>
            <a:spLocks xmlns:a="http://schemas.openxmlformats.org/drawingml/2006/main" noGrp="1"/>
          </p:cNvSpPr>
          <p:nvPr/>
        </p:nvSpPr>
        <p:spPr>
          <a:xfrm xmlns:a="http://schemas.openxmlformats.org/drawingml/2006/main">
            <a:off x="619125" y="409575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USD is the base; reviewed local price lists use clear rounded amounts.</a:t>
            </a:r>
          </a:p>
        </p:txBody>
      </p:sp>
      <p:sp>
        <p:nvSpPr>
          <p:cNvPr id="10" name="">
            <a:extLst xmlns:a="http://schemas.openxmlformats.org/drawingml/2006/main">
              <a:ext uri="{FF2B5EF4-FFF2-40B4-BE49-F238E27FC236}">
                <a16:creationId xmlns:a16="http://schemas.microsoft.com/office/drawing/2014/main" id="{EC8C760C-1A44-4E33-8C1F-3EECFE55EF32}"/>
              </a:ext>
            </a:extLst>
          </p:cNvPr>
          <p:cNvSpPr>
            <a:spLocks xmlns:a="http://schemas.openxmlformats.org/drawingml/2006/main" noGrp="1"/>
          </p:cNvSpPr>
          <p:nvPr/>
        </p:nvSpPr>
        <p:spPr>
          <a:xfrm xmlns:a="http://schemas.openxmlformats.org/drawingml/2006/main">
            <a:off x="619125" y="47720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Consistent checkout</a:t>
            </a:r>
          </a:p>
        </p:txBody>
      </p:sp>
      <p:sp>
        <p:nvSpPr>
          <p:cNvPr id="11" name="">
            <a:extLst xmlns:a="http://schemas.openxmlformats.org/drawingml/2006/main">
              <a:ext uri="{FF2B5EF4-FFF2-40B4-BE49-F238E27FC236}">
                <a16:creationId xmlns:a16="http://schemas.microsoft.com/office/drawing/2014/main" id="{4D5B6E96-9710-4C71-83BD-B3C72AE2BF4B}"/>
              </a:ext>
            </a:extLst>
          </p:cNvPr>
          <p:cNvSpPr>
            <a:spLocks xmlns:a="http://schemas.openxmlformats.org/drawingml/2006/main" noGrp="1"/>
          </p:cNvSpPr>
          <p:nvPr/>
        </p:nvSpPr>
        <p:spPr>
          <a:xfrm xmlns:a="http://schemas.openxmlformats.org/drawingml/2006/main">
            <a:off x="619125" y="517207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Confirm country, tax and final total; keep invoices and renewals consistent.</a:t>
            </a:r>
          </a:p>
        </p:txBody>
      </p:sp>
    </p:spTree>
    <p:extLst>
      <p:ext uri="{BB962C8B-B14F-4D97-AF65-F5344CB8AC3E}">
        <p14:creationId xmlns:p14="http://schemas.microsoft.com/office/powerpoint/2010/main" val="72720306"/>
      </p:ext>
    </p:extLst>
  </p:cSld>
</p:sld>
</file>

<file path=ppt/slides/slide19.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15E0A4-477A-4E4E-9FB9-3FDBC062D41D}"/>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Proposed subscription plans</a:t>
            </a:r>
          </a:p>
        </p:txBody>
      </p:sp>
      <p:sp>
        <p:nvSpPr>
          <p:cNvPr id="2" name="">
            <a:extLst xmlns:a="http://schemas.openxmlformats.org/drawingml/2006/main">
              <a:ext uri="{FF2B5EF4-FFF2-40B4-BE49-F238E27FC236}">
                <a16:creationId xmlns:a16="http://schemas.microsoft.com/office/drawing/2014/main" id="{CEB04DDC-D39D-414E-8AEB-D331933D7FD5}"/>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D9E91438-D95F-40BA-85D6-7A5C6CE16680}"/>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19</a:t>
            </a:r>
          </a:p>
        </p:txBody>
      </p:sp>
      <p:graphicFrame>
        <p:nvGraphicFramePr>
          <p:cNvPr id="4" name="">
            <a:extLst xmlns:a="http://schemas.openxmlformats.org/drawingml/2006/main">
              <a:ext uri="{FF2B5EF4-FFF2-40B4-BE49-F238E27FC236}">
                <a16:creationId xmlns:a16="http://schemas.microsoft.com/office/drawing/2014/main" id="{5479D528-1B9A-4E34-8C29-4BC75074C88D}"/>
              </a:ext>
            </a:extLst>
          </p:cNvPr>
          <p:cNvGraphicFramePr/>
          <p:nvPr/>
        </p:nvGraphicFramePr>
        <p:xfrm>
          <a:off xmlns:a="http://schemas.openxmlformats.org/drawingml/2006/main" x="619125" y="1809750"/>
          <a:ext xmlns:a="http://schemas.openxmlformats.org/drawingml/2006/main" cx="10953750" cy="2857500"/>
        </p:xfrm>
        <a:graphic xmlns:a="http://schemas.openxmlformats.org/drawingml/2006/main">
          <a:graphicData uri="http://schemas.openxmlformats.org/drawingml/2006/table">
            <a:tbl>
              <a:tblPr/>
              <a:tblGrid>
                <a:gridCol w="4191000"/>
                <a:gridCol w="2857500"/>
                <a:gridCol w="3905250"/>
              </a:tblGrid>
              <a:tr h="714375">
                <a:tc>
                  <a:txBody>
                    <a:bodyPr/>
                    <a:lstStyle/>
                    <a:p>
                      <a:r>
                        <a:rPr sz="2250" b="1">
                          <a:solidFill>
                            <a:srgbClr val="FFFFFF"/>
                          </a:solidFill>
                          <a:latin typeface="Calibri"/>
                          <a:ea typeface="Calibri"/>
                          <a:cs typeface="Calibri"/>
                        </a:rPr>
                        <a:t>Plan</a:t>
                      </a:r>
                    </a:p>
                  </a:txBody>
                  <a:tcPr marL="91440" marR="91440" marT="45720" marB="45720">
                    <a:lnL w="9525">
                      <a:solidFill>
                        <a:srgbClr val="CEDAD2"/>
                      </a:solidFill>
                      <a:prstDash val="solid"/>
                    </a:lnL>
                    <a:lnR w="9525">
                      <a:solidFill>
                        <a:srgbClr val="CEDAD2"/>
                      </a:solidFill>
                      <a:prstDash val="solid"/>
                    </a:lnR>
                    <a:lnT w="9525">
                      <a:solidFill>
                        <a:srgbClr val="CEDAD2"/>
                      </a:solidFill>
                      <a:prstDash val="solid"/>
                    </a:lnT>
                    <a:lnB w="9525">
                      <a:solidFill>
                        <a:srgbClr val="CEDAD2"/>
                      </a:solidFill>
                      <a:prstDash val="solid"/>
                    </a:lnB>
                    <a:solidFill>
                      <a:srgbClr val="153D38"/>
                    </a:solidFill>
                  </a:tcPr>
                </a:tc>
                <a:tc>
                  <a:txBody>
                    <a:bodyPr/>
                    <a:lstStyle/>
                    <a:p>
                      <a:r>
                        <a:rPr sz="2250" b="1">
                          <a:solidFill>
                            <a:srgbClr val="FFFFFF"/>
                          </a:solidFill>
                          <a:latin typeface="Calibri"/>
                          <a:ea typeface="Calibri"/>
                          <a:cs typeface="Calibri"/>
                        </a:rPr>
                        <a:t>Monthly USD</a:t>
                      </a:r>
                    </a:p>
                  </a:txBody>
                  <a:tcPr marL="91440" marR="91440" marT="45720" marB="45720">
                    <a:lnR w="9525">
                      <a:solidFill>
                        <a:srgbClr val="CEDAD2"/>
                      </a:solidFill>
                      <a:prstDash val="solid"/>
                    </a:lnR>
                    <a:lnT w="9525">
                      <a:solidFill>
                        <a:srgbClr val="CEDAD2"/>
                      </a:solidFill>
                      <a:prstDash val="solid"/>
                    </a:lnT>
                    <a:lnB w="9525">
                      <a:solidFill>
                        <a:srgbClr val="CEDAD2"/>
                      </a:solidFill>
                      <a:prstDash val="solid"/>
                    </a:lnB>
                    <a:solidFill>
                      <a:srgbClr val="153D38"/>
                    </a:solidFill>
                  </a:tcPr>
                </a:tc>
                <a:tc>
                  <a:txBody>
                    <a:bodyPr/>
                    <a:lstStyle/>
                    <a:p>
                      <a:r>
                        <a:rPr sz="2250" b="1">
                          <a:solidFill>
                            <a:srgbClr val="FFFFFF"/>
                          </a:solidFill>
                          <a:latin typeface="Calibri"/>
                          <a:ea typeface="Calibri"/>
                          <a:cs typeface="Calibri"/>
                        </a:rPr>
                        <a:t>Included active workers</a:t>
                      </a:r>
                    </a:p>
                  </a:txBody>
                  <a:tcPr marL="91440" marR="91440" marT="45720" marB="45720">
                    <a:lnR w="9525">
                      <a:solidFill>
                        <a:srgbClr val="CEDAD2"/>
                      </a:solidFill>
                      <a:prstDash val="solid"/>
                    </a:lnR>
                    <a:lnT w="9525">
                      <a:solidFill>
                        <a:srgbClr val="CEDAD2"/>
                      </a:solidFill>
                      <a:prstDash val="solid"/>
                    </a:lnT>
                    <a:lnB w="9525">
                      <a:solidFill>
                        <a:srgbClr val="CEDAD2"/>
                      </a:solidFill>
                      <a:prstDash val="solid"/>
                    </a:lnB>
                    <a:solidFill>
                      <a:srgbClr val="153D38"/>
                    </a:solidFill>
                  </a:tcPr>
                </a:tc>
              </a:tr>
              <a:tr h="714375">
                <a:tc>
                  <a:txBody>
                    <a:bodyPr/>
                    <a:lstStyle/>
                    <a:p>
                      <a:r>
                        <a:rPr sz="2250" b="0">
                          <a:solidFill>
                            <a:srgbClr val="334B48"/>
                          </a:solidFill>
                          <a:latin typeface="Calibri"/>
                          <a:ea typeface="Calibri"/>
                          <a:cs typeface="Calibri"/>
                        </a:rPr>
                        <a:t>Starter</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FFFFFF"/>
                    </a:solidFill>
                  </a:tcPr>
                </a:tc>
                <a:tc>
                  <a:txBody>
                    <a:bodyPr/>
                    <a:lstStyle/>
                    <a:p>
                      <a:r>
                        <a:rPr sz="2250" b="0">
                          <a:solidFill>
                            <a:srgbClr val="334B48"/>
                          </a:solidFill>
                          <a:latin typeface="Calibri"/>
                          <a:ea typeface="Calibri"/>
                          <a:cs typeface="Calibri"/>
                        </a:rPr>
                        <a:t>$59</a:t>
                      </a:r>
                    </a:p>
                  </a:txBody>
                  <a:tcPr marL="91440" marR="91440" marT="45720" marB="45720">
                    <a:lnR w="9525">
                      <a:solidFill>
                        <a:srgbClr val="CEDAD2"/>
                      </a:solidFill>
                      <a:prstDash val="solid"/>
                    </a:lnR>
                    <a:lnB w="9525">
                      <a:solidFill>
                        <a:srgbClr val="CEDAD2"/>
                      </a:solidFill>
                      <a:prstDash val="solid"/>
                    </a:lnB>
                    <a:solidFill>
                      <a:srgbClr val="FFFFFF"/>
                    </a:solidFill>
                  </a:tcPr>
                </a:tc>
                <a:tc>
                  <a:txBody>
                    <a:bodyPr/>
                    <a:lstStyle/>
                    <a:p>
                      <a:r>
                        <a:rPr sz="2250" b="0">
                          <a:solidFill>
                            <a:srgbClr val="334B48"/>
                          </a:solidFill>
                          <a:latin typeface="Calibri"/>
                          <a:ea typeface="Calibri"/>
                          <a:cs typeface="Calibri"/>
                        </a:rPr>
                        <a:t>10</a:t>
                      </a:r>
                    </a:p>
                  </a:txBody>
                  <a:tcPr marL="91440" marR="91440" marT="45720" marB="45720">
                    <a:lnR w="9525">
                      <a:solidFill>
                        <a:srgbClr val="CEDAD2"/>
                      </a:solidFill>
                      <a:prstDash val="solid"/>
                    </a:lnR>
                    <a:lnB w="9525">
                      <a:solidFill>
                        <a:srgbClr val="CEDAD2"/>
                      </a:solidFill>
                      <a:prstDash val="solid"/>
                    </a:lnB>
                    <a:solidFill>
                      <a:srgbClr val="FFFFFF"/>
                    </a:solidFill>
                  </a:tcPr>
                </a:tc>
              </a:tr>
              <a:tr h="714375">
                <a:tc>
                  <a:txBody>
                    <a:bodyPr/>
                    <a:lstStyle/>
                    <a:p>
                      <a:r>
                        <a:rPr sz="2250" b="0">
                          <a:solidFill>
                            <a:srgbClr val="334B48"/>
                          </a:solidFill>
                          <a:latin typeface="Calibri"/>
                          <a:ea typeface="Calibri"/>
                          <a:cs typeface="Calibri"/>
                        </a:rPr>
                        <a:t>Operations</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EDF2E9"/>
                    </a:solidFill>
                  </a:tcPr>
                </a:tc>
                <a:tc>
                  <a:txBody>
                    <a:bodyPr/>
                    <a:lstStyle/>
                    <a:p>
                      <a:r>
                        <a:rPr sz="2250" b="0">
                          <a:solidFill>
                            <a:srgbClr val="334B48"/>
                          </a:solidFill>
                          <a:latin typeface="Calibri"/>
                          <a:ea typeface="Calibri"/>
                          <a:cs typeface="Calibri"/>
                        </a:rPr>
                        <a:t>$129</a:t>
                      </a:r>
                    </a:p>
                  </a:txBody>
                  <a:tcPr marL="91440" marR="91440" marT="45720" marB="45720">
                    <a:lnR w="9525">
                      <a:solidFill>
                        <a:srgbClr val="CEDAD2"/>
                      </a:solidFill>
                      <a:prstDash val="solid"/>
                    </a:lnR>
                    <a:lnB w="9525">
                      <a:solidFill>
                        <a:srgbClr val="CEDAD2"/>
                      </a:solidFill>
                      <a:prstDash val="solid"/>
                    </a:lnB>
                    <a:solidFill>
                      <a:srgbClr val="EDF2E9"/>
                    </a:solidFill>
                  </a:tcPr>
                </a:tc>
                <a:tc>
                  <a:txBody>
                    <a:bodyPr/>
                    <a:lstStyle/>
                    <a:p>
                      <a:r>
                        <a:rPr sz="2250" b="0">
                          <a:solidFill>
                            <a:srgbClr val="334B48"/>
                          </a:solidFill>
                          <a:latin typeface="Calibri"/>
                          <a:ea typeface="Calibri"/>
                          <a:cs typeface="Calibri"/>
                        </a:rPr>
                        <a:t>30</a:t>
                      </a:r>
                    </a:p>
                  </a:txBody>
                  <a:tcPr marL="91440" marR="91440" marT="45720" marB="45720">
                    <a:lnR w="9525">
                      <a:solidFill>
                        <a:srgbClr val="CEDAD2"/>
                      </a:solidFill>
                      <a:prstDash val="solid"/>
                    </a:lnR>
                    <a:lnB w="9525">
                      <a:solidFill>
                        <a:srgbClr val="CEDAD2"/>
                      </a:solidFill>
                      <a:prstDash val="solid"/>
                    </a:lnB>
                    <a:solidFill>
                      <a:srgbClr val="EDF2E9"/>
                    </a:solidFill>
                  </a:tcPr>
                </a:tc>
              </a:tr>
              <a:tr h="714375">
                <a:tc>
                  <a:txBody>
                    <a:bodyPr/>
                    <a:lstStyle/>
                    <a:p>
                      <a:r>
                        <a:rPr sz="2250" b="0">
                          <a:solidFill>
                            <a:srgbClr val="334B48"/>
                          </a:solidFill>
                          <a:latin typeface="Calibri"/>
                          <a:ea typeface="Calibri"/>
                          <a:cs typeface="Calibri"/>
                        </a:rPr>
                        <a:t>Growth</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FFFFFF"/>
                    </a:solidFill>
                  </a:tcPr>
                </a:tc>
                <a:tc>
                  <a:txBody>
                    <a:bodyPr/>
                    <a:lstStyle/>
                    <a:p>
                      <a:r>
                        <a:rPr sz="2250" b="0">
                          <a:solidFill>
                            <a:srgbClr val="334B48"/>
                          </a:solidFill>
                          <a:latin typeface="Calibri"/>
                          <a:ea typeface="Calibri"/>
                          <a:cs typeface="Calibri"/>
                        </a:rPr>
                        <a:t>$249</a:t>
                      </a:r>
                    </a:p>
                  </a:txBody>
                  <a:tcPr marL="91440" marR="91440" marT="45720" marB="45720">
                    <a:lnR w="9525">
                      <a:solidFill>
                        <a:srgbClr val="CEDAD2"/>
                      </a:solidFill>
                      <a:prstDash val="solid"/>
                    </a:lnR>
                    <a:lnB w="9525">
                      <a:solidFill>
                        <a:srgbClr val="CEDAD2"/>
                      </a:solidFill>
                      <a:prstDash val="solid"/>
                    </a:lnB>
                    <a:solidFill>
                      <a:srgbClr val="FFFFFF"/>
                    </a:solidFill>
                  </a:tcPr>
                </a:tc>
                <a:tc>
                  <a:txBody>
                    <a:bodyPr/>
                    <a:lstStyle/>
                    <a:p>
                      <a:r>
                        <a:rPr sz="2250" b="0">
                          <a:solidFill>
                            <a:srgbClr val="334B48"/>
                          </a:solidFill>
                          <a:latin typeface="Calibri"/>
                          <a:ea typeface="Calibri"/>
                          <a:cs typeface="Calibri"/>
                        </a:rPr>
                        <a:t>75</a:t>
                      </a:r>
                    </a:p>
                  </a:txBody>
                  <a:tcPr marL="91440" marR="91440" marT="45720" marB="45720">
                    <a:lnR w="9525">
                      <a:solidFill>
                        <a:srgbClr val="CEDAD2"/>
                      </a:solidFill>
                      <a:prstDash val="solid"/>
                    </a:lnR>
                    <a:lnB w="9525">
                      <a:solidFill>
                        <a:srgbClr val="CEDAD2"/>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2B23512-09FB-46C2-BA77-3762AFA11DC8}"/>
              </a:ext>
            </a:extLst>
          </p:cNvPr>
          <p:cNvSpPr>
            <a:spLocks xmlns:a="http://schemas.openxmlformats.org/drawingml/2006/main" noGrp="1"/>
          </p:cNvSpPr>
          <p:nvPr/>
        </p:nvSpPr>
        <p:spPr>
          <a:xfrm xmlns:a="http://schemas.openxmlformats.org/drawingml/2006/main">
            <a:off x="619125" y="5048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53D38"/>
                </a:solidFill>
                <a:latin typeface="Calibri"/>
                <a:ea typeface="Calibri"/>
                <a:cs typeface="Calibri"/>
              </a:defRPr>
            </a:defPPr>
            <a:lvl1pPr>
              <a:defRPr sz="1950" b="1">
                <a:solidFill>
                  <a:srgbClr val="153D38"/>
                </a:solidFill>
                <a:latin typeface="Calibri"/>
                <a:ea typeface="Calibri"/>
                <a:cs typeface="Calibri"/>
              </a:defRPr>
            </a:lvl1pPr>
            <a:lvl2pPr>
              <a:defRPr sz="1950" b="1">
                <a:solidFill>
                  <a:srgbClr val="153D38"/>
                </a:solidFill>
                <a:latin typeface="Calibri"/>
                <a:ea typeface="Calibri"/>
                <a:cs typeface="Calibri"/>
              </a:defRPr>
            </a:lvl2pPr>
            <a:lvl3pPr>
              <a:defRPr sz="1950" b="1">
                <a:solidFill>
                  <a:srgbClr val="153D38"/>
                </a:solidFill>
                <a:latin typeface="Calibri"/>
                <a:ea typeface="Calibri"/>
                <a:cs typeface="Calibri"/>
              </a:defRPr>
            </a:lvl3pPr>
            <a:lvl4pPr>
              <a:defRPr sz="1950" b="1">
                <a:solidFill>
                  <a:srgbClr val="153D38"/>
                </a:solidFill>
                <a:latin typeface="Calibri"/>
                <a:ea typeface="Calibri"/>
                <a:cs typeface="Calibri"/>
              </a:defRPr>
            </a:lvl4pPr>
            <a:lvl5pPr>
              <a:defRPr sz="1950" b="1">
                <a:solidFill>
                  <a:srgbClr val="153D38"/>
                </a:solidFill>
                <a:latin typeface="Calibri"/>
                <a:ea typeface="Calibri"/>
                <a:cs typeface="Calibri"/>
              </a:defRPr>
            </a:lvl5pPr>
            <a:lvl6pPr>
              <a:defRPr sz="1950" b="1">
                <a:solidFill>
                  <a:srgbClr val="153D38"/>
                </a:solidFill>
                <a:latin typeface="Calibri"/>
                <a:ea typeface="Calibri"/>
                <a:cs typeface="Calibri"/>
              </a:defRPr>
            </a:lvl6pPr>
            <a:lvl7pPr>
              <a:defRPr sz="1950" b="1">
                <a:solidFill>
                  <a:srgbClr val="153D38"/>
                </a:solidFill>
                <a:latin typeface="Calibri"/>
                <a:ea typeface="Calibri"/>
                <a:cs typeface="Calibri"/>
              </a:defRPr>
            </a:lvl7pPr>
            <a:lvl8pPr>
              <a:defRPr sz="1950" b="1">
                <a:solidFill>
                  <a:srgbClr val="153D38"/>
                </a:solidFill>
                <a:latin typeface="Calibri"/>
                <a:ea typeface="Calibri"/>
                <a:cs typeface="Calibri"/>
              </a:defRPr>
            </a:lvl8pPr>
            <a:lvl9pPr>
              <a:defRPr sz="1950" b="1">
                <a:solidFill>
                  <a:srgbClr val="153D38"/>
                </a:solidFill>
                <a:latin typeface="Calibri"/>
                <a:ea typeface="Calibri"/>
                <a:cs typeface="Calibri"/>
              </a:defRPr>
            </a:lvl9pPr>
          </a:lstStyle>
          <a:p xmlns:a="http://schemas.openxmlformats.org/drawingml/2006/main">
            <a:pPr>
              <a:defRPr sz="1950" b="1">
                <a:solidFill>
                  <a:srgbClr val="153D38"/>
                </a:solidFill>
                <a:latin typeface="Calibri"/>
                <a:ea typeface="Calibri"/>
                <a:cs typeface="Calibri"/>
              </a:defRPr>
            </a:pPr>
            <a:r>
              <a:rPr sz="1950" b="1">
                <a:solidFill>
                  <a:srgbClr val="153D38"/>
                </a:solidFill>
                <a:latin typeface="Calibri"/>
                <a:ea typeface="Calibri"/>
                <a:cs typeface="Calibri"/>
              </a:rPr>
              <a:t>Extra worker proposal: $3/month. Larger organizations receive a scoped quote.</a:t>
            </a:r>
          </a:p>
        </p:txBody>
      </p:sp>
      <p:sp>
        <p:nvSpPr>
          <p:cNvPr id="6" name="">
            <a:extLst xmlns:a="http://schemas.openxmlformats.org/drawingml/2006/main">
              <a:ext uri="{FF2B5EF4-FFF2-40B4-BE49-F238E27FC236}">
                <a16:creationId xmlns:a16="http://schemas.microsoft.com/office/drawing/2014/main" id="{D90E94C7-BCDE-425C-BE35-CAD2C4953C2D}"/>
              </a:ext>
            </a:extLst>
          </p:cNvPr>
          <p:cNvSpPr>
            <a:spLocks xmlns:a="http://schemas.openxmlformats.org/drawingml/2006/main" noGrp="1"/>
          </p:cNvSpPr>
          <p:nvPr/>
        </p:nvSpPr>
        <p:spPr>
          <a:xfrm xmlns:a="http://schemas.openxmlformats.org/drawingml/2006/main">
            <a:off x="619125" y="57531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1746F"/>
                </a:solidFill>
                <a:latin typeface="Calibri"/>
                <a:ea typeface="Calibri"/>
                <a:cs typeface="Calibri"/>
              </a:defRPr>
            </a:defPPr>
            <a:lvl1pPr>
              <a:defRPr sz="1725" b="0">
                <a:solidFill>
                  <a:srgbClr val="61746F"/>
                </a:solidFill>
                <a:latin typeface="Calibri"/>
                <a:ea typeface="Calibri"/>
                <a:cs typeface="Calibri"/>
              </a:defRPr>
            </a:lvl1pPr>
            <a:lvl2pPr>
              <a:defRPr sz="1725" b="0">
                <a:solidFill>
                  <a:srgbClr val="61746F"/>
                </a:solidFill>
                <a:latin typeface="Calibri"/>
                <a:ea typeface="Calibri"/>
                <a:cs typeface="Calibri"/>
              </a:defRPr>
            </a:lvl2pPr>
            <a:lvl3pPr>
              <a:defRPr sz="1725" b="0">
                <a:solidFill>
                  <a:srgbClr val="61746F"/>
                </a:solidFill>
                <a:latin typeface="Calibri"/>
                <a:ea typeface="Calibri"/>
                <a:cs typeface="Calibri"/>
              </a:defRPr>
            </a:lvl3pPr>
            <a:lvl4pPr>
              <a:defRPr sz="1725" b="0">
                <a:solidFill>
                  <a:srgbClr val="61746F"/>
                </a:solidFill>
                <a:latin typeface="Calibri"/>
                <a:ea typeface="Calibri"/>
                <a:cs typeface="Calibri"/>
              </a:defRPr>
            </a:lvl4pPr>
            <a:lvl5pPr>
              <a:defRPr sz="1725" b="0">
                <a:solidFill>
                  <a:srgbClr val="61746F"/>
                </a:solidFill>
                <a:latin typeface="Calibri"/>
                <a:ea typeface="Calibri"/>
                <a:cs typeface="Calibri"/>
              </a:defRPr>
            </a:lvl5pPr>
            <a:lvl6pPr>
              <a:defRPr sz="1725" b="0">
                <a:solidFill>
                  <a:srgbClr val="61746F"/>
                </a:solidFill>
                <a:latin typeface="Calibri"/>
                <a:ea typeface="Calibri"/>
                <a:cs typeface="Calibri"/>
              </a:defRPr>
            </a:lvl6pPr>
            <a:lvl7pPr>
              <a:defRPr sz="1725" b="0">
                <a:solidFill>
                  <a:srgbClr val="61746F"/>
                </a:solidFill>
                <a:latin typeface="Calibri"/>
                <a:ea typeface="Calibri"/>
                <a:cs typeface="Calibri"/>
              </a:defRPr>
            </a:lvl7pPr>
            <a:lvl8pPr>
              <a:defRPr sz="1725" b="0">
                <a:solidFill>
                  <a:srgbClr val="61746F"/>
                </a:solidFill>
                <a:latin typeface="Calibri"/>
                <a:ea typeface="Calibri"/>
                <a:cs typeface="Calibri"/>
              </a:defRPr>
            </a:lvl8pPr>
            <a:lvl9pPr>
              <a:defRPr sz="1725" b="0">
                <a:solidFill>
                  <a:srgbClr val="61746F"/>
                </a:solidFill>
                <a:latin typeface="Calibri"/>
                <a:ea typeface="Calibri"/>
                <a:cs typeface="Calibri"/>
              </a:defRPr>
            </a:lvl9pPr>
          </a:lstStyle>
          <a:p xmlns:a="http://schemas.openxmlformats.org/drawingml/2006/main">
            <a:pPr>
              <a:defRPr sz="1725" b="0">
                <a:solidFill>
                  <a:srgbClr val="61746F"/>
                </a:solidFill>
                <a:latin typeface="Calibri"/>
                <a:ea typeface="Calibri"/>
                <a:cs typeface="Calibri"/>
              </a:defRPr>
            </a:pPr>
            <a:r>
              <a:rPr sz="1725" b="0">
                <a:solidFill>
                  <a:srgbClr val="61746F"/>
                </a:solidFill>
                <a:latin typeface="Calibri"/>
                <a:ea typeface="Calibri"/>
                <a:cs typeface="Calibri"/>
              </a:rPr>
              <a:t>Candidate access remains free in the pilot. Prices require validation against actual costs.</a:t>
            </a:r>
          </a:p>
        </p:txBody>
      </p:sp>
    </p:spTree>
    <p:extLst>
      <p:ext uri="{BB962C8B-B14F-4D97-AF65-F5344CB8AC3E}">
        <p14:creationId xmlns:p14="http://schemas.microsoft.com/office/powerpoint/2010/main" val="896090837"/>
      </p:ext>
    </p:extLst>
  </p:cSld>
</p:sld>
</file>

<file path=ppt/slides/slide20.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595015-0C80-4C95-B54F-8E1D121DE57A}"/>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Pilot cost and profit model</a:t>
            </a:r>
          </a:p>
        </p:txBody>
      </p:sp>
      <p:sp>
        <p:nvSpPr>
          <p:cNvPr id="2" name="">
            <a:extLst xmlns:a="http://schemas.openxmlformats.org/drawingml/2006/main">
              <a:ext uri="{FF2B5EF4-FFF2-40B4-BE49-F238E27FC236}">
                <a16:creationId xmlns:a16="http://schemas.microsoft.com/office/drawing/2014/main" id="{7F4C0E1E-BCA7-44F8-AB5E-4CCCC5721D24}"/>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48A8C7D4-21FF-4A42-AC3E-A2AF676C5122}"/>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20</a:t>
            </a:r>
          </a:p>
        </p:txBody>
      </p:sp>
      <p:sp>
        <p:nvSpPr>
          <p:cNvPr id="4" name="">
            <a:extLst xmlns:a="http://schemas.openxmlformats.org/drawingml/2006/main">
              <a:ext uri="{FF2B5EF4-FFF2-40B4-BE49-F238E27FC236}">
                <a16:creationId xmlns:a16="http://schemas.microsoft.com/office/drawing/2014/main" id="{97F7A7FE-C035-4813-93CC-71A5D62D1ACF}"/>
              </a:ext>
            </a:extLst>
          </p:cNvPr>
          <p:cNvSpPr>
            <a:spLocks xmlns:a="http://schemas.openxmlformats.org/drawingml/2006/main" noGrp="1"/>
          </p:cNvSpPr>
          <p:nvPr/>
        </p:nvSpPr>
        <p:spPr>
          <a:xfrm xmlns:a="http://schemas.openxmlformats.org/drawingml/2006/main">
            <a:off x="619125" y="1619250"/>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137F73"/>
                </a:solidFill>
                <a:latin typeface="Calibri"/>
                <a:ea typeface="Calibri"/>
                <a:cs typeface="Calibri"/>
              </a:defRPr>
            </a:defPPr>
            <a:lvl1pPr>
              <a:defRPr sz="4875" b="1">
                <a:solidFill>
                  <a:srgbClr val="137F73"/>
                </a:solidFill>
                <a:latin typeface="Calibri"/>
                <a:ea typeface="Calibri"/>
                <a:cs typeface="Calibri"/>
              </a:defRPr>
            </a:lvl1pPr>
            <a:lvl2pPr>
              <a:defRPr sz="4875" b="1">
                <a:solidFill>
                  <a:srgbClr val="137F73"/>
                </a:solidFill>
                <a:latin typeface="Calibri"/>
                <a:ea typeface="Calibri"/>
                <a:cs typeface="Calibri"/>
              </a:defRPr>
            </a:lvl2pPr>
            <a:lvl3pPr>
              <a:defRPr sz="4875" b="1">
                <a:solidFill>
                  <a:srgbClr val="137F73"/>
                </a:solidFill>
                <a:latin typeface="Calibri"/>
                <a:ea typeface="Calibri"/>
                <a:cs typeface="Calibri"/>
              </a:defRPr>
            </a:lvl3pPr>
            <a:lvl4pPr>
              <a:defRPr sz="4875" b="1">
                <a:solidFill>
                  <a:srgbClr val="137F73"/>
                </a:solidFill>
                <a:latin typeface="Calibri"/>
                <a:ea typeface="Calibri"/>
                <a:cs typeface="Calibri"/>
              </a:defRPr>
            </a:lvl4pPr>
            <a:lvl5pPr>
              <a:defRPr sz="4875" b="1">
                <a:solidFill>
                  <a:srgbClr val="137F73"/>
                </a:solidFill>
                <a:latin typeface="Calibri"/>
                <a:ea typeface="Calibri"/>
                <a:cs typeface="Calibri"/>
              </a:defRPr>
            </a:lvl5pPr>
            <a:lvl6pPr>
              <a:defRPr sz="4875" b="1">
                <a:solidFill>
                  <a:srgbClr val="137F73"/>
                </a:solidFill>
                <a:latin typeface="Calibri"/>
                <a:ea typeface="Calibri"/>
                <a:cs typeface="Calibri"/>
              </a:defRPr>
            </a:lvl6pPr>
            <a:lvl7pPr>
              <a:defRPr sz="4875" b="1">
                <a:solidFill>
                  <a:srgbClr val="137F73"/>
                </a:solidFill>
                <a:latin typeface="Calibri"/>
                <a:ea typeface="Calibri"/>
                <a:cs typeface="Calibri"/>
              </a:defRPr>
            </a:lvl7pPr>
            <a:lvl8pPr>
              <a:defRPr sz="4875" b="1">
                <a:solidFill>
                  <a:srgbClr val="137F73"/>
                </a:solidFill>
                <a:latin typeface="Calibri"/>
                <a:ea typeface="Calibri"/>
                <a:cs typeface="Calibri"/>
              </a:defRPr>
            </a:lvl8pPr>
            <a:lvl9pPr>
              <a:defRPr sz="4875" b="1">
                <a:solidFill>
                  <a:srgbClr val="137F73"/>
                </a:solidFill>
                <a:latin typeface="Calibri"/>
                <a:ea typeface="Calibri"/>
                <a:cs typeface="Calibri"/>
              </a:defRPr>
            </a:lvl9pPr>
          </a:lstStyle>
          <a:p xmlns:a="http://schemas.openxmlformats.org/drawingml/2006/main">
            <a:pPr>
              <a:defRPr sz="4875" b="1">
                <a:solidFill>
                  <a:srgbClr val="137F73"/>
                </a:solidFill>
                <a:latin typeface="Calibri"/>
                <a:ea typeface="Calibri"/>
                <a:cs typeface="Calibri"/>
              </a:defRPr>
            </a:pPr>
            <a:r>
              <a:rPr sz="4875" b="1">
                <a:solidFill>
                  <a:srgbClr val="137F73"/>
                </a:solidFill>
                <a:latin typeface="Calibri"/>
                <a:ea typeface="Calibri"/>
                <a:cs typeface="Calibri"/>
              </a:rPr>
              <a:t>$45.60</a:t>
            </a:r>
          </a:p>
        </p:txBody>
      </p:sp>
      <p:sp>
        <p:nvSpPr>
          <p:cNvPr id="5" name="">
            <a:extLst xmlns:a="http://schemas.openxmlformats.org/drawingml/2006/main">
              <a:ext uri="{FF2B5EF4-FFF2-40B4-BE49-F238E27FC236}">
                <a16:creationId xmlns:a16="http://schemas.microsoft.com/office/drawing/2014/main" id="{6525F40D-C8AF-4BC0-B0EC-91FA22145987}"/>
              </a:ext>
            </a:extLst>
          </p:cNvPr>
          <p:cNvSpPr>
            <a:spLocks xmlns:a="http://schemas.openxmlformats.org/drawingml/2006/main" noGrp="1"/>
          </p:cNvSpPr>
          <p:nvPr/>
        </p:nvSpPr>
        <p:spPr>
          <a:xfrm xmlns:a="http://schemas.openxmlformats.org/drawingml/2006/main">
            <a:off x="619125" y="25146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34B48"/>
                </a:solidFill>
                <a:latin typeface="Calibri"/>
                <a:ea typeface="Calibri"/>
                <a:cs typeface="Calibri"/>
              </a:defRPr>
            </a:defPPr>
            <a:lvl1pPr>
              <a:defRPr sz="2100" b="0">
                <a:solidFill>
                  <a:srgbClr val="334B48"/>
                </a:solidFill>
                <a:latin typeface="Calibri"/>
                <a:ea typeface="Calibri"/>
                <a:cs typeface="Calibri"/>
              </a:defRPr>
            </a:lvl1pPr>
            <a:lvl2pPr>
              <a:defRPr sz="2100" b="0">
                <a:solidFill>
                  <a:srgbClr val="334B48"/>
                </a:solidFill>
                <a:latin typeface="Calibri"/>
                <a:ea typeface="Calibri"/>
                <a:cs typeface="Calibri"/>
              </a:defRPr>
            </a:lvl2pPr>
            <a:lvl3pPr>
              <a:defRPr sz="2100" b="0">
                <a:solidFill>
                  <a:srgbClr val="334B48"/>
                </a:solidFill>
                <a:latin typeface="Calibri"/>
                <a:ea typeface="Calibri"/>
                <a:cs typeface="Calibri"/>
              </a:defRPr>
            </a:lvl3pPr>
            <a:lvl4pPr>
              <a:defRPr sz="2100" b="0">
                <a:solidFill>
                  <a:srgbClr val="334B48"/>
                </a:solidFill>
                <a:latin typeface="Calibri"/>
                <a:ea typeface="Calibri"/>
                <a:cs typeface="Calibri"/>
              </a:defRPr>
            </a:lvl4pPr>
            <a:lvl5pPr>
              <a:defRPr sz="2100" b="0">
                <a:solidFill>
                  <a:srgbClr val="334B48"/>
                </a:solidFill>
                <a:latin typeface="Calibri"/>
                <a:ea typeface="Calibri"/>
                <a:cs typeface="Calibri"/>
              </a:defRPr>
            </a:lvl5pPr>
            <a:lvl6pPr>
              <a:defRPr sz="2100" b="0">
                <a:solidFill>
                  <a:srgbClr val="334B48"/>
                </a:solidFill>
                <a:latin typeface="Calibri"/>
                <a:ea typeface="Calibri"/>
                <a:cs typeface="Calibri"/>
              </a:defRPr>
            </a:lvl6pPr>
            <a:lvl7pPr>
              <a:defRPr sz="2100" b="0">
                <a:solidFill>
                  <a:srgbClr val="334B48"/>
                </a:solidFill>
                <a:latin typeface="Calibri"/>
                <a:ea typeface="Calibri"/>
                <a:cs typeface="Calibri"/>
              </a:defRPr>
            </a:lvl7pPr>
            <a:lvl8pPr>
              <a:defRPr sz="2100" b="0">
                <a:solidFill>
                  <a:srgbClr val="334B48"/>
                </a:solidFill>
                <a:latin typeface="Calibri"/>
                <a:ea typeface="Calibri"/>
                <a:cs typeface="Calibri"/>
              </a:defRPr>
            </a:lvl8pPr>
            <a:lvl9pPr>
              <a:defRPr sz="2100" b="0">
                <a:solidFill>
                  <a:srgbClr val="334B48"/>
                </a:solidFill>
                <a:latin typeface="Calibri"/>
                <a:ea typeface="Calibri"/>
                <a:cs typeface="Calibri"/>
              </a:defRPr>
            </a:lvl9pPr>
          </a:lstStyle>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Monthly servers and VM backups</a:t>
            </a:r>
          </a:p>
        </p:txBody>
      </p:sp>
      <p:sp>
        <p:nvSpPr>
          <p:cNvPr id="6" name="">
            <a:extLst xmlns:a="http://schemas.openxmlformats.org/drawingml/2006/main">
              <a:ext uri="{FF2B5EF4-FFF2-40B4-BE49-F238E27FC236}">
                <a16:creationId xmlns:a16="http://schemas.microsoft.com/office/drawing/2014/main" id="{6F718EEC-A263-4BF2-8F4F-1E93E0FF20F0}"/>
              </a:ext>
            </a:extLst>
          </p:cNvPr>
          <p:cNvSpPr>
            <a:spLocks xmlns:a="http://schemas.openxmlformats.org/drawingml/2006/main" noGrp="1"/>
          </p:cNvSpPr>
          <p:nvPr/>
        </p:nvSpPr>
        <p:spPr>
          <a:xfrm xmlns:a="http://schemas.openxmlformats.org/drawingml/2006/main">
            <a:off x="6334125" y="1619250"/>
            <a:ext cx="504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153D38"/>
                </a:solidFill>
                <a:latin typeface="Calibri"/>
                <a:ea typeface="Calibri"/>
                <a:cs typeface="Calibri"/>
              </a:defRPr>
            </a:defPPr>
            <a:lvl1pPr>
              <a:defRPr sz="4875" b="1">
                <a:solidFill>
                  <a:srgbClr val="153D38"/>
                </a:solidFill>
                <a:latin typeface="Calibri"/>
                <a:ea typeface="Calibri"/>
                <a:cs typeface="Calibri"/>
              </a:defRPr>
            </a:lvl1pPr>
            <a:lvl2pPr>
              <a:defRPr sz="4875" b="1">
                <a:solidFill>
                  <a:srgbClr val="153D38"/>
                </a:solidFill>
                <a:latin typeface="Calibri"/>
                <a:ea typeface="Calibri"/>
                <a:cs typeface="Calibri"/>
              </a:defRPr>
            </a:lvl2pPr>
            <a:lvl3pPr>
              <a:defRPr sz="4875" b="1">
                <a:solidFill>
                  <a:srgbClr val="153D38"/>
                </a:solidFill>
                <a:latin typeface="Calibri"/>
                <a:ea typeface="Calibri"/>
                <a:cs typeface="Calibri"/>
              </a:defRPr>
            </a:lvl3pPr>
            <a:lvl4pPr>
              <a:defRPr sz="4875" b="1">
                <a:solidFill>
                  <a:srgbClr val="153D38"/>
                </a:solidFill>
                <a:latin typeface="Calibri"/>
                <a:ea typeface="Calibri"/>
                <a:cs typeface="Calibri"/>
              </a:defRPr>
            </a:lvl4pPr>
            <a:lvl5pPr>
              <a:defRPr sz="4875" b="1">
                <a:solidFill>
                  <a:srgbClr val="153D38"/>
                </a:solidFill>
                <a:latin typeface="Calibri"/>
                <a:ea typeface="Calibri"/>
                <a:cs typeface="Calibri"/>
              </a:defRPr>
            </a:lvl5pPr>
            <a:lvl6pPr>
              <a:defRPr sz="4875" b="1">
                <a:solidFill>
                  <a:srgbClr val="153D38"/>
                </a:solidFill>
                <a:latin typeface="Calibri"/>
                <a:ea typeface="Calibri"/>
                <a:cs typeface="Calibri"/>
              </a:defRPr>
            </a:lvl6pPr>
            <a:lvl7pPr>
              <a:defRPr sz="4875" b="1">
                <a:solidFill>
                  <a:srgbClr val="153D38"/>
                </a:solidFill>
                <a:latin typeface="Calibri"/>
                <a:ea typeface="Calibri"/>
                <a:cs typeface="Calibri"/>
              </a:defRPr>
            </a:lvl7pPr>
            <a:lvl8pPr>
              <a:defRPr sz="4875" b="1">
                <a:solidFill>
                  <a:srgbClr val="153D38"/>
                </a:solidFill>
                <a:latin typeface="Calibri"/>
                <a:ea typeface="Calibri"/>
                <a:cs typeface="Calibri"/>
              </a:defRPr>
            </a:lvl8pPr>
            <a:lvl9pPr>
              <a:defRPr sz="4875" b="1">
                <a:solidFill>
                  <a:srgbClr val="153D38"/>
                </a:solidFill>
                <a:latin typeface="Calibri"/>
                <a:ea typeface="Calibri"/>
                <a:cs typeface="Calibri"/>
              </a:defRPr>
            </a:lvl9pPr>
          </a:lstStyle>
          <a:p xmlns:a="http://schemas.openxmlformats.org/drawingml/2006/main">
            <a:pPr>
              <a:defRPr sz="4875" b="1">
                <a:solidFill>
                  <a:srgbClr val="153D38"/>
                </a:solidFill>
                <a:latin typeface="Calibri"/>
                <a:ea typeface="Calibri"/>
                <a:cs typeface="Calibri"/>
              </a:defRPr>
            </a:pPr>
            <a:r>
              <a:rPr sz="4875" b="1">
                <a:solidFill>
                  <a:srgbClr val="153D38"/>
                </a:solidFill>
                <a:latin typeface="Calibri"/>
                <a:ea typeface="Calibri"/>
                <a:cs typeface="Calibri"/>
              </a:rPr>
              <a:t>$580.85</a:t>
            </a:r>
          </a:p>
        </p:txBody>
      </p:sp>
      <p:sp>
        <p:nvSpPr>
          <p:cNvPr id="7" name="">
            <a:extLst xmlns:a="http://schemas.openxmlformats.org/drawingml/2006/main">
              <a:ext uri="{FF2B5EF4-FFF2-40B4-BE49-F238E27FC236}">
                <a16:creationId xmlns:a16="http://schemas.microsoft.com/office/drawing/2014/main" id="{252CCD1B-FC55-4BB2-88C3-DC4F35B41A00}"/>
              </a:ext>
            </a:extLst>
          </p:cNvPr>
          <p:cNvSpPr>
            <a:spLocks xmlns:a="http://schemas.openxmlformats.org/drawingml/2006/main" noGrp="1"/>
          </p:cNvSpPr>
          <p:nvPr/>
        </p:nvSpPr>
        <p:spPr>
          <a:xfrm xmlns:a="http://schemas.openxmlformats.org/drawingml/2006/main">
            <a:off x="6334125" y="25146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34B48"/>
                </a:solidFill>
                <a:latin typeface="Calibri"/>
                <a:ea typeface="Calibri"/>
                <a:cs typeface="Calibri"/>
              </a:defRPr>
            </a:defPPr>
            <a:lvl1pPr>
              <a:defRPr sz="2100" b="0">
                <a:solidFill>
                  <a:srgbClr val="334B48"/>
                </a:solidFill>
                <a:latin typeface="Calibri"/>
                <a:ea typeface="Calibri"/>
                <a:cs typeface="Calibri"/>
              </a:defRPr>
            </a:lvl1pPr>
            <a:lvl2pPr>
              <a:defRPr sz="2100" b="0">
                <a:solidFill>
                  <a:srgbClr val="334B48"/>
                </a:solidFill>
                <a:latin typeface="Calibri"/>
                <a:ea typeface="Calibri"/>
                <a:cs typeface="Calibri"/>
              </a:defRPr>
            </a:lvl2pPr>
            <a:lvl3pPr>
              <a:defRPr sz="2100" b="0">
                <a:solidFill>
                  <a:srgbClr val="334B48"/>
                </a:solidFill>
                <a:latin typeface="Calibri"/>
                <a:ea typeface="Calibri"/>
                <a:cs typeface="Calibri"/>
              </a:defRPr>
            </a:lvl3pPr>
            <a:lvl4pPr>
              <a:defRPr sz="2100" b="0">
                <a:solidFill>
                  <a:srgbClr val="334B48"/>
                </a:solidFill>
                <a:latin typeface="Calibri"/>
                <a:ea typeface="Calibri"/>
                <a:cs typeface="Calibri"/>
              </a:defRPr>
            </a:lvl4pPr>
            <a:lvl5pPr>
              <a:defRPr sz="2100" b="0">
                <a:solidFill>
                  <a:srgbClr val="334B48"/>
                </a:solidFill>
                <a:latin typeface="Calibri"/>
                <a:ea typeface="Calibri"/>
                <a:cs typeface="Calibri"/>
              </a:defRPr>
            </a:lvl5pPr>
            <a:lvl6pPr>
              <a:defRPr sz="2100" b="0">
                <a:solidFill>
                  <a:srgbClr val="334B48"/>
                </a:solidFill>
                <a:latin typeface="Calibri"/>
                <a:ea typeface="Calibri"/>
                <a:cs typeface="Calibri"/>
              </a:defRPr>
            </a:lvl6pPr>
            <a:lvl7pPr>
              <a:defRPr sz="2100" b="0">
                <a:solidFill>
                  <a:srgbClr val="334B48"/>
                </a:solidFill>
                <a:latin typeface="Calibri"/>
                <a:ea typeface="Calibri"/>
                <a:cs typeface="Calibri"/>
              </a:defRPr>
            </a:lvl7pPr>
            <a:lvl8pPr>
              <a:defRPr sz="2100" b="0">
                <a:solidFill>
                  <a:srgbClr val="334B48"/>
                </a:solidFill>
                <a:latin typeface="Calibri"/>
                <a:ea typeface="Calibri"/>
                <a:cs typeface="Calibri"/>
              </a:defRPr>
            </a:lvl8pPr>
            <a:lvl9pPr>
              <a:defRPr sz="2100" b="0">
                <a:solidFill>
                  <a:srgbClr val="334B48"/>
                </a:solidFill>
                <a:latin typeface="Calibri"/>
                <a:ea typeface="Calibri"/>
                <a:cs typeface="Calibri"/>
              </a:defRPr>
            </a:lvl9pPr>
          </a:lstStyle>
          <a:p xmlns:a="http://schemas.openxmlformats.org/drawingml/2006/main">
            <a:pPr>
              <a:defRPr sz="2100" b="0">
                <a:solidFill>
                  <a:srgbClr val="334B48"/>
                </a:solidFill>
                <a:latin typeface="Calibri"/>
                <a:ea typeface="Calibri"/>
                <a:cs typeface="Calibri"/>
              </a:defRPr>
            </a:pPr>
            <a:r>
              <a:rPr sz="2100" b="0">
                <a:solidFill>
                  <a:srgbClr val="334B48"/>
                </a:solidFill>
                <a:latin typeface="Calibri"/>
                <a:ea typeface="Calibri"/>
                <a:cs typeface="Calibri"/>
              </a:rPr>
              <a:t>Full fixed monthly planning budget</a:t>
            </a:r>
          </a:p>
        </p:txBody>
      </p:sp>
      <p:sp>
        <p:nvSpPr>
          <p:cNvPr id="8" name="">
            <a:extLst xmlns:a="http://schemas.openxmlformats.org/drawingml/2006/main">
              <a:ext uri="{FF2B5EF4-FFF2-40B4-BE49-F238E27FC236}">
                <a16:creationId xmlns:a16="http://schemas.microsoft.com/office/drawing/2014/main" id="{0FFAC02B-EFDA-42C3-AFBB-1C78B581263B}"/>
              </a:ext>
            </a:extLst>
          </p:cNvPr>
          <p:cNvSpPr>
            <a:spLocks xmlns:a="http://schemas.openxmlformats.org/drawingml/2006/main" noGrp="1"/>
          </p:cNvSpPr>
          <p:nvPr/>
        </p:nvSpPr>
        <p:spPr>
          <a:xfrm xmlns:a="http://schemas.openxmlformats.org/drawingml/2006/main">
            <a:off x="619125" y="3476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53D38"/>
                </a:solidFill>
                <a:latin typeface="Calibri"/>
                <a:ea typeface="Calibri"/>
                <a:cs typeface="Calibri"/>
              </a:defRPr>
            </a:defPPr>
            <a:lvl1pPr>
              <a:defRPr sz="2625" b="1">
                <a:solidFill>
                  <a:srgbClr val="153D38"/>
                </a:solidFill>
                <a:latin typeface="Calibri"/>
                <a:ea typeface="Calibri"/>
                <a:cs typeface="Calibri"/>
              </a:defRPr>
            </a:lvl1pPr>
            <a:lvl2pPr>
              <a:defRPr sz="2625" b="1">
                <a:solidFill>
                  <a:srgbClr val="153D38"/>
                </a:solidFill>
                <a:latin typeface="Calibri"/>
                <a:ea typeface="Calibri"/>
                <a:cs typeface="Calibri"/>
              </a:defRPr>
            </a:lvl2pPr>
            <a:lvl3pPr>
              <a:defRPr sz="2625" b="1">
                <a:solidFill>
                  <a:srgbClr val="153D38"/>
                </a:solidFill>
                <a:latin typeface="Calibri"/>
                <a:ea typeface="Calibri"/>
                <a:cs typeface="Calibri"/>
              </a:defRPr>
            </a:lvl3pPr>
            <a:lvl4pPr>
              <a:defRPr sz="2625" b="1">
                <a:solidFill>
                  <a:srgbClr val="153D38"/>
                </a:solidFill>
                <a:latin typeface="Calibri"/>
                <a:ea typeface="Calibri"/>
                <a:cs typeface="Calibri"/>
              </a:defRPr>
            </a:lvl4pPr>
            <a:lvl5pPr>
              <a:defRPr sz="2625" b="1">
                <a:solidFill>
                  <a:srgbClr val="153D38"/>
                </a:solidFill>
                <a:latin typeface="Calibri"/>
                <a:ea typeface="Calibri"/>
                <a:cs typeface="Calibri"/>
              </a:defRPr>
            </a:lvl5pPr>
            <a:lvl6pPr>
              <a:defRPr sz="2625" b="1">
                <a:solidFill>
                  <a:srgbClr val="153D38"/>
                </a:solidFill>
                <a:latin typeface="Calibri"/>
                <a:ea typeface="Calibri"/>
                <a:cs typeface="Calibri"/>
              </a:defRPr>
            </a:lvl6pPr>
            <a:lvl7pPr>
              <a:defRPr sz="2625" b="1">
                <a:solidFill>
                  <a:srgbClr val="153D38"/>
                </a:solidFill>
                <a:latin typeface="Calibri"/>
                <a:ea typeface="Calibri"/>
                <a:cs typeface="Calibri"/>
              </a:defRPr>
            </a:lvl7pPr>
            <a:lvl8pPr>
              <a:defRPr sz="2625" b="1">
                <a:solidFill>
                  <a:srgbClr val="153D38"/>
                </a:solidFill>
                <a:latin typeface="Calibri"/>
                <a:ea typeface="Calibri"/>
                <a:cs typeface="Calibri"/>
              </a:defRPr>
            </a:lvl8pPr>
            <a:lvl9pPr>
              <a:defRPr sz="2625" b="1">
                <a:solidFill>
                  <a:srgbClr val="153D38"/>
                </a:solidFill>
                <a:latin typeface="Calibri"/>
                <a:ea typeface="Calibri"/>
                <a:cs typeface="Calibri"/>
              </a:defRPr>
            </a:lvl9pPr>
          </a:lstStyle>
          <a:p xmlns:a="http://schemas.openxmlformats.org/drawingml/2006/main">
            <a:pPr>
              <a:defRPr sz="2625" b="1">
                <a:solidFill>
                  <a:srgbClr val="153D38"/>
                </a:solidFill>
                <a:latin typeface="Calibri"/>
                <a:ea typeface="Calibri"/>
                <a:cs typeface="Calibri"/>
              </a:defRPr>
            </a:pPr>
            <a:r>
              <a:rPr sz="2625" b="1">
                <a:solidFill>
                  <a:srgbClr val="153D38"/>
                </a:solidFill>
                <a:latin typeface="Calibri"/>
                <a:ea typeface="Calibri"/>
                <a:cs typeface="Calibri"/>
              </a:rPr>
              <a:t>10% target margin after modeled operating costs</a:t>
            </a:r>
          </a:p>
        </p:txBody>
      </p:sp>
      <p:graphicFrame>
        <p:nvGraphicFramePr>
          <p:cNvPr id="9" name="">
            <a:extLst xmlns:a="http://schemas.openxmlformats.org/drawingml/2006/main">
              <a:ext uri="{FF2B5EF4-FFF2-40B4-BE49-F238E27FC236}">
                <a16:creationId xmlns:a16="http://schemas.microsoft.com/office/drawing/2014/main" id="{C8B01F24-395B-4E28-86DF-F001F90F81CF}"/>
              </a:ext>
            </a:extLst>
          </p:cNvPr>
          <p:cNvGraphicFramePr/>
          <p:nvPr/>
        </p:nvGraphicFramePr>
        <p:xfrm>
          <a:off xmlns:a="http://schemas.openxmlformats.org/drawingml/2006/main" x="619125" y="4238625"/>
          <a:ext xmlns:a="http://schemas.openxmlformats.org/drawingml/2006/main" cx="10953750" cy="1666875"/>
        </p:xfrm>
        <a:graphic xmlns:a="http://schemas.openxmlformats.org/drawingml/2006/main">
          <a:graphicData uri="http://schemas.openxmlformats.org/drawingml/2006/table">
            <a:tbl>
              <a:tblPr/>
              <a:tblGrid>
                <a:gridCol w="5715000"/>
                <a:gridCol w="5238750"/>
              </a:tblGrid>
              <a:tr h="416719">
                <a:tc>
                  <a:txBody>
                    <a:bodyPr/>
                    <a:lstStyle/>
                    <a:p>
                      <a:r>
                        <a:rPr sz="1800" b="1">
                          <a:solidFill>
                            <a:srgbClr val="FFFFFF"/>
                          </a:solidFill>
                          <a:latin typeface="Calibri"/>
                          <a:ea typeface="Calibri"/>
                          <a:cs typeface="Calibri"/>
                        </a:rPr>
                        <a:t>Customer mix</a:t>
                      </a:r>
                    </a:p>
                  </a:txBody>
                  <a:tcPr marL="91440" marR="91440" marT="45720" marB="45720">
                    <a:lnL w="9525">
                      <a:solidFill>
                        <a:srgbClr val="CEDAD2"/>
                      </a:solidFill>
                      <a:prstDash val="solid"/>
                    </a:lnL>
                    <a:lnR w="9525">
                      <a:solidFill>
                        <a:srgbClr val="CEDAD2"/>
                      </a:solidFill>
                      <a:prstDash val="solid"/>
                    </a:lnR>
                    <a:lnT w="9525">
                      <a:solidFill>
                        <a:srgbClr val="CEDAD2"/>
                      </a:solidFill>
                      <a:prstDash val="solid"/>
                    </a:lnT>
                    <a:lnB w="9525">
                      <a:solidFill>
                        <a:srgbClr val="CEDAD2"/>
                      </a:solidFill>
                      <a:prstDash val="solid"/>
                    </a:lnB>
                    <a:solidFill>
                      <a:srgbClr val="153D38"/>
                    </a:solidFill>
                  </a:tcPr>
                </a:tc>
                <a:tc>
                  <a:txBody>
                    <a:bodyPr/>
                    <a:lstStyle/>
                    <a:p>
                      <a:r>
                        <a:rPr sz="1800" b="1">
                          <a:solidFill>
                            <a:srgbClr val="FFFFFF"/>
                          </a:solidFill>
                          <a:latin typeface="Calibri"/>
                          <a:ea typeface="Calibri"/>
                          <a:cs typeface="Calibri"/>
                        </a:rPr>
                        <a:t>Minimum agencies for the target</a:t>
                      </a:r>
                    </a:p>
                  </a:txBody>
                  <a:tcPr marL="91440" marR="91440" marT="45720" marB="45720">
                    <a:lnR w="9525">
                      <a:solidFill>
                        <a:srgbClr val="CEDAD2"/>
                      </a:solidFill>
                      <a:prstDash val="solid"/>
                    </a:lnR>
                    <a:lnT w="9525">
                      <a:solidFill>
                        <a:srgbClr val="CEDAD2"/>
                      </a:solidFill>
                      <a:prstDash val="solid"/>
                    </a:lnT>
                    <a:lnB w="9525">
                      <a:solidFill>
                        <a:srgbClr val="CEDAD2"/>
                      </a:solidFill>
                      <a:prstDash val="solid"/>
                    </a:lnB>
                    <a:solidFill>
                      <a:srgbClr val="153D38"/>
                    </a:solidFill>
                  </a:tcPr>
                </a:tc>
              </a:tr>
              <a:tr h="416719">
                <a:tc>
                  <a:txBody>
                    <a:bodyPr/>
                    <a:lstStyle/>
                    <a:p>
                      <a:r>
                        <a:rPr sz="1800" b="0">
                          <a:solidFill>
                            <a:srgbClr val="334B48"/>
                          </a:solidFill>
                          <a:latin typeface="Calibri"/>
                          <a:ea typeface="Calibri"/>
                          <a:cs typeface="Calibri"/>
                        </a:rPr>
                        <a:t>Starter only</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FFFFFF"/>
                    </a:solidFill>
                  </a:tcPr>
                </a:tc>
                <a:tc>
                  <a:txBody>
                    <a:bodyPr/>
                    <a:lstStyle/>
                    <a:p>
                      <a:r>
                        <a:rPr sz="1800" b="0">
                          <a:solidFill>
                            <a:srgbClr val="334B48"/>
                          </a:solidFill>
                          <a:latin typeface="Calibri"/>
                          <a:ea typeface="Calibri"/>
                          <a:cs typeface="Calibri"/>
                        </a:rPr>
                        <a:t>13</a:t>
                      </a:r>
                    </a:p>
                  </a:txBody>
                  <a:tcPr marL="91440" marR="91440" marT="45720" marB="45720">
                    <a:lnR w="9525">
                      <a:solidFill>
                        <a:srgbClr val="CEDAD2"/>
                      </a:solidFill>
                      <a:prstDash val="solid"/>
                    </a:lnR>
                    <a:lnB w="9525">
                      <a:solidFill>
                        <a:srgbClr val="CEDAD2"/>
                      </a:solidFill>
                      <a:prstDash val="solid"/>
                    </a:lnB>
                    <a:solidFill>
                      <a:srgbClr val="FFFFFF"/>
                    </a:solidFill>
                  </a:tcPr>
                </a:tc>
              </a:tr>
              <a:tr h="416719">
                <a:tc>
                  <a:txBody>
                    <a:bodyPr/>
                    <a:lstStyle/>
                    <a:p>
                      <a:r>
                        <a:rPr sz="1800" b="0">
                          <a:solidFill>
                            <a:srgbClr val="334B48"/>
                          </a:solidFill>
                          <a:latin typeface="Calibri"/>
                          <a:ea typeface="Calibri"/>
                          <a:cs typeface="Calibri"/>
                        </a:rPr>
                        <a:t>Operations only</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EDF2E9"/>
                    </a:solidFill>
                  </a:tcPr>
                </a:tc>
                <a:tc>
                  <a:txBody>
                    <a:bodyPr/>
                    <a:lstStyle/>
                    <a:p>
                      <a:r>
                        <a:rPr sz="1800" b="0">
                          <a:solidFill>
                            <a:srgbClr val="334B48"/>
                          </a:solidFill>
                          <a:latin typeface="Calibri"/>
                          <a:ea typeface="Calibri"/>
                          <a:cs typeface="Calibri"/>
                        </a:rPr>
                        <a:t>6</a:t>
                      </a:r>
                    </a:p>
                  </a:txBody>
                  <a:tcPr marL="91440" marR="91440" marT="45720" marB="45720">
                    <a:lnR w="9525">
                      <a:solidFill>
                        <a:srgbClr val="CEDAD2"/>
                      </a:solidFill>
                      <a:prstDash val="solid"/>
                    </a:lnR>
                    <a:lnB w="9525">
                      <a:solidFill>
                        <a:srgbClr val="CEDAD2"/>
                      </a:solidFill>
                      <a:prstDash val="solid"/>
                    </a:lnB>
                    <a:solidFill>
                      <a:srgbClr val="EDF2E9"/>
                    </a:solidFill>
                  </a:tcPr>
                </a:tc>
              </a:tr>
              <a:tr h="416719">
                <a:tc>
                  <a:txBody>
                    <a:bodyPr/>
                    <a:lstStyle/>
                    <a:p>
                      <a:r>
                        <a:rPr sz="1800" b="0">
                          <a:solidFill>
                            <a:srgbClr val="334B48"/>
                          </a:solidFill>
                          <a:latin typeface="Calibri"/>
                          <a:ea typeface="Calibri"/>
                          <a:cs typeface="Calibri"/>
                        </a:rPr>
                        <a:t>Growth only</a:t>
                      </a:r>
                    </a:p>
                  </a:txBody>
                  <a:tcPr marL="91440" marR="91440" marT="45720" marB="45720">
                    <a:lnL w="9525">
                      <a:solidFill>
                        <a:srgbClr val="CEDAD2"/>
                      </a:solidFill>
                      <a:prstDash val="solid"/>
                    </a:lnL>
                    <a:lnR w="9525">
                      <a:solidFill>
                        <a:srgbClr val="CEDAD2"/>
                      </a:solidFill>
                      <a:prstDash val="solid"/>
                    </a:lnR>
                    <a:lnB w="9525">
                      <a:solidFill>
                        <a:srgbClr val="CEDAD2"/>
                      </a:solidFill>
                      <a:prstDash val="solid"/>
                    </a:lnB>
                    <a:solidFill>
                      <a:srgbClr val="FFFFFF"/>
                    </a:solidFill>
                  </a:tcPr>
                </a:tc>
                <a:tc>
                  <a:txBody>
                    <a:bodyPr/>
                    <a:lstStyle/>
                    <a:p>
                      <a:r>
                        <a:rPr sz="1800" b="0">
                          <a:solidFill>
                            <a:srgbClr val="334B48"/>
                          </a:solidFill>
                          <a:latin typeface="Calibri"/>
                          <a:ea typeface="Calibri"/>
                          <a:cs typeface="Calibri"/>
                        </a:rPr>
                        <a:t>3</a:t>
                      </a:r>
                    </a:p>
                  </a:txBody>
                  <a:tcPr marL="91440" marR="91440" marT="45720" marB="45720">
                    <a:lnR w="9525">
                      <a:solidFill>
                        <a:srgbClr val="CEDAD2"/>
                      </a:solidFill>
                      <a:prstDash val="solid"/>
                    </a:lnR>
                    <a:lnB w="9525">
                      <a:solidFill>
                        <a:srgbClr val="CEDAD2"/>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056FCF73-A904-4EF8-99B4-51A4954B3596}"/>
              </a:ext>
            </a:extLst>
          </p:cNvPr>
          <p:cNvSpPr>
            <a:spLocks xmlns:a="http://schemas.openxmlformats.org/drawingml/2006/main" noGrp="1"/>
          </p:cNvSpPr>
          <p:nvPr/>
        </p:nvSpPr>
        <p:spPr>
          <a:xfrm xmlns:a="http://schemas.openxmlformats.org/drawingml/2006/main">
            <a:off x="619125" y="60579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1746F"/>
                </a:solidFill>
                <a:latin typeface="Calibri"/>
                <a:ea typeface="Calibri"/>
                <a:cs typeface="Calibri"/>
              </a:defRPr>
            </a:defPPr>
            <a:lvl1pPr>
              <a:defRPr sz="1575" b="0">
                <a:solidFill>
                  <a:srgbClr val="61746F"/>
                </a:solidFill>
                <a:latin typeface="Calibri"/>
                <a:ea typeface="Calibri"/>
                <a:cs typeface="Calibri"/>
              </a:defRPr>
            </a:lvl1pPr>
            <a:lvl2pPr>
              <a:defRPr sz="1575" b="0">
                <a:solidFill>
                  <a:srgbClr val="61746F"/>
                </a:solidFill>
                <a:latin typeface="Calibri"/>
                <a:ea typeface="Calibri"/>
                <a:cs typeface="Calibri"/>
              </a:defRPr>
            </a:lvl2pPr>
            <a:lvl3pPr>
              <a:defRPr sz="1575" b="0">
                <a:solidFill>
                  <a:srgbClr val="61746F"/>
                </a:solidFill>
                <a:latin typeface="Calibri"/>
                <a:ea typeface="Calibri"/>
                <a:cs typeface="Calibri"/>
              </a:defRPr>
            </a:lvl3pPr>
            <a:lvl4pPr>
              <a:defRPr sz="1575" b="0">
                <a:solidFill>
                  <a:srgbClr val="61746F"/>
                </a:solidFill>
                <a:latin typeface="Calibri"/>
                <a:ea typeface="Calibri"/>
                <a:cs typeface="Calibri"/>
              </a:defRPr>
            </a:lvl4pPr>
            <a:lvl5pPr>
              <a:defRPr sz="1575" b="0">
                <a:solidFill>
                  <a:srgbClr val="61746F"/>
                </a:solidFill>
                <a:latin typeface="Calibri"/>
                <a:ea typeface="Calibri"/>
                <a:cs typeface="Calibri"/>
              </a:defRPr>
            </a:lvl5pPr>
            <a:lvl6pPr>
              <a:defRPr sz="1575" b="0">
                <a:solidFill>
                  <a:srgbClr val="61746F"/>
                </a:solidFill>
                <a:latin typeface="Calibri"/>
                <a:ea typeface="Calibri"/>
                <a:cs typeface="Calibri"/>
              </a:defRPr>
            </a:lvl6pPr>
            <a:lvl7pPr>
              <a:defRPr sz="1575" b="0">
                <a:solidFill>
                  <a:srgbClr val="61746F"/>
                </a:solidFill>
                <a:latin typeface="Calibri"/>
                <a:ea typeface="Calibri"/>
                <a:cs typeface="Calibri"/>
              </a:defRPr>
            </a:lvl7pPr>
            <a:lvl8pPr>
              <a:defRPr sz="1575" b="0">
                <a:solidFill>
                  <a:srgbClr val="61746F"/>
                </a:solidFill>
                <a:latin typeface="Calibri"/>
                <a:ea typeface="Calibri"/>
                <a:cs typeface="Calibri"/>
              </a:defRPr>
            </a:lvl8pPr>
            <a:lvl9pPr>
              <a:defRPr sz="1575" b="0">
                <a:solidFill>
                  <a:srgbClr val="61746F"/>
                </a:solidFill>
                <a:latin typeface="Calibri"/>
                <a:ea typeface="Calibri"/>
                <a:cs typeface="Calibri"/>
              </a:defRPr>
            </a:lvl9pPr>
          </a:lstStyle>
          <a:p xmlns:a="http://schemas.openxmlformats.org/drawingml/2006/main">
            <a:pPr>
              <a:defRPr sz="1575" b="0">
                <a:solidFill>
                  <a:srgbClr val="61746F"/>
                </a:solidFill>
                <a:latin typeface="Calibri"/>
                <a:ea typeface="Calibri"/>
                <a:cs typeface="Calibri"/>
              </a:defRPr>
            </a:pPr>
            <a:r>
              <a:rPr sz="1575" b="0">
                <a:solidFill>
                  <a:srgbClr val="61746F"/>
                </a:solidFill>
                <a:latin typeface="Calibri"/>
                <a:ea typeface="Calibri"/>
                <a:cs typeface="Calibri"/>
              </a:rPr>
              <a:t>Illustrative assumptions; customer-specific usage and fees apply. No guaranteed profit.</a:t>
            </a:r>
          </a:p>
        </p:txBody>
      </p:sp>
    </p:spTree>
    <p:extLst>
      <p:ext uri="{BB962C8B-B14F-4D97-AF65-F5344CB8AC3E}">
        <p14:creationId xmlns:p14="http://schemas.microsoft.com/office/powerpoint/2010/main" val="1450176205"/>
      </p:ext>
    </p:extLst>
  </p:cSld>
</p:sld>
</file>

<file path=ppt/slides/slide21.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4CB555B-9F43-41D6-B095-90C97134A064}"/>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Launch sequence and decisions</a:t>
            </a:r>
          </a:p>
        </p:txBody>
      </p:sp>
      <p:sp>
        <p:nvSpPr>
          <p:cNvPr id="2" name="">
            <a:extLst xmlns:a="http://schemas.openxmlformats.org/drawingml/2006/main">
              <a:ext uri="{FF2B5EF4-FFF2-40B4-BE49-F238E27FC236}">
                <a16:creationId xmlns:a16="http://schemas.microsoft.com/office/drawing/2014/main" id="{E99E5975-675A-4993-A81A-397E1C8218AC}"/>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481ADF55-392D-4E5C-AE91-528FFB92CF43}"/>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21</a:t>
            </a:r>
          </a:p>
        </p:txBody>
      </p:sp>
      <p:sp>
        <p:nvSpPr>
          <p:cNvPr id="4" name="">
            <a:extLst xmlns:a="http://schemas.openxmlformats.org/drawingml/2006/main">
              <a:ext uri="{FF2B5EF4-FFF2-40B4-BE49-F238E27FC236}">
                <a16:creationId xmlns:a16="http://schemas.microsoft.com/office/drawing/2014/main" id="{53ADD8EB-BDC5-44A8-B586-A227098C4DE3}"/>
              </a:ext>
            </a:extLst>
          </p:cNvPr>
          <p:cNvSpPr>
            <a:spLocks xmlns:a="http://schemas.openxmlformats.org/drawingml/2006/main" noGrp="1"/>
          </p:cNvSpPr>
          <p:nvPr/>
        </p:nvSpPr>
        <p:spPr>
          <a:xfrm xmlns:a="http://schemas.openxmlformats.org/drawingml/2006/main">
            <a:off x="619125" y="1476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Foundation and staging</a:t>
            </a:r>
          </a:p>
        </p:txBody>
      </p:sp>
      <p:sp>
        <p:nvSpPr>
          <p:cNvPr id="5" name="">
            <a:extLst xmlns:a="http://schemas.openxmlformats.org/drawingml/2006/main">
              <a:ext uri="{FF2B5EF4-FFF2-40B4-BE49-F238E27FC236}">
                <a16:creationId xmlns:a16="http://schemas.microsoft.com/office/drawing/2014/main" id="{580C29C0-62BC-4FAC-9D65-F0298B31AF98}"/>
              </a:ext>
            </a:extLst>
          </p:cNvPr>
          <p:cNvSpPr>
            <a:spLocks xmlns:a="http://schemas.openxmlformats.org/drawingml/2006/main" noGrp="1"/>
          </p:cNvSpPr>
          <p:nvPr/>
        </p:nvSpPr>
        <p:spPr>
          <a:xfrm xmlns:a="http://schemas.openxmlformats.org/drawingml/2006/main">
            <a:off x="619125" y="187642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Choose the domain, budget and hosting; prove deployment and restore.</a:t>
            </a:r>
          </a:p>
        </p:txBody>
      </p:sp>
      <p:sp>
        <p:nvSpPr>
          <p:cNvPr id="6" name="">
            <a:extLst xmlns:a="http://schemas.openxmlformats.org/drawingml/2006/main">
              <a:ext uri="{FF2B5EF4-FFF2-40B4-BE49-F238E27FC236}">
                <a16:creationId xmlns:a16="http://schemas.microsoft.com/office/drawing/2014/main" id="{3078B5D1-BE66-44D1-8BFD-3C1A8E161D7D}"/>
              </a:ext>
            </a:extLst>
          </p:cNvPr>
          <p:cNvSpPr>
            <a:spLocks xmlns:a="http://schemas.openxmlformats.org/drawingml/2006/main" noGrp="1"/>
          </p:cNvSpPr>
          <p:nvPr/>
        </p:nvSpPr>
        <p:spPr>
          <a:xfrm xmlns:a="http://schemas.openxmlformats.org/drawingml/2006/main">
            <a:off x="619125" y="25050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API and website</a:t>
            </a:r>
          </a:p>
        </p:txBody>
      </p:sp>
      <p:sp>
        <p:nvSpPr>
          <p:cNvPr id="7" name="">
            <a:extLst xmlns:a="http://schemas.openxmlformats.org/drawingml/2006/main">
              <a:ext uri="{FF2B5EF4-FFF2-40B4-BE49-F238E27FC236}">
                <a16:creationId xmlns:a16="http://schemas.microsoft.com/office/drawing/2014/main" id="{978282FD-8F56-4CC0-801A-4C5BBF03742F}"/>
              </a:ext>
            </a:extLst>
          </p:cNvPr>
          <p:cNvSpPr>
            <a:spLocks xmlns:a="http://schemas.openxmlformats.org/drawingml/2006/main" noGrp="1"/>
          </p:cNvSpPr>
          <p:nvPr/>
        </p:nvSpPr>
        <p:spPr>
          <a:xfrm xmlns:a="http://schemas.openxmlformats.org/drawingml/2006/main">
            <a:off x="619125" y="290512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Complete mobile authentication, API tests and reviewed pricing content.</a:t>
            </a:r>
          </a:p>
        </p:txBody>
      </p:sp>
      <p:sp>
        <p:nvSpPr>
          <p:cNvPr id="8" name="">
            <a:extLst xmlns:a="http://schemas.openxmlformats.org/drawingml/2006/main">
              <a:ext uri="{FF2B5EF4-FFF2-40B4-BE49-F238E27FC236}">
                <a16:creationId xmlns:a16="http://schemas.microsoft.com/office/drawing/2014/main" id="{A2A641C9-9151-41CD-836B-CE9F223E8ADD}"/>
              </a:ext>
            </a:extLst>
          </p:cNvPr>
          <p:cNvSpPr>
            <a:spLocks xmlns:a="http://schemas.openxmlformats.org/drawingml/2006/main" noGrp="1"/>
          </p:cNvSpPr>
          <p:nvPr/>
        </p:nvSpPr>
        <p:spPr>
          <a:xfrm xmlns:a="http://schemas.openxmlformats.org/drawingml/2006/main">
            <a:off x="619125" y="35337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Mobile beta and pilot</a:t>
            </a:r>
          </a:p>
        </p:txBody>
      </p:sp>
      <p:sp>
        <p:nvSpPr>
          <p:cNvPr id="9" name="">
            <a:extLst xmlns:a="http://schemas.openxmlformats.org/drawingml/2006/main">
              <a:ext uri="{FF2B5EF4-FFF2-40B4-BE49-F238E27FC236}">
                <a16:creationId xmlns:a16="http://schemas.microsoft.com/office/drawing/2014/main" id="{1E8E0B3D-3307-41BE-A00B-882E6997BF0D}"/>
              </a:ext>
            </a:extLst>
          </p:cNvPr>
          <p:cNvSpPr>
            <a:spLocks xmlns:a="http://schemas.openxmlformats.org/drawingml/2006/main" noGrp="1"/>
          </p:cNvSpPr>
          <p:nvPr/>
        </p:nvSpPr>
        <p:spPr>
          <a:xfrm xmlns:a="http://schemas.openxmlformats.org/drawingml/2006/main">
            <a:off x="619125" y="393382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Test devices and consent workflows with fictional data, then selected agencies.</a:t>
            </a:r>
          </a:p>
        </p:txBody>
      </p:sp>
      <p:sp>
        <p:nvSpPr>
          <p:cNvPr id="10" name="">
            <a:extLst xmlns:a="http://schemas.openxmlformats.org/drawingml/2006/main">
              <a:ext uri="{FF2B5EF4-FFF2-40B4-BE49-F238E27FC236}">
                <a16:creationId xmlns:a16="http://schemas.microsoft.com/office/drawing/2014/main" id="{488C741F-3D91-4930-96DE-90CE61B66B98}"/>
              </a:ext>
            </a:extLst>
          </p:cNvPr>
          <p:cNvSpPr>
            <a:spLocks xmlns:a="http://schemas.openxmlformats.org/drawingml/2006/main" noGrp="1"/>
          </p:cNvSpPr>
          <p:nvPr/>
        </p:nvSpPr>
        <p:spPr>
          <a:xfrm xmlns:a="http://schemas.openxmlformats.org/drawingml/2006/main">
            <a:off x="619125" y="45624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Production release</a:t>
            </a:r>
          </a:p>
        </p:txBody>
      </p:sp>
      <p:sp>
        <p:nvSpPr>
          <p:cNvPr id="11" name="">
            <a:extLst xmlns:a="http://schemas.openxmlformats.org/drawingml/2006/main">
              <a:ext uri="{FF2B5EF4-FFF2-40B4-BE49-F238E27FC236}">
                <a16:creationId xmlns:a16="http://schemas.microsoft.com/office/drawing/2014/main" id="{74D7755D-3910-4F1F-BBF0-C8D53CD8D3E4}"/>
              </a:ext>
            </a:extLst>
          </p:cNvPr>
          <p:cNvSpPr>
            <a:spLocks xmlns:a="http://schemas.openxmlformats.org/drawingml/2006/main" noGrp="1"/>
          </p:cNvSpPr>
          <p:nvPr/>
        </p:nvSpPr>
        <p:spPr>
          <a:xfrm xmlns:a="http://schemas.openxmlformats.org/drawingml/2006/main">
            <a:off x="619125" y="496252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Close readiness gaps, approve deployment and measure cost per customer.</a:t>
            </a:r>
          </a:p>
        </p:txBody>
      </p:sp>
      <p:sp>
        <p:nvSpPr>
          <p:cNvPr id="12" name="">
            <a:extLst xmlns:a="http://schemas.openxmlformats.org/drawingml/2006/main">
              <a:ext uri="{FF2B5EF4-FFF2-40B4-BE49-F238E27FC236}">
                <a16:creationId xmlns:a16="http://schemas.microsoft.com/office/drawing/2014/main" id="{D158F801-2A4E-4051-99AC-E0F2A68D3DDB}"/>
              </a:ext>
            </a:extLst>
          </p:cNvPr>
          <p:cNvSpPr>
            <a:spLocks xmlns:a="http://schemas.openxmlformats.org/drawingml/2006/main" noGrp="1"/>
          </p:cNvSpPr>
          <p:nvPr/>
        </p:nvSpPr>
        <p:spPr>
          <a:xfrm xmlns:a="http://schemas.openxmlformats.org/drawingml/2006/main">
            <a:off x="619125" y="58197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37F73"/>
                </a:solidFill>
                <a:latin typeface="Calibri"/>
                <a:ea typeface="Calibri"/>
                <a:cs typeface="Calibri"/>
              </a:defRPr>
            </a:defPPr>
            <a:lvl1pPr>
              <a:defRPr sz="1800" b="1">
                <a:solidFill>
                  <a:srgbClr val="137F73"/>
                </a:solidFill>
                <a:latin typeface="Calibri"/>
                <a:ea typeface="Calibri"/>
                <a:cs typeface="Calibri"/>
              </a:defRPr>
            </a:lvl1pPr>
            <a:lvl2pPr>
              <a:defRPr sz="1800" b="1">
                <a:solidFill>
                  <a:srgbClr val="137F73"/>
                </a:solidFill>
                <a:latin typeface="Calibri"/>
                <a:ea typeface="Calibri"/>
                <a:cs typeface="Calibri"/>
              </a:defRPr>
            </a:lvl2pPr>
            <a:lvl3pPr>
              <a:defRPr sz="1800" b="1">
                <a:solidFill>
                  <a:srgbClr val="137F73"/>
                </a:solidFill>
                <a:latin typeface="Calibri"/>
                <a:ea typeface="Calibri"/>
                <a:cs typeface="Calibri"/>
              </a:defRPr>
            </a:lvl3pPr>
            <a:lvl4pPr>
              <a:defRPr sz="1800" b="1">
                <a:solidFill>
                  <a:srgbClr val="137F73"/>
                </a:solidFill>
                <a:latin typeface="Calibri"/>
                <a:ea typeface="Calibri"/>
                <a:cs typeface="Calibri"/>
              </a:defRPr>
            </a:lvl4pPr>
            <a:lvl5pPr>
              <a:defRPr sz="1800" b="1">
                <a:solidFill>
                  <a:srgbClr val="137F73"/>
                </a:solidFill>
                <a:latin typeface="Calibri"/>
                <a:ea typeface="Calibri"/>
                <a:cs typeface="Calibri"/>
              </a:defRPr>
            </a:lvl5pPr>
            <a:lvl6pPr>
              <a:defRPr sz="1800" b="1">
                <a:solidFill>
                  <a:srgbClr val="137F73"/>
                </a:solidFill>
                <a:latin typeface="Calibri"/>
                <a:ea typeface="Calibri"/>
                <a:cs typeface="Calibri"/>
              </a:defRPr>
            </a:lvl6pPr>
            <a:lvl7pPr>
              <a:defRPr sz="1800" b="1">
                <a:solidFill>
                  <a:srgbClr val="137F73"/>
                </a:solidFill>
                <a:latin typeface="Calibri"/>
                <a:ea typeface="Calibri"/>
                <a:cs typeface="Calibri"/>
              </a:defRPr>
            </a:lvl7pPr>
            <a:lvl8pPr>
              <a:defRPr sz="1800" b="1">
                <a:solidFill>
                  <a:srgbClr val="137F73"/>
                </a:solidFill>
                <a:latin typeface="Calibri"/>
                <a:ea typeface="Calibri"/>
                <a:cs typeface="Calibri"/>
              </a:defRPr>
            </a:lvl8pPr>
            <a:lvl9pPr>
              <a:defRPr sz="1800" b="1">
                <a:solidFill>
                  <a:srgbClr val="137F73"/>
                </a:solidFill>
                <a:latin typeface="Calibri"/>
                <a:ea typeface="Calibri"/>
                <a:cs typeface="Calibri"/>
              </a:defRPr>
            </a:lvl9pPr>
          </a:lstStyle>
          <a:p xmlns:a="http://schemas.openxmlformats.org/drawingml/2006/main">
            <a:pPr>
              <a:defRPr sz="1800" b="1">
                <a:solidFill>
                  <a:srgbClr val="137F73"/>
                </a:solidFill>
                <a:latin typeface="Calibri"/>
                <a:ea typeface="Calibri"/>
                <a:cs typeface="Calibri"/>
              </a:defRPr>
            </a:pPr>
            <a:r>
              <a:rPr sz="1800" b="1">
                <a:solidFill>
                  <a:srgbClr val="137F73"/>
                </a:solidFill>
                <a:latin typeface="Calibri"/>
                <a:ea typeface="Calibri"/>
                <a:cs typeface="Calibri"/>
              </a:rPr>
              <a:t>Next decisions: domain, launch agency count, support budget and first-market data requirements.</a:t>
            </a:r>
          </a:p>
        </p:txBody>
      </p:sp>
    </p:spTree>
    <p:extLst>
      <p:ext uri="{BB962C8B-B14F-4D97-AF65-F5344CB8AC3E}">
        <p14:creationId xmlns:p14="http://schemas.microsoft.com/office/powerpoint/2010/main" val="816908199"/>
      </p:ext>
    </p:extLst>
  </p:cSld>
</p:sld>
</file>

<file path=ppt/slides/slide22.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21D5FB-269A-43D0-A6EA-A64FEAAEB6E5}"/>
              </a:ext>
            </a:extLst>
          </p:cNvPr>
          <p:cNvSpPr>
            <a:spLocks xmlns:a="http://schemas.openxmlformats.org/drawingml/2006/main" noGrp="1"/>
          </p:cNvSpPr>
          <p:nvPr/>
        </p:nvSpPr>
        <p:spPr>
          <a:xfrm xmlns:a="http://schemas.openxmlformats.org/drawingml/2006/main">
            <a:off x="552450" y="4095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Calibri"/>
                <a:ea typeface="Calibri"/>
                <a:cs typeface="Calibri"/>
              </a:defRPr>
            </a:defPPr>
            <a:lvl1pPr>
              <a:defRPr sz="3300" b="1">
                <a:solidFill>
                  <a:srgbClr val="153D38"/>
                </a:solidFill>
                <a:latin typeface="Calibri"/>
                <a:ea typeface="Calibri"/>
                <a:cs typeface="Calibri"/>
              </a:defRPr>
            </a:lvl1pPr>
            <a:lvl2pPr>
              <a:defRPr sz="3300" b="1">
                <a:solidFill>
                  <a:srgbClr val="153D38"/>
                </a:solidFill>
                <a:latin typeface="Calibri"/>
                <a:ea typeface="Calibri"/>
                <a:cs typeface="Calibri"/>
              </a:defRPr>
            </a:lvl2pPr>
            <a:lvl3pPr>
              <a:defRPr sz="3300" b="1">
                <a:solidFill>
                  <a:srgbClr val="153D38"/>
                </a:solidFill>
                <a:latin typeface="Calibri"/>
                <a:ea typeface="Calibri"/>
                <a:cs typeface="Calibri"/>
              </a:defRPr>
            </a:lvl3pPr>
            <a:lvl4pPr>
              <a:defRPr sz="3300" b="1">
                <a:solidFill>
                  <a:srgbClr val="153D38"/>
                </a:solidFill>
                <a:latin typeface="Calibri"/>
                <a:ea typeface="Calibri"/>
                <a:cs typeface="Calibri"/>
              </a:defRPr>
            </a:lvl4pPr>
            <a:lvl5pPr>
              <a:defRPr sz="3300" b="1">
                <a:solidFill>
                  <a:srgbClr val="153D38"/>
                </a:solidFill>
                <a:latin typeface="Calibri"/>
                <a:ea typeface="Calibri"/>
                <a:cs typeface="Calibri"/>
              </a:defRPr>
            </a:lvl5pPr>
            <a:lvl6pPr>
              <a:defRPr sz="3300" b="1">
                <a:solidFill>
                  <a:srgbClr val="153D38"/>
                </a:solidFill>
                <a:latin typeface="Calibri"/>
                <a:ea typeface="Calibri"/>
                <a:cs typeface="Calibri"/>
              </a:defRPr>
            </a:lvl6pPr>
            <a:lvl7pPr>
              <a:defRPr sz="3300" b="1">
                <a:solidFill>
                  <a:srgbClr val="153D38"/>
                </a:solidFill>
                <a:latin typeface="Calibri"/>
                <a:ea typeface="Calibri"/>
                <a:cs typeface="Calibri"/>
              </a:defRPr>
            </a:lvl7pPr>
            <a:lvl8pPr>
              <a:defRPr sz="3300" b="1">
                <a:solidFill>
                  <a:srgbClr val="153D38"/>
                </a:solidFill>
                <a:latin typeface="Calibri"/>
                <a:ea typeface="Calibri"/>
                <a:cs typeface="Calibri"/>
              </a:defRPr>
            </a:lvl8pPr>
            <a:lvl9pPr>
              <a:defRPr sz="3300" b="1">
                <a:solidFill>
                  <a:srgbClr val="153D38"/>
                </a:solidFill>
                <a:latin typeface="Calibri"/>
                <a:ea typeface="Calibri"/>
                <a:cs typeface="Calibri"/>
              </a:defRPr>
            </a:lvl9pPr>
          </a:lstStyle>
          <a:p xmlns:a="http://schemas.openxmlformats.org/drawingml/2006/main">
            <a:pPr>
              <a:defRPr sz="3300" b="1">
                <a:solidFill>
                  <a:srgbClr val="153D38"/>
                </a:solidFill>
                <a:latin typeface="Calibri"/>
                <a:ea typeface="Calibri"/>
                <a:cs typeface="Calibri"/>
              </a:defRPr>
            </a:pPr>
            <a:r>
              <a:rPr sz="3300" b="1">
                <a:solidFill>
                  <a:srgbClr val="153D38"/>
                </a:solidFill>
                <a:latin typeface="Calibri"/>
                <a:ea typeface="Calibri"/>
                <a:cs typeface="Calibri"/>
              </a:rPr>
              <a:t>CareSys project references</a:t>
            </a:r>
          </a:p>
        </p:txBody>
      </p:sp>
      <p:sp>
        <p:nvSpPr>
          <p:cNvPr id="2" name="">
            <a:extLst xmlns:a="http://schemas.openxmlformats.org/drawingml/2006/main">
              <a:ext uri="{FF2B5EF4-FFF2-40B4-BE49-F238E27FC236}">
                <a16:creationId xmlns:a16="http://schemas.microsoft.com/office/drawing/2014/main" id="{D35EE5EE-9F82-4D8F-95E0-2BF04CF24572}"/>
              </a:ext>
            </a:extLst>
          </p:cNvPr>
          <p:cNvSpPr>
            <a:spLocks xmlns:a="http://schemas.openxmlformats.org/drawingml/2006/main" noGrp="1"/>
          </p:cNvSpPr>
          <p:nvPr/>
        </p:nvSpPr>
        <p:spPr>
          <a:xfrm xmlns:a="http://schemas.openxmlformats.org/drawingml/2006/main">
            <a:off x="552450" y="64579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F"/>
                </a:solidFill>
                <a:latin typeface="Calibri"/>
                <a:ea typeface="Calibri"/>
                <a:cs typeface="Calibri"/>
              </a:defRPr>
            </a:defPPr>
            <a:lvl1pPr>
              <a:defRPr sz="1200" b="0">
                <a:solidFill>
                  <a:srgbClr val="61746F"/>
                </a:solidFill>
                <a:latin typeface="Calibri"/>
                <a:ea typeface="Calibri"/>
                <a:cs typeface="Calibri"/>
              </a:defRPr>
            </a:lvl1pPr>
            <a:lvl2pPr>
              <a:defRPr sz="1200" b="0">
                <a:solidFill>
                  <a:srgbClr val="61746F"/>
                </a:solidFill>
                <a:latin typeface="Calibri"/>
                <a:ea typeface="Calibri"/>
                <a:cs typeface="Calibri"/>
              </a:defRPr>
            </a:lvl2pPr>
            <a:lvl3pPr>
              <a:defRPr sz="1200" b="0">
                <a:solidFill>
                  <a:srgbClr val="61746F"/>
                </a:solidFill>
                <a:latin typeface="Calibri"/>
                <a:ea typeface="Calibri"/>
                <a:cs typeface="Calibri"/>
              </a:defRPr>
            </a:lvl3pPr>
            <a:lvl4pPr>
              <a:defRPr sz="1200" b="0">
                <a:solidFill>
                  <a:srgbClr val="61746F"/>
                </a:solidFill>
                <a:latin typeface="Calibri"/>
                <a:ea typeface="Calibri"/>
                <a:cs typeface="Calibri"/>
              </a:defRPr>
            </a:lvl4pPr>
            <a:lvl5pPr>
              <a:defRPr sz="1200" b="0">
                <a:solidFill>
                  <a:srgbClr val="61746F"/>
                </a:solidFill>
                <a:latin typeface="Calibri"/>
                <a:ea typeface="Calibri"/>
                <a:cs typeface="Calibri"/>
              </a:defRPr>
            </a:lvl5pPr>
            <a:lvl6pPr>
              <a:defRPr sz="1200" b="0">
                <a:solidFill>
                  <a:srgbClr val="61746F"/>
                </a:solidFill>
                <a:latin typeface="Calibri"/>
                <a:ea typeface="Calibri"/>
                <a:cs typeface="Calibri"/>
              </a:defRPr>
            </a:lvl6pPr>
            <a:lvl7pPr>
              <a:defRPr sz="1200" b="0">
                <a:solidFill>
                  <a:srgbClr val="61746F"/>
                </a:solidFill>
                <a:latin typeface="Calibri"/>
                <a:ea typeface="Calibri"/>
                <a:cs typeface="Calibri"/>
              </a:defRPr>
            </a:lvl7pPr>
            <a:lvl8pPr>
              <a:defRPr sz="1200" b="0">
                <a:solidFill>
                  <a:srgbClr val="61746F"/>
                </a:solidFill>
                <a:latin typeface="Calibri"/>
                <a:ea typeface="Calibri"/>
                <a:cs typeface="Calibri"/>
              </a:defRPr>
            </a:lvl8pPr>
            <a:lvl9pPr>
              <a:defRPr sz="1200" b="0">
                <a:solidFill>
                  <a:srgbClr val="61746F"/>
                </a:solidFill>
                <a:latin typeface="Calibri"/>
                <a:ea typeface="Calibri"/>
                <a:cs typeface="Calibri"/>
              </a:defRPr>
            </a:lvl9pPr>
          </a:lstStyle>
          <a:p xmlns:a="http://schemas.openxmlformats.org/drawingml/2006/main">
            <a:pPr>
              <a:defRPr sz="1200" b="0">
                <a:solidFill>
                  <a:srgbClr val="61746F"/>
                </a:solidFill>
                <a:latin typeface="Calibri"/>
                <a:ea typeface="Calibri"/>
                <a:cs typeface="Calibri"/>
              </a:defRPr>
            </a:pPr>
            <a:r>
              <a:rPr sz="1200" b="0">
                <a:solidFill>
                  <a:srgbClr val="61746F"/>
                </a:solidFill>
                <a:latin typeface="Calibri"/>
                <a:ea typeface="Calibri"/>
                <a:cs typeface="Calibri"/>
              </a:rPr>
              <a:t>CareSys overview   •   October 2026</a:t>
            </a:r>
          </a:p>
        </p:txBody>
      </p:sp>
      <p:sp>
        <p:nvSpPr>
          <p:cNvPr id="3" name="">
            <a:extLst xmlns:a="http://schemas.openxmlformats.org/drawingml/2006/main">
              <a:ext uri="{FF2B5EF4-FFF2-40B4-BE49-F238E27FC236}">
                <a16:creationId xmlns:a16="http://schemas.microsoft.com/office/drawing/2014/main" id="{872D7358-8F82-401C-9598-EE54D3C8924A}"/>
              </a:ext>
            </a:extLst>
          </p:cNvPr>
          <p:cNvSpPr>
            <a:spLocks xmlns:a="http://schemas.openxmlformats.org/drawingml/2006/main" noGrp="1"/>
          </p:cNvSpPr>
          <p:nvPr/>
        </p:nvSpPr>
        <p:spPr>
          <a:xfrm xmlns:a="http://schemas.openxmlformats.org/drawingml/2006/main">
            <a:off x="11144250" y="64389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46F"/>
                </a:solidFill>
                <a:latin typeface="Calibri"/>
                <a:ea typeface="Calibri"/>
                <a:cs typeface="Calibri"/>
              </a:defRPr>
            </a:defPPr>
            <a:lvl1pPr>
              <a:defRPr sz="1275" b="0">
                <a:solidFill>
                  <a:srgbClr val="61746F"/>
                </a:solidFill>
                <a:latin typeface="Calibri"/>
                <a:ea typeface="Calibri"/>
                <a:cs typeface="Calibri"/>
              </a:defRPr>
            </a:lvl1pPr>
            <a:lvl2pPr>
              <a:defRPr sz="1275" b="0">
                <a:solidFill>
                  <a:srgbClr val="61746F"/>
                </a:solidFill>
                <a:latin typeface="Calibri"/>
                <a:ea typeface="Calibri"/>
                <a:cs typeface="Calibri"/>
              </a:defRPr>
            </a:lvl2pPr>
            <a:lvl3pPr>
              <a:defRPr sz="1275" b="0">
                <a:solidFill>
                  <a:srgbClr val="61746F"/>
                </a:solidFill>
                <a:latin typeface="Calibri"/>
                <a:ea typeface="Calibri"/>
                <a:cs typeface="Calibri"/>
              </a:defRPr>
            </a:lvl3pPr>
            <a:lvl4pPr>
              <a:defRPr sz="1275" b="0">
                <a:solidFill>
                  <a:srgbClr val="61746F"/>
                </a:solidFill>
                <a:latin typeface="Calibri"/>
                <a:ea typeface="Calibri"/>
                <a:cs typeface="Calibri"/>
              </a:defRPr>
            </a:lvl4pPr>
            <a:lvl5pPr>
              <a:defRPr sz="1275" b="0">
                <a:solidFill>
                  <a:srgbClr val="61746F"/>
                </a:solidFill>
                <a:latin typeface="Calibri"/>
                <a:ea typeface="Calibri"/>
                <a:cs typeface="Calibri"/>
              </a:defRPr>
            </a:lvl5pPr>
            <a:lvl6pPr>
              <a:defRPr sz="1275" b="0">
                <a:solidFill>
                  <a:srgbClr val="61746F"/>
                </a:solidFill>
                <a:latin typeface="Calibri"/>
                <a:ea typeface="Calibri"/>
                <a:cs typeface="Calibri"/>
              </a:defRPr>
            </a:lvl6pPr>
            <a:lvl7pPr>
              <a:defRPr sz="1275" b="0">
                <a:solidFill>
                  <a:srgbClr val="61746F"/>
                </a:solidFill>
                <a:latin typeface="Calibri"/>
                <a:ea typeface="Calibri"/>
                <a:cs typeface="Calibri"/>
              </a:defRPr>
            </a:lvl7pPr>
            <a:lvl8pPr>
              <a:defRPr sz="1275" b="0">
                <a:solidFill>
                  <a:srgbClr val="61746F"/>
                </a:solidFill>
                <a:latin typeface="Calibri"/>
                <a:ea typeface="Calibri"/>
                <a:cs typeface="Calibri"/>
              </a:defRPr>
            </a:lvl8pPr>
            <a:lvl9pPr>
              <a:defRPr sz="1275" b="0">
                <a:solidFill>
                  <a:srgbClr val="61746F"/>
                </a:solidFill>
                <a:latin typeface="Calibri"/>
                <a:ea typeface="Calibri"/>
                <a:cs typeface="Calibri"/>
              </a:defRPr>
            </a:lvl9pPr>
          </a:lstStyle>
          <a:p xmlns:a="http://schemas.openxmlformats.org/drawingml/2006/main">
            <a:pPr>
              <a:defRPr sz="1275" b="0">
                <a:solidFill>
                  <a:srgbClr val="61746F"/>
                </a:solidFill>
                <a:latin typeface="Calibri"/>
                <a:ea typeface="Calibri"/>
                <a:cs typeface="Calibri"/>
              </a:defRPr>
            </a:pPr>
            <a:r>
              <a:rPr sz="1275" b="0">
                <a:solidFill>
                  <a:srgbClr val="61746F"/>
                </a:solidFill>
                <a:latin typeface="Calibri"/>
                <a:ea typeface="Calibri"/>
                <a:cs typeface="Calibri"/>
              </a:rPr>
              <a:t>22</a:t>
            </a:r>
          </a:p>
        </p:txBody>
      </p:sp>
      <p:sp>
        <p:nvSpPr>
          <p:cNvPr id="4" name="">
            <a:extLst xmlns:a="http://schemas.openxmlformats.org/drawingml/2006/main">
              <a:ext uri="{FF2B5EF4-FFF2-40B4-BE49-F238E27FC236}">
                <a16:creationId xmlns:a16="http://schemas.microsoft.com/office/drawing/2014/main" id="{8CE41831-2FE1-4490-9118-2E769CD969BF}"/>
              </a:ext>
            </a:extLst>
          </p:cNvPr>
          <p:cNvSpPr>
            <a:spLocks xmlns:a="http://schemas.openxmlformats.org/drawingml/2006/main" noGrp="1"/>
          </p:cNvSpPr>
          <p:nvPr/>
        </p:nvSpPr>
        <p:spPr>
          <a:xfrm xmlns:a="http://schemas.openxmlformats.org/drawingml/2006/main">
            <a:off x="619125" y="15240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Working application</a:t>
            </a:r>
          </a:p>
        </p:txBody>
      </p:sp>
      <p:sp>
        <p:nvSpPr>
          <p:cNvPr id="5" name="">
            <a:extLst xmlns:a="http://schemas.openxmlformats.org/drawingml/2006/main">
              <a:ext uri="{FF2B5EF4-FFF2-40B4-BE49-F238E27FC236}">
                <a16:creationId xmlns:a16="http://schemas.microsoft.com/office/drawing/2014/main" id="{09D2B61F-C812-45E7-B5DF-9F6680E06776}"/>
              </a:ext>
            </a:extLst>
          </p:cNvPr>
          <p:cNvSpPr>
            <a:spLocks xmlns:a="http://schemas.openxmlformats.org/drawingml/2006/main" noGrp="1"/>
          </p:cNvSpPr>
          <p:nvPr/>
        </p:nvSpPr>
        <p:spPr>
          <a:xfrm xmlns:a="http://schemas.openxmlformats.org/drawingml/2006/main">
            <a:off x="619125" y="19240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http://localhost:8080/login</a:t>
            </a:r>
          </a:p>
        </p:txBody>
      </p:sp>
      <p:sp>
        <p:nvSpPr>
          <p:cNvPr id="6" name="">
            <a:extLst xmlns:a="http://schemas.openxmlformats.org/drawingml/2006/main">
              <a:ext uri="{FF2B5EF4-FFF2-40B4-BE49-F238E27FC236}">
                <a16:creationId xmlns:a16="http://schemas.microsoft.com/office/drawing/2014/main" id="{87E84D2E-3F77-40BB-97F3-372B16F78B9B}"/>
              </a:ext>
            </a:extLst>
          </p:cNvPr>
          <p:cNvSpPr>
            <a:spLocks xmlns:a="http://schemas.openxmlformats.org/drawingml/2006/main" noGrp="1"/>
          </p:cNvSpPr>
          <p:nvPr/>
        </p:nvSpPr>
        <p:spPr>
          <a:xfrm xmlns:a="http://schemas.openxmlformats.org/drawingml/2006/main">
            <a:off x="619125" y="2571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Source repository</a:t>
            </a:r>
          </a:p>
        </p:txBody>
      </p:sp>
      <p:sp>
        <p:nvSpPr>
          <p:cNvPr id="7" name="">
            <a:extLst xmlns:a="http://schemas.openxmlformats.org/drawingml/2006/main">
              <a:ext uri="{FF2B5EF4-FFF2-40B4-BE49-F238E27FC236}">
                <a16:creationId xmlns:a16="http://schemas.microsoft.com/office/drawing/2014/main" id="{BBD584AD-9C2B-4898-BD5B-D7955F86670E}"/>
              </a:ext>
            </a:extLst>
          </p:cNvPr>
          <p:cNvSpPr>
            <a:spLocks xmlns:a="http://schemas.openxmlformats.org/drawingml/2006/main" noGrp="1"/>
          </p:cNvSpPr>
          <p:nvPr/>
        </p:nvSpPr>
        <p:spPr>
          <a:xfrm xmlns:a="http://schemas.openxmlformats.org/drawingml/2006/main">
            <a:off x="619125" y="29718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https://github.com/cdrika/CareSys</a:t>
            </a:r>
          </a:p>
        </p:txBody>
      </p:sp>
      <p:sp>
        <p:nvSpPr>
          <p:cNvPr id="8" name="">
            <a:extLst xmlns:a="http://schemas.openxmlformats.org/drawingml/2006/main">
              <a:ext uri="{FF2B5EF4-FFF2-40B4-BE49-F238E27FC236}">
                <a16:creationId xmlns:a16="http://schemas.microsoft.com/office/drawing/2014/main" id="{4D7AAF05-E09D-4521-9908-B5487739798A}"/>
              </a:ext>
            </a:extLst>
          </p:cNvPr>
          <p:cNvSpPr>
            <a:spLocks xmlns:a="http://schemas.openxmlformats.org/drawingml/2006/main" noGrp="1"/>
          </p:cNvSpPr>
          <p:nvPr/>
        </p:nvSpPr>
        <p:spPr>
          <a:xfrm xmlns:a="http://schemas.openxmlformats.org/drawingml/2006/main">
            <a:off x="619125" y="3619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Blueprint document</a:t>
            </a:r>
          </a:p>
        </p:txBody>
      </p:sp>
      <p:sp>
        <p:nvSpPr>
          <p:cNvPr id="9" name="">
            <a:extLst xmlns:a="http://schemas.openxmlformats.org/drawingml/2006/main">
              <a:ext uri="{FF2B5EF4-FFF2-40B4-BE49-F238E27FC236}">
                <a16:creationId xmlns:a16="http://schemas.microsoft.com/office/drawing/2014/main" id="{835A143D-7F43-4139-9CA5-723872CF6BFF}"/>
              </a:ext>
            </a:extLst>
          </p:cNvPr>
          <p:cNvSpPr>
            <a:spLocks xmlns:a="http://schemas.openxmlformats.org/drawingml/2006/main" noGrp="1"/>
          </p:cNvSpPr>
          <p:nvPr/>
        </p:nvSpPr>
        <p:spPr>
          <a:xfrm xmlns:a="http://schemas.openxmlformats.org/drawingml/2006/main">
            <a:off x="619125" y="40195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Documentation/CareSys_Platform_and_Commercial_Blueprint.docx</a:t>
            </a:r>
          </a:p>
        </p:txBody>
      </p:sp>
      <p:sp>
        <p:nvSpPr>
          <p:cNvPr id="10" name="">
            <a:extLst xmlns:a="http://schemas.openxmlformats.org/drawingml/2006/main">
              <a:ext uri="{FF2B5EF4-FFF2-40B4-BE49-F238E27FC236}">
                <a16:creationId xmlns:a16="http://schemas.microsoft.com/office/drawing/2014/main" id="{FC5C287F-84F5-4CE8-9D1A-252BFF737D40}"/>
              </a:ext>
            </a:extLst>
          </p:cNvPr>
          <p:cNvSpPr>
            <a:spLocks xmlns:a="http://schemas.openxmlformats.org/drawingml/2006/main" noGrp="1"/>
          </p:cNvSpPr>
          <p:nvPr/>
        </p:nvSpPr>
        <p:spPr>
          <a:xfrm xmlns:a="http://schemas.openxmlformats.org/drawingml/2006/main">
            <a:off x="619125" y="4667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53D38"/>
                </a:solidFill>
                <a:latin typeface="Calibri"/>
                <a:ea typeface="Calibri"/>
                <a:cs typeface="Calibri"/>
              </a:defRPr>
            </a:defPPr>
            <a:lvl1pPr>
              <a:defRPr sz="2100" b="1">
                <a:solidFill>
                  <a:srgbClr val="153D38"/>
                </a:solidFill>
                <a:latin typeface="Calibri"/>
                <a:ea typeface="Calibri"/>
                <a:cs typeface="Calibri"/>
              </a:defRPr>
            </a:lvl1pPr>
            <a:lvl2pPr>
              <a:defRPr sz="2100" b="1">
                <a:solidFill>
                  <a:srgbClr val="153D38"/>
                </a:solidFill>
                <a:latin typeface="Calibri"/>
                <a:ea typeface="Calibri"/>
                <a:cs typeface="Calibri"/>
              </a:defRPr>
            </a:lvl2pPr>
            <a:lvl3pPr>
              <a:defRPr sz="2100" b="1">
                <a:solidFill>
                  <a:srgbClr val="153D38"/>
                </a:solidFill>
                <a:latin typeface="Calibri"/>
                <a:ea typeface="Calibri"/>
                <a:cs typeface="Calibri"/>
              </a:defRPr>
            </a:lvl3pPr>
            <a:lvl4pPr>
              <a:defRPr sz="2100" b="1">
                <a:solidFill>
                  <a:srgbClr val="153D38"/>
                </a:solidFill>
                <a:latin typeface="Calibri"/>
                <a:ea typeface="Calibri"/>
                <a:cs typeface="Calibri"/>
              </a:defRPr>
            </a:lvl4pPr>
            <a:lvl5pPr>
              <a:defRPr sz="2100" b="1">
                <a:solidFill>
                  <a:srgbClr val="153D38"/>
                </a:solidFill>
                <a:latin typeface="Calibri"/>
                <a:ea typeface="Calibri"/>
                <a:cs typeface="Calibri"/>
              </a:defRPr>
            </a:lvl5pPr>
            <a:lvl6pPr>
              <a:defRPr sz="2100" b="1">
                <a:solidFill>
                  <a:srgbClr val="153D38"/>
                </a:solidFill>
                <a:latin typeface="Calibri"/>
                <a:ea typeface="Calibri"/>
                <a:cs typeface="Calibri"/>
              </a:defRPr>
            </a:lvl6pPr>
            <a:lvl7pPr>
              <a:defRPr sz="2100" b="1">
                <a:solidFill>
                  <a:srgbClr val="153D38"/>
                </a:solidFill>
                <a:latin typeface="Calibri"/>
                <a:ea typeface="Calibri"/>
                <a:cs typeface="Calibri"/>
              </a:defRPr>
            </a:lvl7pPr>
            <a:lvl8pPr>
              <a:defRPr sz="2100" b="1">
                <a:solidFill>
                  <a:srgbClr val="153D38"/>
                </a:solidFill>
                <a:latin typeface="Calibri"/>
                <a:ea typeface="Calibri"/>
                <a:cs typeface="Calibri"/>
              </a:defRPr>
            </a:lvl8pPr>
            <a:lvl9pPr>
              <a:defRPr sz="2100" b="1">
                <a:solidFill>
                  <a:srgbClr val="153D38"/>
                </a:solidFill>
                <a:latin typeface="Calibri"/>
                <a:ea typeface="Calibri"/>
                <a:cs typeface="Calibri"/>
              </a:defRPr>
            </a:lvl9pPr>
          </a:lstStyle>
          <a:p xmlns:a="http://schemas.openxmlformats.org/drawingml/2006/main">
            <a:pPr>
              <a:defRPr sz="2100" b="1">
                <a:solidFill>
                  <a:srgbClr val="153D38"/>
                </a:solidFill>
                <a:latin typeface="Calibri"/>
                <a:ea typeface="Calibri"/>
                <a:cs typeface="Calibri"/>
              </a:defRPr>
            </a:pPr>
            <a:r>
              <a:rPr sz="2100" b="1">
                <a:solidFill>
                  <a:srgbClr val="153D38"/>
                </a:solidFill>
                <a:latin typeface="Calibri"/>
                <a:ea typeface="Calibri"/>
                <a:cs typeface="Calibri"/>
              </a:rPr>
              <a:t>Requirements and acceptance</a:t>
            </a:r>
          </a:p>
        </p:txBody>
      </p:sp>
      <p:sp>
        <p:nvSpPr>
          <p:cNvPr id="11" name="">
            <a:extLst xmlns:a="http://schemas.openxmlformats.org/drawingml/2006/main">
              <a:ext uri="{FF2B5EF4-FFF2-40B4-BE49-F238E27FC236}">
                <a16:creationId xmlns:a16="http://schemas.microsoft.com/office/drawing/2014/main" id="{A0EEC723-0E86-4B67-8F12-2489734B1641}"/>
              </a:ext>
            </a:extLst>
          </p:cNvPr>
          <p:cNvSpPr>
            <a:spLocks xmlns:a="http://schemas.openxmlformats.org/drawingml/2006/main" noGrp="1"/>
          </p:cNvSpPr>
          <p:nvPr/>
        </p:nvSpPr>
        <p:spPr>
          <a:xfrm xmlns:a="http://schemas.openxmlformats.org/drawingml/2006/main">
            <a:off x="619125" y="50673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34B48"/>
                </a:solidFill>
                <a:latin typeface="Calibri"/>
                <a:ea typeface="Calibri"/>
                <a:cs typeface="Calibri"/>
              </a:defRPr>
            </a:defPPr>
            <a:lvl1pPr>
              <a:defRPr sz="1725" b="0">
                <a:solidFill>
                  <a:srgbClr val="334B48"/>
                </a:solidFill>
                <a:latin typeface="Calibri"/>
                <a:ea typeface="Calibri"/>
                <a:cs typeface="Calibri"/>
              </a:defRPr>
            </a:lvl1pPr>
            <a:lvl2pPr>
              <a:defRPr sz="1725" b="0">
                <a:solidFill>
                  <a:srgbClr val="334B48"/>
                </a:solidFill>
                <a:latin typeface="Calibri"/>
                <a:ea typeface="Calibri"/>
                <a:cs typeface="Calibri"/>
              </a:defRPr>
            </a:lvl2pPr>
            <a:lvl3pPr>
              <a:defRPr sz="1725" b="0">
                <a:solidFill>
                  <a:srgbClr val="334B48"/>
                </a:solidFill>
                <a:latin typeface="Calibri"/>
                <a:ea typeface="Calibri"/>
                <a:cs typeface="Calibri"/>
              </a:defRPr>
            </a:lvl3pPr>
            <a:lvl4pPr>
              <a:defRPr sz="1725" b="0">
                <a:solidFill>
                  <a:srgbClr val="334B48"/>
                </a:solidFill>
                <a:latin typeface="Calibri"/>
                <a:ea typeface="Calibri"/>
                <a:cs typeface="Calibri"/>
              </a:defRPr>
            </a:lvl4pPr>
            <a:lvl5pPr>
              <a:defRPr sz="1725" b="0">
                <a:solidFill>
                  <a:srgbClr val="334B48"/>
                </a:solidFill>
                <a:latin typeface="Calibri"/>
                <a:ea typeface="Calibri"/>
                <a:cs typeface="Calibri"/>
              </a:defRPr>
            </a:lvl5pPr>
            <a:lvl6pPr>
              <a:defRPr sz="1725" b="0">
                <a:solidFill>
                  <a:srgbClr val="334B48"/>
                </a:solidFill>
                <a:latin typeface="Calibri"/>
                <a:ea typeface="Calibri"/>
                <a:cs typeface="Calibri"/>
              </a:defRPr>
            </a:lvl6pPr>
            <a:lvl7pPr>
              <a:defRPr sz="1725" b="0">
                <a:solidFill>
                  <a:srgbClr val="334B48"/>
                </a:solidFill>
                <a:latin typeface="Calibri"/>
                <a:ea typeface="Calibri"/>
                <a:cs typeface="Calibri"/>
              </a:defRPr>
            </a:lvl7pPr>
            <a:lvl8pPr>
              <a:defRPr sz="1725" b="0">
                <a:solidFill>
                  <a:srgbClr val="334B48"/>
                </a:solidFill>
                <a:latin typeface="Calibri"/>
                <a:ea typeface="Calibri"/>
                <a:cs typeface="Calibri"/>
              </a:defRPr>
            </a:lvl8pPr>
            <a:lvl9pPr>
              <a:defRPr sz="1725" b="0">
                <a:solidFill>
                  <a:srgbClr val="334B48"/>
                </a:solidFill>
                <a:latin typeface="Calibri"/>
                <a:ea typeface="Calibri"/>
                <a:cs typeface="Calibri"/>
              </a:defRPr>
            </a:lvl9pPr>
          </a:lstStyle>
          <a:p xmlns:a="http://schemas.openxmlformats.org/drawingml/2006/main">
            <a:pPr>
              <a:defRPr sz="1725" b="0">
                <a:solidFill>
                  <a:srgbClr val="334B48"/>
                </a:solidFill>
                <a:latin typeface="Calibri"/>
                <a:ea typeface="Calibri"/>
                <a:cs typeface="Calibri"/>
              </a:defRPr>
            </a:pPr>
            <a:r>
              <a:rPr sz="1725" b="0">
                <a:solidFill>
                  <a:srgbClr val="334B48"/>
                </a:solidFill>
                <a:latin typeface="Calibri"/>
                <a:ea typeface="Calibri"/>
                <a:cs typeface="Calibri"/>
              </a:rPr>
              <a:t>Original specifications and docs/implementation-status.md</a:t>
            </a:r>
          </a:p>
        </p:txBody>
      </p:sp>
      <p:sp>
        <p:nvSpPr>
          <p:cNvPr id="12" name="">
            <a:extLst xmlns:a="http://schemas.openxmlformats.org/drawingml/2006/main">
              <a:ext uri="{FF2B5EF4-FFF2-40B4-BE49-F238E27FC236}">
                <a16:creationId xmlns:a16="http://schemas.microsoft.com/office/drawing/2014/main" id="{2870A217-2F82-41BB-B9F9-3796E52CE1BA}"/>
              </a:ext>
            </a:extLst>
          </p:cNvPr>
          <p:cNvSpPr>
            <a:spLocks xmlns:a="http://schemas.openxmlformats.org/drawingml/2006/main" noGrp="1"/>
          </p:cNvSpPr>
          <p:nvPr/>
        </p:nvSpPr>
        <p:spPr>
          <a:xfrm xmlns:a="http://schemas.openxmlformats.org/drawingml/2006/main">
            <a:off x="619125" y="59245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1746F"/>
                </a:solidFill>
                <a:latin typeface="Calibri"/>
                <a:ea typeface="Calibri"/>
                <a:cs typeface="Calibri"/>
              </a:defRPr>
            </a:defPPr>
            <a:lvl1pPr>
              <a:defRPr sz="1725" b="0">
                <a:solidFill>
                  <a:srgbClr val="61746F"/>
                </a:solidFill>
                <a:latin typeface="Calibri"/>
                <a:ea typeface="Calibri"/>
                <a:cs typeface="Calibri"/>
              </a:defRPr>
            </a:lvl1pPr>
            <a:lvl2pPr>
              <a:defRPr sz="1725" b="0">
                <a:solidFill>
                  <a:srgbClr val="61746F"/>
                </a:solidFill>
                <a:latin typeface="Calibri"/>
                <a:ea typeface="Calibri"/>
                <a:cs typeface="Calibri"/>
              </a:defRPr>
            </a:lvl2pPr>
            <a:lvl3pPr>
              <a:defRPr sz="1725" b="0">
                <a:solidFill>
                  <a:srgbClr val="61746F"/>
                </a:solidFill>
                <a:latin typeface="Calibri"/>
                <a:ea typeface="Calibri"/>
                <a:cs typeface="Calibri"/>
              </a:defRPr>
            </a:lvl3pPr>
            <a:lvl4pPr>
              <a:defRPr sz="1725" b="0">
                <a:solidFill>
                  <a:srgbClr val="61746F"/>
                </a:solidFill>
                <a:latin typeface="Calibri"/>
                <a:ea typeface="Calibri"/>
                <a:cs typeface="Calibri"/>
              </a:defRPr>
            </a:lvl4pPr>
            <a:lvl5pPr>
              <a:defRPr sz="1725" b="0">
                <a:solidFill>
                  <a:srgbClr val="61746F"/>
                </a:solidFill>
                <a:latin typeface="Calibri"/>
                <a:ea typeface="Calibri"/>
                <a:cs typeface="Calibri"/>
              </a:defRPr>
            </a:lvl5pPr>
            <a:lvl6pPr>
              <a:defRPr sz="1725" b="0">
                <a:solidFill>
                  <a:srgbClr val="61746F"/>
                </a:solidFill>
                <a:latin typeface="Calibri"/>
                <a:ea typeface="Calibri"/>
                <a:cs typeface="Calibri"/>
              </a:defRPr>
            </a:lvl6pPr>
            <a:lvl7pPr>
              <a:defRPr sz="1725" b="0">
                <a:solidFill>
                  <a:srgbClr val="61746F"/>
                </a:solidFill>
                <a:latin typeface="Calibri"/>
                <a:ea typeface="Calibri"/>
                <a:cs typeface="Calibri"/>
              </a:defRPr>
            </a:lvl7pPr>
            <a:lvl8pPr>
              <a:defRPr sz="1725" b="0">
                <a:solidFill>
                  <a:srgbClr val="61746F"/>
                </a:solidFill>
                <a:latin typeface="Calibri"/>
                <a:ea typeface="Calibri"/>
                <a:cs typeface="Calibri"/>
              </a:defRPr>
            </a:lvl8pPr>
            <a:lvl9pPr>
              <a:defRPr sz="1725" b="0">
                <a:solidFill>
                  <a:srgbClr val="61746F"/>
                </a:solidFill>
                <a:latin typeface="Calibri"/>
                <a:ea typeface="Calibri"/>
                <a:cs typeface="Calibri"/>
              </a:defRPr>
            </a:lvl9pPr>
          </a:lstStyle>
          <a:p xmlns:a="http://schemas.openxmlformats.org/drawingml/2006/main">
            <a:pPr>
              <a:defRPr sz="1725" b="0">
                <a:solidFill>
                  <a:srgbClr val="61746F"/>
                </a:solidFill>
                <a:latin typeface="Calibri"/>
                <a:ea typeface="Calibri"/>
                <a:cs typeface="Calibri"/>
              </a:defRPr>
            </a:pPr>
            <a:r>
              <a:rPr sz="1725" b="0">
                <a:solidFill>
                  <a:srgbClr val="61746F"/>
                </a:solidFill>
                <a:latin typeface="Calibri"/>
                <a:ea typeface="Calibri"/>
                <a:cs typeface="Calibri"/>
              </a:rPr>
              <a:t>Screenshots show fictional demo data. Commercial and mobile items are proposals.</a:t>
            </a:r>
          </a:p>
        </p:txBody>
      </p:sp>
    </p:spTree>
    <p:extLst>
      <p:ext uri="{BB962C8B-B14F-4D97-AF65-F5344CB8AC3E}">
        <p14:creationId xmlns:p14="http://schemas.microsoft.com/office/powerpoint/2010/main" val="1085942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2026-10-25T03:59:03.8660000Z</dcterms:created>
  <dcterms:modified xsi:type="dcterms:W3CDTF">2026-10-25T03:59:03.8660000Z</dcterms:modified>
</coreProperties>
</file>